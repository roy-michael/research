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sldIdLst>
    <p:sldId id="256" r:id="rId5"/>
  </p:sldIdLst>
  <p:sldSz cx="30267275" cy="42794238"/>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3E3EF"/>
    <a:srgbClr val="00A993"/>
    <a:srgbClr val="00B5F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673" autoAdjust="0"/>
    <p:restoredTop sz="94713" autoAdjust="0"/>
  </p:normalViewPr>
  <p:slideViewPr>
    <p:cSldViewPr snapToGrid="0">
      <p:cViewPr>
        <p:scale>
          <a:sx n="66" d="100"/>
          <a:sy n="66" d="100"/>
        </p:scale>
        <p:origin x="48" y="-8838"/>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presProps" Target="presProps.xml"/><Relationship Id="rId5" Type="http://schemas.openxmlformats.org/officeDocument/2006/relationships/slide" Target="slides/slide1.xml"/><Relationship Id="rId4" Type="http://schemas.openxmlformats.org/officeDocument/2006/relationships/slideMaster" Target="slideMasters/slideMaster1.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270046" y="7003597"/>
            <a:ext cx="25727184" cy="14898735"/>
          </a:xfrm>
        </p:spPr>
        <p:txBody>
          <a:bodyPr anchor="b"/>
          <a:lstStyle>
            <a:lvl1pPr algn="ctr">
              <a:defRPr sz="19861"/>
            </a:lvl1pPr>
          </a:lstStyle>
          <a:p>
            <a:r>
              <a:rPr lang="en-US"/>
              <a:t>Click to edit Master title style</a:t>
            </a:r>
            <a:endParaRPr lang="en-US" dirty="0"/>
          </a:p>
        </p:txBody>
      </p:sp>
      <p:sp>
        <p:nvSpPr>
          <p:cNvPr id="3" name="Subtitle 2"/>
          <p:cNvSpPr>
            <a:spLocks noGrp="1"/>
          </p:cNvSpPr>
          <p:nvPr>
            <p:ph type="subTitle" idx="1"/>
          </p:nvPr>
        </p:nvSpPr>
        <p:spPr>
          <a:xfrm>
            <a:off x="3783410" y="22476884"/>
            <a:ext cx="22700456" cy="10332032"/>
          </a:xfrm>
        </p:spPr>
        <p:txBody>
          <a:bodyPr/>
          <a:lstStyle>
            <a:lvl1pPr marL="0" indent="0" algn="ctr">
              <a:buNone/>
              <a:defRPr sz="7944"/>
            </a:lvl1pPr>
            <a:lvl2pPr marL="1513378" indent="0" algn="ctr">
              <a:buNone/>
              <a:defRPr sz="6620"/>
            </a:lvl2pPr>
            <a:lvl3pPr marL="3026755" indent="0" algn="ctr">
              <a:buNone/>
              <a:defRPr sz="5958"/>
            </a:lvl3pPr>
            <a:lvl4pPr marL="4540133" indent="0" algn="ctr">
              <a:buNone/>
              <a:defRPr sz="5296"/>
            </a:lvl4pPr>
            <a:lvl5pPr marL="6053511" indent="0" algn="ctr">
              <a:buNone/>
              <a:defRPr sz="5296"/>
            </a:lvl5pPr>
            <a:lvl6pPr marL="7566889" indent="0" algn="ctr">
              <a:buNone/>
              <a:defRPr sz="5296"/>
            </a:lvl6pPr>
            <a:lvl7pPr marL="9080266" indent="0" algn="ctr">
              <a:buNone/>
              <a:defRPr sz="5296"/>
            </a:lvl7pPr>
            <a:lvl8pPr marL="10593644" indent="0" algn="ctr">
              <a:buNone/>
              <a:defRPr sz="5296"/>
            </a:lvl8pPr>
            <a:lvl9pPr marL="12107022" indent="0" algn="ctr">
              <a:buNone/>
              <a:defRPr sz="5296"/>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ECC52A70-1682-4967-8B8E-ED0BCE20DE0B}"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D94E698-7E5E-4C45-B3FE-0E5EE17289A4}" type="slidenum">
              <a:rPr lang="en-US" smtClean="0"/>
              <a:t>‹#›</a:t>
            </a:fld>
            <a:endParaRPr lang="en-US"/>
          </a:p>
        </p:txBody>
      </p:sp>
    </p:spTree>
    <p:extLst>
      <p:ext uri="{BB962C8B-B14F-4D97-AF65-F5344CB8AC3E}">
        <p14:creationId xmlns:p14="http://schemas.microsoft.com/office/powerpoint/2010/main" val="15011580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C52A70-1682-4967-8B8E-ED0BCE20DE0B}"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D94E698-7E5E-4C45-B3FE-0E5EE17289A4}" type="slidenum">
              <a:rPr lang="en-US" smtClean="0"/>
              <a:t>‹#›</a:t>
            </a:fld>
            <a:endParaRPr lang="en-US"/>
          </a:p>
        </p:txBody>
      </p:sp>
    </p:spTree>
    <p:extLst>
      <p:ext uri="{BB962C8B-B14F-4D97-AF65-F5344CB8AC3E}">
        <p14:creationId xmlns:p14="http://schemas.microsoft.com/office/powerpoint/2010/main" val="20415077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065112" y="10668854"/>
            <a:ext cx="26105525" cy="17801211"/>
          </a:xfrm>
        </p:spPr>
        <p:txBody>
          <a:bodyPr anchor="b"/>
          <a:lstStyle>
            <a:lvl1pPr>
              <a:defRPr sz="19861"/>
            </a:lvl1pPr>
          </a:lstStyle>
          <a:p>
            <a:r>
              <a:rPr lang="en-US"/>
              <a:t>Click to edit Master title style</a:t>
            </a:r>
            <a:endParaRPr lang="en-US" dirty="0"/>
          </a:p>
        </p:txBody>
      </p:sp>
      <p:sp>
        <p:nvSpPr>
          <p:cNvPr id="3" name="Text Placeholder 2"/>
          <p:cNvSpPr>
            <a:spLocks noGrp="1"/>
          </p:cNvSpPr>
          <p:nvPr>
            <p:ph type="body" idx="1"/>
          </p:nvPr>
        </p:nvSpPr>
        <p:spPr>
          <a:xfrm>
            <a:off x="2065112" y="28638472"/>
            <a:ext cx="26105525" cy="9361236"/>
          </a:xfrm>
        </p:spPr>
        <p:txBody>
          <a:bodyPr/>
          <a:lstStyle>
            <a:lvl1pPr marL="0" indent="0">
              <a:buNone/>
              <a:defRPr sz="7944">
                <a:solidFill>
                  <a:schemeClr val="tx1">
                    <a:tint val="82000"/>
                  </a:schemeClr>
                </a:solidFill>
              </a:defRPr>
            </a:lvl1pPr>
            <a:lvl2pPr marL="1513378" indent="0">
              <a:buNone/>
              <a:defRPr sz="6620">
                <a:solidFill>
                  <a:schemeClr val="tx1">
                    <a:tint val="82000"/>
                  </a:schemeClr>
                </a:solidFill>
              </a:defRPr>
            </a:lvl2pPr>
            <a:lvl3pPr marL="3026755" indent="0">
              <a:buNone/>
              <a:defRPr sz="5958">
                <a:solidFill>
                  <a:schemeClr val="tx1">
                    <a:tint val="82000"/>
                  </a:schemeClr>
                </a:solidFill>
              </a:defRPr>
            </a:lvl3pPr>
            <a:lvl4pPr marL="4540133" indent="0">
              <a:buNone/>
              <a:defRPr sz="5296">
                <a:solidFill>
                  <a:schemeClr val="tx1">
                    <a:tint val="82000"/>
                  </a:schemeClr>
                </a:solidFill>
              </a:defRPr>
            </a:lvl4pPr>
            <a:lvl5pPr marL="6053511" indent="0">
              <a:buNone/>
              <a:defRPr sz="5296">
                <a:solidFill>
                  <a:schemeClr val="tx1">
                    <a:tint val="82000"/>
                  </a:schemeClr>
                </a:solidFill>
              </a:defRPr>
            </a:lvl5pPr>
            <a:lvl6pPr marL="7566889" indent="0">
              <a:buNone/>
              <a:defRPr sz="5296">
                <a:solidFill>
                  <a:schemeClr val="tx1">
                    <a:tint val="82000"/>
                  </a:schemeClr>
                </a:solidFill>
              </a:defRPr>
            </a:lvl6pPr>
            <a:lvl7pPr marL="9080266" indent="0">
              <a:buNone/>
              <a:defRPr sz="5296">
                <a:solidFill>
                  <a:schemeClr val="tx1">
                    <a:tint val="82000"/>
                  </a:schemeClr>
                </a:solidFill>
              </a:defRPr>
            </a:lvl7pPr>
            <a:lvl8pPr marL="10593644" indent="0">
              <a:buNone/>
              <a:defRPr sz="5296">
                <a:solidFill>
                  <a:schemeClr val="tx1">
                    <a:tint val="82000"/>
                  </a:schemeClr>
                </a:solidFill>
              </a:defRPr>
            </a:lvl8pPr>
            <a:lvl9pPr marL="12107022" indent="0">
              <a:buNone/>
              <a:defRPr sz="5296">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CC52A70-1682-4967-8B8E-ED0BCE20DE0B}"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D94E698-7E5E-4C45-B3FE-0E5EE17289A4}" type="slidenum">
              <a:rPr lang="en-US" smtClean="0"/>
              <a:t>‹#›</a:t>
            </a:fld>
            <a:endParaRPr lang="en-US"/>
          </a:p>
        </p:txBody>
      </p:sp>
    </p:spTree>
    <p:extLst>
      <p:ext uri="{BB962C8B-B14F-4D97-AF65-F5344CB8AC3E}">
        <p14:creationId xmlns:p14="http://schemas.microsoft.com/office/powerpoint/2010/main" val="37646141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080875" y="11391985"/>
            <a:ext cx="12863592" cy="271525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5322808" y="11391985"/>
            <a:ext cx="12863592" cy="271525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CC52A70-1682-4967-8B8E-ED0BCE20DE0B}"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D94E698-7E5E-4C45-B3FE-0E5EE17289A4}" type="slidenum">
              <a:rPr lang="en-US" smtClean="0"/>
              <a:t>‹#›</a:t>
            </a:fld>
            <a:endParaRPr lang="en-US"/>
          </a:p>
        </p:txBody>
      </p:sp>
    </p:spTree>
    <p:extLst>
      <p:ext uri="{BB962C8B-B14F-4D97-AF65-F5344CB8AC3E}">
        <p14:creationId xmlns:p14="http://schemas.microsoft.com/office/powerpoint/2010/main" val="262377213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084817" y="2278406"/>
            <a:ext cx="26105525" cy="8271575"/>
          </a:xfrm>
        </p:spPr>
        <p:txBody>
          <a:bodyPr/>
          <a:lstStyle/>
          <a:p>
            <a:r>
              <a:rPr lang="en-US"/>
              <a:t>Click to edit Master title style</a:t>
            </a:r>
            <a:endParaRPr lang="en-US" dirty="0"/>
          </a:p>
        </p:txBody>
      </p:sp>
      <p:sp>
        <p:nvSpPr>
          <p:cNvPr id="3" name="Text Placeholder 2"/>
          <p:cNvSpPr>
            <a:spLocks noGrp="1"/>
          </p:cNvSpPr>
          <p:nvPr>
            <p:ph type="body" idx="1"/>
          </p:nvPr>
        </p:nvSpPr>
        <p:spPr>
          <a:xfrm>
            <a:off x="2084821" y="10490535"/>
            <a:ext cx="12804474" cy="5141249"/>
          </a:xfrm>
        </p:spPr>
        <p:txBody>
          <a:bodyPr anchor="b"/>
          <a:lstStyle>
            <a:lvl1pPr marL="0" indent="0">
              <a:buNone/>
              <a:defRPr sz="7944" b="1"/>
            </a:lvl1pPr>
            <a:lvl2pPr marL="1513378" indent="0">
              <a:buNone/>
              <a:defRPr sz="6620" b="1"/>
            </a:lvl2pPr>
            <a:lvl3pPr marL="3026755" indent="0">
              <a:buNone/>
              <a:defRPr sz="5958" b="1"/>
            </a:lvl3pPr>
            <a:lvl4pPr marL="4540133" indent="0">
              <a:buNone/>
              <a:defRPr sz="5296" b="1"/>
            </a:lvl4pPr>
            <a:lvl5pPr marL="6053511" indent="0">
              <a:buNone/>
              <a:defRPr sz="5296" b="1"/>
            </a:lvl5pPr>
            <a:lvl6pPr marL="7566889" indent="0">
              <a:buNone/>
              <a:defRPr sz="5296" b="1"/>
            </a:lvl6pPr>
            <a:lvl7pPr marL="9080266" indent="0">
              <a:buNone/>
              <a:defRPr sz="5296" b="1"/>
            </a:lvl7pPr>
            <a:lvl8pPr marL="10593644" indent="0">
              <a:buNone/>
              <a:defRPr sz="5296" b="1"/>
            </a:lvl8pPr>
            <a:lvl9pPr marL="12107022" indent="0">
              <a:buNone/>
              <a:defRPr sz="5296" b="1"/>
            </a:lvl9pPr>
          </a:lstStyle>
          <a:p>
            <a:pPr lvl="0"/>
            <a:r>
              <a:rPr lang="en-US"/>
              <a:t>Click to edit Master text styles</a:t>
            </a:r>
          </a:p>
        </p:txBody>
      </p:sp>
      <p:sp>
        <p:nvSpPr>
          <p:cNvPr id="4" name="Content Placeholder 3"/>
          <p:cNvSpPr>
            <a:spLocks noGrp="1"/>
          </p:cNvSpPr>
          <p:nvPr>
            <p:ph sz="half" idx="2"/>
          </p:nvPr>
        </p:nvSpPr>
        <p:spPr>
          <a:xfrm>
            <a:off x="2084821" y="15631784"/>
            <a:ext cx="12804474" cy="22992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5322810" y="10490535"/>
            <a:ext cx="12867534" cy="5141249"/>
          </a:xfrm>
        </p:spPr>
        <p:txBody>
          <a:bodyPr anchor="b"/>
          <a:lstStyle>
            <a:lvl1pPr marL="0" indent="0">
              <a:buNone/>
              <a:defRPr sz="7944" b="1"/>
            </a:lvl1pPr>
            <a:lvl2pPr marL="1513378" indent="0">
              <a:buNone/>
              <a:defRPr sz="6620" b="1"/>
            </a:lvl2pPr>
            <a:lvl3pPr marL="3026755" indent="0">
              <a:buNone/>
              <a:defRPr sz="5958" b="1"/>
            </a:lvl3pPr>
            <a:lvl4pPr marL="4540133" indent="0">
              <a:buNone/>
              <a:defRPr sz="5296" b="1"/>
            </a:lvl4pPr>
            <a:lvl5pPr marL="6053511" indent="0">
              <a:buNone/>
              <a:defRPr sz="5296" b="1"/>
            </a:lvl5pPr>
            <a:lvl6pPr marL="7566889" indent="0">
              <a:buNone/>
              <a:defRPr sz="5296" b="1"/>
            </a:lvl6pPr>
            <a:lvl7pPr marL="9080266" indent="0">
              <a:buNone/>
              <a:defRPr sz="5296" b="1"/>
            </a:lvl7pPr>
            <a:lvl8pPr marL="10593644" indent="0">
              <a:buNone/>
              <a:defRPr sz="5296" b="1"/>
            </a:lvl8pPr>
            <a:lvl9pPr marL="12107022" indent="0">
              <a:buNone/>
              <a:defRPr sz="5296" b="1"/>
            </a:lvl9pPr>
          </a:lstStyle>
          <a:p>
            <a:pPr lvl="0"/>
            <a:r>
              <a:rPr lang="en-US"/>
              <a:t>Click to edit Master text styles</a:t>
            </a:r>
          </a:p>
        </p:txBody>
      </p:sp>
      <p:sp>
        <p:nvSpPr>
          <p:cNvPr id="6" name="Content Placeholder 5"/>
          <p:cNvSpPr>
            <a:spLocks noGrp="1"/>
          </p:cNvSpPr>
          <p:nvPr>
            <p:ph sz="quarter" idx="4"/>
          </p:nvPr>
        </p:nvSpPr>
        <p:spPr>
          <a:xfrm>
            <a:off x="15322810" y="15631784"/>
            <a:ext cx="12867534" cy="22992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CC52A70-1682-4967-8B8E-ED0BCE20DE0B}" type="datetimeFigureOut">
              <a:rPr lang="en-US" smtClean="0"/>
              <a:t>9/22/2026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D94E698-7E5E-4C45-B3FE-0E5EE17289A4}" type="slidenum">
              <a:rPr lang="en-US" smtClean="0"/>
              <a:t>‹#›</a:t>
            </a:fld>
            <a:endParaRPr lang="en-US"/>
          </a:p>
        </p:txBody>
      </p:sp>
    </p:spTree>
    <p:extLst>
      <p:ext uri="{BB962C8B-B14F-4D97-AF65-F5344CB8AC3E}">
        <p14:creationId xmlns:p14="http://schemas.microsoft.com/office/powerpoint/2010/main" val="2102777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CC52A70-1682-4967-8B8E-ED0BCE20DE0B}" type="datetimeFigureOut">
              <a:rPr lang="en-US" smtClean="0"/>
              <a:t>9/22/2026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D94E698-7E5E-4C45-B3FE-0E5EE17289A4}" type="slidenum">
              <a:rPr lang="en-US" smtClean="0"/>
              <a:t>‹#›</a:t>
            </a:fld>
            <a:endParaRPr lang="en-US"/>
          </a:p>
        </p:txBody>
      </p:sp>
    </p:spTree>
    <p:extLst>
      <p:ext uri="{BB962C8B-B14F-4D97-AF65-F5344CB8AC3E}">
        <p14:creationId xmlns:p14="http://schemas.microsoft.com/office/powerpoint/2010/main" val="35998020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CC52A70-1682-4967-8B8E-ED0BCE20DE0B}" type="datetimeFigureOut">
              <a:rPr lang="en-US" smtClean="0"/>
              <a:t>9/22/2026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D94E698-7E5E-4C45-B3FE-0E5EE17289A4}" type="slidenum">
              <a:rPr lang="en-US" smtClean="0"/>
              <a:t>‹#›</a:t>
            </a:fld>
            <a:endParaRPr lang="en-US"/>
          </a:p>
        </p:txBody>
      </p:sp>
    </p:spTree>
    <p:extLst>
      <p:ext uri="{BB962C8B-B14F-4D97-AF65-F5344CB8AC3E}">
        <p14:creationId xmlns:p14="http://schemas.microsoft.com/office/powerpoint/2010/main" val="22243128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084817" y="2852949"/>
            <a:ext cx="9761984" cy="9985322"/>
          </a:xfrm>
        </p:spPr>
        <p:txBody>
          <a:bodyPr anchor="b"/>
          <a:lstStyle>
            <a:lvl1pPr>
              <a:defRPr sz="10592"/>
            </a:lvl1pPr>
          </a:lstStyle>
          <a:p>
            <a:r>
              <a:rPr lang="en-US"/>
              <a:t>Click to edit Master title style</a:t>
            </a:r>
            <a:endParaRPr lang="en-US" dirty="0"/>
          </a:p>
        </p:txBody>
      </p:sp>
      <p:sp>
        <p:nvSpPr>
          <p:cNvPr id="3" name="Content Placeholder 2"/>
          <p:cNvSpPr>
            <a:spLocks noGrp="1"/>
          </p:cNvSpPr>
          <p:nvPr>
            <p:ph idx="1"/>
          </p:nvPr>
        </p:nvSpPr>
        <p:spPr>
          <a:xfrm>
            <a:off x="12867534" y="6161587"/>
            <a:ext cx="15322808" cy="30411646"/>
          </a:xfrm>
        </p:spPr>
        <p:txBody>
          <a:bodyPr/>
          <a:lstStyle>
            <a:lvl1pPr>
              <a:defRPr sz="10592"/>
            </a:lvl1pPr>
            <a:lvl2pPr>
              <a:defRPr sz="9268"/>
            </a:lvl2pPr>
            <a:lvl3pPr>
              <a:defRPr sz="7944"/>
            </a:lvl3pPr>
            <a:lvl4pPr>
              <a:defRPr sz="6620"/>
            </a:lvl4pPr>
            <a:lvl5pPr>
              <a:defRPr sz="6620"/>
            </a:lvl5pPr>
            <a:lvl6pPr>
              <a:defRPr sz="6620"/>
            </a:lvl6pPr>
            <a:lvl7pPr>
              <a:defRPr sz="6620"/>
            </a:lvl7pPr>
            <a:lvl8pPr>
              <a:defRPr sz="6620"/>
            </a:lvl8pPr>
            <a:lvl9pPr>
              <a:defRPr sz="662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084817" y="12838271"/>
            <a:ext cx="9761984" cy="23784486"/>
          </a:xfrm>
        </p:spPr>
        <p:txBody>
          <a:bodyPr/>
          <a:lstStyle>
            <a:lvl1pPr marL="0" indent="0">
              <a:buNone/>
              <a:defRPr sz="5296"/>
            </a:lvl1pPr>
            <a:lvl2pPr marL="1513378" indent="0">
              <a:buNone/>
              <a:defRPr sz="4634"/>
            </a:lvl2pPr>
            <a:lvl3pPr marL="3026755" indent="0">
              <a:buNone/>
              <a:defRPr sz="3972"/>
            </a:lvl3pPr>
            <a:lvl4pPr marL="4540133" indent="0">
              <a:buNone/>
              <a:defRPr sz="3310"/>
            </a:lvl4pPr>
            <a:lvl5pPr marL="6053511" indent="0">
              <a:buNone/>
              <a:defRPr sz="3310"/>
            </a:lvl5pPr>
            <a:lvl6pPr marL="7566889" indent="0">
              <a:buNone/>
              <a:defRPr sz="3310"/>
            </a:lvl6pPr>
            <a:lvl7pPr marL="9080266" indent="0">
              <a:buNone/>
              <a:defRPr sz="3310"/>
            </a:lvl7pPr>
            <a:lvl8pPr marL="10593644" indent="0">
              <a:buNone/>
              <a:defRPr sz="3310"/>
            </a:lvl8pPr>
            <a:lvl9pPr marL="12107022" indent="0">
              <a:buNone/>
              <a:defRPr sz="3310"/>
            </a:lvl9pPr>
          </a:lstStyle>
          <a:p>
            <a:pPr lvl="0"/>
            <a:r>
              <a:rPr lang="en-US"/>
              <a:t>Click to edit Master text styles</a:t>
            </a:r>
          </a:p>
        </p:txBody>
      </p:sp>
      <p:sp>
        <p:nvSpPr>
          <p:cNvPr id="5" name="Date Placeholder 4"/>
          <p:cNvSpPr>
            <a:spLocks noGrp="1"/>
          </p:cNvSpPr>
          <p:nvPr>
            <p:ph type="dt" sz="half" idx="10"/>
          </p:nvPr>
        </p:nvSpPr>
        <p:spPr/>
        <p:txBody>
          <a:bodyPr/>
          <a:lstStyle/>
          <a:p>
            <a:fld id="{ECC52A70-1682-4967-8B8E-ED0BCE20DE0B}"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D94E698-7E5E-4C45-B3FE-0E5EE17289A4}" type="slidenum">
              <a:rPr lang="en-US" smtClean="0"/>
              <a:t>‹#›</a:t>
            </a:fld>
            <a:endParaRPr lang="en-US"/>
          </a:p>
        </p:txBody>
      </p:sp>
    </p:spTree>
    <p:extLst>
      <p:ext uri="{BB962C8B-B14F-4D97-AF65-F5344CB8AC3E}">
        <p14:creationId xmlns:p14="http://schemas.microsoft.com/office/powerpoint/2010/main" val="21436828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084817" y="2852949"/>
            <a:ext cx="9761984" cy="9985322"/>
          </a:xfrm>
        </p:spPr>
        <p:txBody>
          <a:bodyPr anchor="b"/>
          <a:lstStyle>
            <a:lvl1pPr>
              <a:defRPr sz="10592"/>
            </a:lvl1pPr>
          </a:lstStyle>
          <a:p>
            <a:r>
              <a:rPr lang="en-US"/>
              <a:t>Click to edit Master title style</a:t>
            </a:r>
            <a:endParaRPr lang="en-US" dirty="0"/>
          </a:p>
        </p:txBody>
      </p:sp>
      <p:sp>
        <p:nvSpPr>
          <p:cNvPr id="3" name="Picture Placeholder 2"/>
          <p:cNvSpPr>
            <a:spLocks noGrp="1" noChangeAspect="1"/>
          </p:cNvSpPr>
          <p:nvPr>
            <p:ph type="pic" idx="1"/>
          </p:nvPr>
        </p:nvSpPr>
        <p:spPr>
          <a:xfrm>
            <a:off x="12867534" y="6161587"/>
            <a:ext cx="15322808" cy="30411646"/>
          </a:xfrm>
        </p:spPr>
        <p:txBody>
          <a:bodyPr anchor="t"/>
          <a:lstStyle>
            <a:lvl1pPr marL="0" indent="0">
              <a:buNone/>
              <a:defRPr sz="10592"/>
            </a:lvl1pPr>
            <a:lvl2pPr marL="1513378" indent="0">
              <a:buNone/>
              <a:defRPr sz="9268"/>
            </a:lvl2pPr>
            <a:lvl3pPr marL="3026755" indent="0">
              <a:buNone/>
              <a:defRPr sz="7944"/>
            </a:lvl3pPr>
            <a:lvl4pPr marL="4540133" indent="0">
              <a:buNone/>
              <a:defRPr sz="6620"/>
            </a:lvl4pPr>
            <a:lvl5pPr marL="6053511" indent="0">
              <a:buNone/>
              <a:defRPr sz="6620"/>
            </a:lvl5pPr>
            <a:lvl6pPr marL="7566889" indent="0">
              <a:buNone/>
              <a:defRPr sz="6620"/>
            </a:lvl6pPr>
            <a:lvl7pPr marL="9080266" indent="0">
              <a:buNone/>
              <a:defRPr sz="6620"/>
            </a:lvl7pPr>
            <a:lvl8pPr marL="10593644" indent="0">
              <a:buNone/>
              <a:defRPr sz="6620"/>
            </a:lvl8pPr>
            <a:lvl9pPr marL="12107022" indent="0">
              <a:buNone/>
              <a:defRPr sz="6620"/>
            </a:lvl9pPr>
          </a:lstStyle>
          <a:p>
            <a:r>
              <a:rPr lang="en-US"/>
              <a:t>Click icon to add picture</a:t>
            </a:r>
            <a:endParaRPr lang="en-US" dirty="0"/>
          </a:p>
        </p:txBody>
      </p:sp>
      <p:sp>
        <p:nvSpPr>
          <p:cNvPr id="4" name="Text Placeholder 3"/>
          <p:cNvSpPr>
            <a:spLocks noGrp="1"/>
          </p:cNvSpPr>
          <p:nvPr>
            <p:ph type="body" sz="half" idx="2"/>
          </p:nvPr>
        </p:nvSpPr>
        <p:spPr>
          <a:xfrm>
            <a:off x="2084817" y="12838271"/>
            <a:ext cx="9761984" cy="23784486"/>
          </a:xfrm>
        </p:spPr>
        <p:txBody>
          <a:bodyPr/>
          <a:lstStyle>
            <a:lvl1pPr marL="0" indent="0">
              <a:buNone/>
              <a:defRPr sz="5296"/>
            </a:lvl1pPr>
            <a:lvl2pPr marL="1513378" indent="0">
              <a:buNone/>
              <a:defRPr sz="4634"/>
            </a:lvl2pPr>
            <a:lvl3pPr marL="3026755" indent="0">
              <a:buNone/>
              <a:defRPr sz="3972"/>
            </a:lvl3pPr>
            <a:lvl4pPr marL="4540133" indent="0">
              <a:buNone/>
              <a:defRPr sz="3310"/>
            </a:lvl4pPr>
            <a:lvl5pPr marL="6053511" indent="0">
              <a:buNone/>
              <a:defRPr sz="3310"/>
            </a:lvl5pPr>
            <a:lvl6pPr marL="7566889" indent="0">
              <a:buNone/>
              <a:defRPr sz="3310"/>
            </a:lvl6pPr>
            <a:lvl7pPr marL="9080266" indent="0">
              <a:buNone/>
              <a:defRPr sz="3310"/>
            </a:lvl7pPr>
            <a:lvl8pPr marL="10593644" indent="0">
              <a:buNone/>
              <a:defRPr sz="3310"/>
            </a:lvl8pPr>
            <a:lvl9pPr marL="12107022" indent="0">
              <a:buNone/>
              <a:defRPr sz="3310"/>
            </a:lvl9pPr>
          </a:lstStyle>
          <a:p>
            <a:pPr lvl="0"/>
            <a:r>
              <a:rPr lang="en-US"/>
              <a:t>Click to edit Master text styles</a:t>
            </a:r>
          </a:p>
        </p:txBody>
      </p:sp>
      <p:sp>
        <p:nvSpPr>
          <p:cNvPr id="5" name="Date Placeholder 4"/>
          <p:cNvSpPr>
            <a:spLocks noGrp="1"/>
          </p:cNvSpPr>
          <p:nvPr>
            <p:ph type="dt" sz="half" idx="10"/>
          </p:nvPr>
        </p:nvSpPr>
        <p:spPr/>
        <p:txBody>
          <a:bodyPr/>
          <a:lstStyle/>
          <a:p>
            <a:fld id="{ECC52A70-1682-4967-8B8E-ED0BCE20DE0B}"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D94E698-7E5E-4C45-B3FE-0E5EE17289A4}" type="slidenum">
              <a:rPr lang="en-US" smtClean="0"/>
              <a:t>‹#›</a:t>
            </a:fld>
            <a:endParaRPr lang="en-US"/>
          </a:p>
        </p:txBody>
      </p:sp>
    </p:spTree>
    <p:extLst>
      <p:ext uri="{BB962C8B-B14F-4D97-AF65-F5344CB8AC3E}">
        <p14:creationId xmlns:p14="http://schemas.microsoft.com/office/powerpoint/2010/main" val="22704008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C52A70-1682-4967-8B8E-ED0BCE20DE0B}"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D94E698-7E5E-4C45-B3FE-0E5EE17289A4}" type="slidenum">
              <a:rPr lang="en-US" smtClean="0"/>
              <a:t>‹#›</a:t>
            </a:fld>
            <a:endParaRPr lang="en-US"/>
          </a:p>
        </p:txBody>
      </p:sp>
    </p:spTree>
    <p:extLst>
      <p:ext uri="{BB962C8B-B14F-4D97-AF65-F5344CB8AC3E}">
        <p14:creationId xmlns:p14="http://schemas.microsoft.com/office/powerpoint/2010/main" val="27635780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1660020" y="2278397"/>
            <a:ext cx="6526381" cy="36266139"/>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080877" y="2278397"/>
            <a:ext cx="19200803" cy="3626613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C52A70-1682-4967-8B8E-ED0BCE20DE0B}"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D94E698-7E5E-4C45-B3FE-0E5EE17289A4}" type="slidenum">
              <a:rPr lang="en-US" smtClean="0"/>
              <a:t>‹#›</a:t>
            </a:fld>
            <a:endParaRPr lang="en-US"/>
          </a:p>
        </p:txBody>
      </p:sp>
    </p:spTree>
    <p:extLst>
      <p:ext uri="{BB962C8B-B14F-4D97-AF65-F5344CB8AC3E}">
        <p14:creationId xmlns:p14="http://schemas.microsoft.com/office/powerpoint/2010/main" val="41911363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0875" y="2278406"/>
            <a:ext cx="26105525" cy="8271575"/>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080875" y="11391985"/>
            <a:ext cx="26105525" cy="2715255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080875" y="39663928"/>
            <a:ext cx="6810137" cy="2278397"/>
          </a:xfrm>
          <a:prstGeom prst="rect">
            <a:avLst/>
          </a:prstGeom>
        </p:spPr>
        <p:txBody>
          <a:bodyPr vert="horz" lIns="91440" tIns="45720" rIns="91440" bIns="45720" rtlCol="0" anchor="ctr"/>
          <a:lstStyle>
            <a:lvl1pPr algn="l">
              <a:defRPr sz="3972">
                <a:solidFill>
                  <a:schemeClr val="tx1">
                    <a:tint val="82000"/>
                  </a:schemeClr>
                </a:solidFill>
              </a:defRPr>
            </a:lvl1pPr>
          </a:lstStyle>
          <a:p>
            <a:fld id="{ECC52A70-1682-4967-8B8E-ED0BCE20DE0B}" type="datetimeFigureOut">
              <a:rPr lang="en-US" smtClean="0"/>
              <a:t>9/22/2026</a:t>
            </a:fld>
            <a:endParaRPr lang="en-US"/>
          </a:p>
        </p:txBody>
      </p:sp>
      <p:sp>
        <p:nvSpPr>
          <p:cNvPr id="5" name="Footer Placeholder 4"/>
          <p:cNvSpPr>
            <a:spLocks noGrp="1"/>
          </p:cNvSpPr>
          <p:nvPr>
            <p:ph type="ftr" sz="quarter" idx="3"/>
          </p:nvPr>
        </p:nvSpPr>
        <p:spPr>
          <a:xfrm>
            <a:off x="10026035" y="39663928"/>
            <a:ext cx="10215205" cy="2278397"/>
          </a:xfrm>
          <a:prstGeom prst="rect">
            <a:avLst/>
          </a:prstGeom>
        </p:spPr>
        <p:txBody>
          <a:bodyPr vert="horz" lIns="91440" tIns="45720" rIns="91440" bIns="45720" rtlCol="0" anchor="ctr"/>
          <a:lstStyle>
            <a:lvl1pPr algn="ctr">
              <a:defRPr sz="3972">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21376263" y="39663928"/>
            <a:ext cx="6810137" cy="2278397"/>
          </a:xfrm>
          <a:prstGeom prst="rect">
            <a:avLst/>
          </a:prstGeom>
        </p:spPr>
        <p:txBody>
          <a:bodyPr vert="horz" lIns="91440" tIns="45720" rIns="91440" bIns="45720" rtlCol="0" anchor="ctr"/>
          <a:lstStyle>
            <a:lvl1pPr algn="r">
              <a:defRPr sz="3972">
                <a:solidFill>
                  <a:schemeClr val="tx1">
                    <a:tint val="82000"/>
                  </a:schemeClr>
                </a:solidFill>
              </a:defRPr>
            </a:lvl1pPr>
          </a:lstStyle>
          <a:p>
            <a:fld id="{4D94E698-7E5E-4C45-B3FE-0E5EE17289A4}" type="slidenum">
              <a:rPr lang="en-US" smtClean="0"/>
              <a:t>‹#›</a:t>
            </a:fld>
            <a:endParaRPr lang="en-US"/>
          </a:p>
        </p:txBody>
      </p:sp>
    </p:spTree>
    <p:extLst>
      <p:ext uri="{BB962C8B-B14F-4D97-AF65-F5344CB8AC3E}">
        <p14:creationId xmlns:p14="http://schemas.microsoft.com/office/powerpoint/2010/main" val="212716624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3026755" rtl="0" eaLnBrk="1" latinLnBrk="0" hangingPunct="1">
        <a:lnSpc>
          <a:spcPct val="90000"/>
        </a:lnSpc>
        <a:spcBef>
          <a:spcPct val="0"/>
        </a:spcBef>
        <a:buNone/>
        <a:defRPr sz="14564" kern="1200">
          <a:solidFill>
            <a:schemeClr val="tx1"/>
          </a:solidFill>
          <a:latin typeface="+mj-lt"/>
          <a:ea typeface="+mj-ea"/>
          <a:cs typeface="+mj-cs"/>
        </a:defRPr>
      </a:lvl1pPr>
    </p:titleStyle>
    <p:bodyStyle>
      <a:lvl1pPr marL="756689" indent="-756689" algn="l" defTabSz="3026755" rtl="0" eaLnBrk="1" latinLnBrk="0" hangingPunct="1">
        <a:lnSpc>
          <a:spcPct val="90000"/>
        </a:lnSpc>
        <a:spcBef>
          <a:spcPts val="3310"/>
        </a:spcBef>
        <a:buFont typeface="Arial" panose="020B0604020202020204" pitchFamily="34" charset="0"/>
        <a:buChar char="•"/>
        <a:defRPr sz="9268" kern="1200">
          <a:solidFill>
            <a:schemeClr val="tx1"/>
          </a:solidFill>
          <a:latin typeface="+mn-lt"/>
          <a:ea typeface="+mn-ea"/>
          <a:cs typeface="+mn-cs"/>
        </a:defRPr>
      </a:lvl1pPr>
      <a:lvl2pPr marL="2270067" indent="-756689" algn="l" defTabSz="3026755" rtl="0" eaLnBrk="1" latinLnBrk="0" hangingPunct="1">
        <a:lnSpc>
          <a:spcPct val="90000"/>
        </a:lnSpc>
        <a:spcBef>
          <a:spcPts val="1655"/>
        </a:spcBef>
        <a:buFont typeface="Arial" panose="020B0604020202020204" pitchFamily="34" charset="0"/>
        <a:buChar char="•"/>
        <a:defRPr sz="7944" kern="1200">
          <a:solidFill>
            <a:schemeClr val="tx1"/>
          </a:solidFill>
          <a:latin typeface="+mn-lt"/>
          <a:ea typeface="+mn-ea"/>
          <a:cs typeface="+mn-cs"/>
        </a:defRPr>
      </a:lvl2pPr>
      <a:lvl3pPr marL="3783444" indent="-756689" algn="l" defTabSz="3026755" rtl="0" eaLnBrk="1" latinLnBrk="0" hangingPunct="1">
        <a:lnSpc>
          <a:spcPct val="90000"/>
        </a:lnSpc>
        <a:spcBef>
          <a:spcPts val="1655"/>
        </a:spcBef>
        <a:buFont typeface="Arial" panose="020B0604020202020204" pitchFamily="34" charset="0"/>
        <a:buChar char="•"/>
        <a:defRPr sz="6620" kern="1200">
          <a:solidFill>
            <a:schemeClr val="tx1"/>
          </a:solidFill>
          <a:latin typeface="+mn-lt"/>
          <a:ea typeface="+mn-ea"/>
          <a:cs typeface="+mn-cs"/>
        </a:defRPr>
      </a:lvl3pPr>
      <a:lvl4pPr marL="5296822" indent="-756689" algn="l" defTabSz="3026755" rtl="0" eaLnBrk="1" latinLnBrk="0" hangingPunct="1">
        <a:lnSpc>
          <a:spcPct val="90000"/>
        </a:lnSpc>
        <a:spcBef>
          <a:spcPts val="1655"/>
        </a:spcBef>
        <a:buFont typeface="Arial" panose="020B0604020202020204" pitchFamily="34" charset="0"/>
        <a:buChar char="•"/>
        <a:defRPr sz="5958" kern="1200">
          <a:solidFill>
            <a:schemeClr val="tx1"/>
          </a:solidFill>
          <a:latin typeface="+mn-lt"/>
          <a:ea typeface="+mn-ea"/>
          <a:cs typeface="+mn-cs"/>
        </a:defRPr>
      </a:lvl4pPr>
      <a:lvl5pPr marL="6810200" indent="-756689" algn="l" defTabSz="3026755" rtl="0" eaLnBrk="1" latinLnBrk="0" hangingPunct="1">
        <a:lnSpc>
          <a:spcPct val="90000"/>
        </a:lnSpc>
        <a:spcBef>
          <a:spcPts val="1655"/>
        </a:spcBef>
        <a:buFont typeface="Arial" panose="020B0604020202020204" pitchFamily="34" charset="0"/>
        <a:buChar char="•"/>
        <a:defRPr sz="5958" kern="1200">
          <a:solidFill>
            <a:schemeClr val="tx1"/>
          </a:solidFill>
          <a:latin typeface="+mn-lt"/>
          <a:ea typeface="+mn-ea"/>
          <a:cs typeface="+mn-cs"/>
        </a:defRPr>
      </a:lvl5pPr>
      <a:lvl6pPr marL="8323577" indent="-756689" algn="l" defTabSz="3026755" rtl="0" eaLnBrk="1" latinLnBrk="0" hangingPunct="1">
        <a:lnSpc>
          <a:spcPct val="90000"/>
        </a:lnSpc>
        <a:spcBef>
          <a:spcPts val="1655"/>
        </a:spcBef>
        <a:buFont typeface="Arial" panose="020B0604020202020204" pitchFamily="34" charset="0"/>
        <a:buChar char="•"/>
        <a:defRPr sz="5958" kern="1200">
          <a:solidFill>
            <a:schemeClr val="tx1"/>
          </a:solidFill>
          <a:latin typeface="+mn-lt"/>
          <a:ea typeface="+mn-ea"/>
          <a:cs typeface="+mn-cs"/>
        </a:defRPr>
      </a:lvl6pPr>
      <a:lvl7pPr marL="9836955" indent="-756689" algn="l" defTabSz="3026755" rtl="0" eaLnBrk="1" latinLnBrk="0" hangingPunct="1">
        <a:lnSpc>
          <a:spcPct val="90000"/>
        </a:lnSpc>
        <a:spcBef>
          <a:spcPts val="1655"/>
        </a:spcBef>
        <a:buFont typeface="Arial" panose="020B0604020202020204" pitchFamily="34" charset="0"/>
        <a:buChar char="•"/>
        <a:defRPr sz="5958" kern="1200">
          <a:solidFill>
            <a:schemeClr val="tx1"/>
          </a:solidFill>
          <a:latin typeface="+mn-lt"/>
          <a:ea typeface="+mn-ea"/>
          <a:cs typeface="+mn-cs"/>
        </a:defRPr>
      </a:lvl7pPr>
      <a:lvl8pPr marL="11350333" indent="-756689" algn="l" defTabSz="3026755" rtl="0" eaLnBrk="1" latinLnBrk="0" hangingPunct="1">
        <a:lnSpc>
          <a:spcPct val="90000"/>
        </a:lnSpc>
        <a:spcBef>
          <a:spcPts val="1655"/>
        </a:spcBef>
        <a:buFont typeface="Arial" panose="020B0604020202020204" pitchFamily="34" charset="0"/>
        <a:buChar char="•"/>
        <a:defRPr sz="5958" kern="1200">
          <a:solidFill>
            <a:schemeClr val="tx1"/>
          </a:solidFill>
          <a:latin typeface="+mn-lt"/>
          <a:ea typeface="+mn-ea"/>
          <a:cs typeface="+mn-cs"/>
        </a:defRPr>
      </a:lvl8pPr>
      <a:lvl9pPr marL="12863711" indent="-756689" algn="l" defTabSz="3026755" rtl="0" eaLnBrk="1" latinLnBrk="0" hangingPunct="1">
        <a:lnSpc>
          <a:spcPct val="90000"/>
        </a:lnSpc>
        <a:spcBef>
          <a:spcPts val="1655"/>
        </a:spcBef>
        <a:buFont typeface="Arial" panose="020B0604020202020204" pitchFamily="34" charset="0"/>
        <a:buChar char="•"/>
        <a:defRPr sz="5958" kern="1200">
          <a:solidFill>
            <a:schemeClr val="tx1"/>
          </a:solidFill>
          <a:latin typeface="+mn-lt"/>
          <a:ea typeface="+mn-ea"/>
          <a:cs typeface="+mn-cs"/>
        </a:defRPr>
      </a:lvl9pPr>
    </p:bodyStyle>
    <p:otherStyle>
      <a:defPPr>
        <a:defRPr lang="en-US"/>
      </a:defPPr>
      <a:lvl1pPr marL="0" algn="l" defTabSz="3026755" rtl="0" eaLnBrk="1" latinLnBrk="0" hangingPunct="1">
        <a:defRPr sz="5958" kern="1200">
          <a:solidFill>
            <a:schemeClr val="tx1"/>
          </a:solidFill>
          <a:latin typeface="+mn-lt"/>
          <a:ea typeface="+mn-ea"/>
          <a:cs typeface="+mn-cs"/>
        </a:defRPr>
      </a:lvl1pPr>
      <a:lvl2pPr marL="1513378" algn="l" defTabSz="3026755" rtl="0" eaLnBrk="1" latinLnBrk="0" hangingPunct="1">
        <a:defRPr sz="5958" kern="1200">
          <a:solidFill>
            <a:schemeClr val="tx1"/>
          </a:solidFill>
          <a:latin typeface="+mn-lt"/>
          <a:ea typeface="+mn-ea"/>
          <a:cs typeface="+mn-cs"/>
        </a:defRPr>
      </a:lvl2pPr>
      <a:lvl3pPr marL="3026755" algn="l" defTabSz="3026755" rtl="0" eaLnBrk="1" latinLnBrk="0" hangingPunct="1">
        <a:defRPr sz="5958" kern="1200">
          <a:solidFill>
            <a:schemeClr val="tx1"/>
          </a:solidFill>
          <a:latin typeface="+mn-lt"/>
          <a:ea typeface="+mn-ea"/>
          <a:cs typeface="+mn-cs"/>
        </a:defRPr>
      </a:lvl3pPr>
      <a:lvl4pPr marL="4540133" algn="l" defTabSz="3026755" rtl="0" eaLnBrk="1" latinLnBrk="0" hangingPunct="1">
        <a:defRPr sz="5958" kern="1200">
          <a:solidFill>
            <a:schemeClr val="tx1"/>
          </a:solidFill>
          <a:latin typeface="+mn-lt"/>
          <a:ea typeface="+mn-ea"/>
          <a:cs typeface="+mn-cs"/>
        </a:defRPr>
      </a:lvl4pPr>
      <a:lvl5pPr marL="6053511" algn="l" defTabSz="3026755" rtl="0" eaLnBrk="1" latinLnBrk="0" hangingPunct="1">
        <a:defRPr sz="5958" kern="1200">
          <a:solidFill>
            <a:schemeClr val="tx1"/>
          </a:solidFill>
          <a:latin typeface="+mn-lt"/>
          <a:ea typeface="+mn-ea"/>
          <a:cs typeface="+mn-cs"/>
        </a:defRPr>
      </a:lvl5pPr>
      <a:lvl6pPr marL="7566889" algn="l" defTabSz="3026755" rtl="0" eaLnBrk="1" latinLnBrk="0" hangingPunct="1">
        <a:defRPr sz="5958" kern="1200">
          <a:solidFill>
            <a:schemeClr val="tx1"/>
          </a:solidFill>
          <a:latin typeface="+mn-lt"/>
          <a:ea typeface="+mn-ea"/>
          <a:cs typeface="+mn-cs"/>
        </a:defRPr>
      </a:lvl6pPr>
      <a:lvl7pPr marL="9080266" algn="l" defTabSz="3026755" rtl="0" eaLnBrk="1" latinLnBrk="0" hangingPunct="1">
        <a:defRPr sz="5958" kern="1200">
          <a:solidFill>
            <a:schemeClr val="tx1"/>
          </a:solidFill>
          <a:latin typeface="+mn-lt"/>
          <a:ea typeface="+mn-ea"/>
          <a:cs typeface="+mn-cs"/>
        </a:defRPr>
      </a:lvl7pPr>
      <a:lvl8pPr marL="10593644" algn="l" defTabSz="3026755" rtl="0" eaLnBrk="1" latinLnBrk="0" hangingPunct="1">
        <a:defRPr sz="5958" kern="1200">
          <a:solidFill>
            <a:schemeClr val="tx1"/>
          </a:solidFill>
          <a:latin typeface="+mn-lt"/>
          <a:ea typeface="+mn-ea"/>
          <a:cs typeface="+mn-cs"/>
        </a:defRPr>
      </a:lvl8pPr>
      <a:lvl9pPr marL="12107022" algn="l" defTabSz="3026755" rtl="0" eaLnBrk="1" latinLnBrk="0" hangingPunct="1">
        <a:defRPr sz="59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jp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sp>
        <p:nvSpPr>
          <p:cNvPr id="58" name="Freeform 6">
            <a:extLst>
              <a:ext uri="{FF2B5EF4-FFF2-40B4-BE49-F238E27FC236}">
                <a16:creationId xmlns:a16="http://schemas.microsoft.com/office/drawing/2014/main" id="{C1278045-AD6E-DB5C-C3C8-A287FFFBCBC4}"/>
              </a:ext>
            </a:extLst>
          </p:cNvPr>
          <p:cNvSpPr/>
          <p:nvPr/>
        </p:nvSpPr>
        <p:spPr>
          <a:xfrm>
            <a:off x="20754188" y="5557616"/>
            <a:ext cx="9369682" cy="22057425"/>
          </a:xfrm>
          <a:custGeom>
            <a:avLst/>
            <a:gdLst/>
            <a:ahLst/>
            <a:cxnLst/>
            <a:rect l="l" t="t" r="r" b="b"/>
            <a:pathLst>
              <a:path w="1910769" h="3897149">
                <a:moveTo>
                  <a:pt x="26204" y="0"/>
                </a:moveTo>
                <a:lnTo>
                  <a:pt x="1884565" y="0"/>
                </a:lnTo>
                <a:cubicBezTo>
                  <a:pt x="1891515" y="0"/>
                  <a:pt x="1898180" y="2761"/>
                  <a:pt x="1903094" y="7675"/>
                </a:cubicBezTo>
                <a:cubicBezTo>
                  <a:pt x="1908009" y="12589"/>
                  <a:pt x="1910769" y="19254"/>
                  <a:pt x="1910769" y="26204"/>
                </a:cubicBezTo>
                <a:lnTo>
                  <a:pt x="1910769" y="3870945"/>
                </a:lnTo>
                <a:cubicBezTo>
                  <a:pt x="1910769" y="3877894"/>
                  <a:pt x="1908009" y="3884560"/>
                  <a:pt x="1903094" y="3889474"/>
                </a:cubicBezTo>
                <a:cubicBezTo>
                  <a:pt x="1898180" y="3894388"/>
                  <a:pt x="1891515" y="3897149"/>
                  <a:pt x="1884565" y="3897149"/>
                </a:cubicBezTo>
                <a:lnTo>
                  <a:pt x="26204" y="3897149"/>
                </a:lnTo>
                <a:cubicBezTo>
                  <a:pt x="19254" y="3897149"/>
                  <a:pt x="12589" y="3894388"/>
                  <a:pt x="7675" y="3889474"/>
                </a:cubicBezTo>
                <a:cubicBezTo>
                  <a:pt x="2761" y="3884560"/>
                  <a:pt x="0" y="3877894"/>
                  <a:pt x="0" y="3870945"/>
                </a:cubicBezTo>
                <a:lnTo>
                  <a:pt x="0" y="26204"/>
                </a:lnTo>
                <a:cubicBezTo>
                  <a:pt x="0" y="19254"/>
                  <a:pt x="2761" y="12589"/>
                  <a:pt x="7675" y="7675"/>
                </a:cubicBezTo>
                <a:cubicBezTo>
                  <a:pt x="12589" y="2761"/>
                  <a:pt x="19254" y="0"/>
                  <a:pt x="26204" y="0"/>
                </a:cubicBezTo>
                <a:close/>
              </a:path>
            </a:pathLst>
          </a:custGeom>
          <a:noFill/>
        </p:spPr>
        <p:txBody>
          <a:bodyPr/>
          <a:lstStyle/>
          <a:p>
            <a:endParaRPr lang="en-US"/>
          </a:p>
        </p:txBody>
      </p:sp>
      <p:grpSp>
        <p:nvGrpSpPr>
          <p:cNvPr id="50" name="Group 5">
            <a:extLst>
              <a:ext uri="{FF2B5EF4-FFF2-40B4-BE49-F238E27FC236}">
                <a16:creationId xmlns:a16="http://schemas.microsoft.com/office/drawing/2014/main" id="{47D91221-B8FC-8DFC-1A41-73B7B93329A4}"/>
              </a:ext>
            </a:extLst>
          </p:cNvPr>
          <p:cNvGrpSpPr/>
          <p:nvPr/>
        </p:nvGrpSpPr>
        <p:grpSpPr>
          <a:xfrm>
            <a:off x="11205479" y="5288064"/>
            <a:ext cx="18731512" cy="22326977"/>
            <a:chOff x="0" y="-47625"/>
            <a:chExt cx="1910769" cy="3944774"/>
          </a:xfrm>
        </p:grpSpPr>
        <p:sp>
          <p:nvSpPr>
            <p:cNvPr id="53" name="Freeform 6">
              <a:extLst>
                <a:ext uri="{FF2B5EF4-FFF2-40B4-BE49-F238E27FC236}">
                  <a16:creationId xmlns:a16="http://schemas.microsoft.com/office/drawing/2014/main" id="{3763B1E0-C24E-8505-80C4-FF4BE171E235}"/>
                </a:ext>
              </a:extLst>
            </p:cNvPr>
            <p:cNvSpPr/>
            <p:nvPr/>
          </p:nvSpPr>
          <p:spPr>
            <a:xfrm>
              <a:off x="0" y="0"/>
              <a:ext cx="955785" cy="3897149"/>
            </a:xfrm>
            <a:custGeom>
              <a:avLst/>
              <a:gdLst/>
              <a:ahLst/>
              <a:cxnLst/>
              <a:rect l="l" t="t" r="r" b="b"/>
              <a:pathLst>
                <a:path w="1910769" h="3897149">
                  <a:moveTo>
                    <a:pt x="26204" y="0"/>
                  </a:moveTo>
                  <a:lnTo>
                    <a:pt x="1884565" y="0"/>
                  </a:lnTo>
                  <a:cubicBezTo>
                    <a:pt x="1891515" y="0"/>
                    <a:pt x="1898180" y="2761"/>
                    <a:pt x="1903094" y="7675"/>
                  </a:cubicBezTo>
                  <a:cubicBezTo>
                    <a:pt x="1908009" y="12589"/>
                    <a:pt x="1910769" y="19254"/>
                    <a:pt x="1910769" y="26204"/>
                  </a:cubicBezTo>
                  <a:lnTo>
                    <a:pt x="1910769" y="3870945"/>
                  </a:lnTo>
                  <a:cubicBezTo>
                    <a:pt x="1910769" y="3877894"/>
                    <a:pt x="1908009" y="3884560"/>
                    <a:pt x="1903094" y="3889474"/>
                  </a:cubicBezTo>
                  <a:cubicBezTo>
                    <a:pt x="1898180" y="3894388"/>
                    <a:pt x="1891515" y="3897149"/>
                    <a:pt x="1884565" y="3897149"/>
                  </a:cubicBezTo>
                  <a:lnTo>
                    <a:pt x="26204" y="3897149"/>
                  </a:lnTo>
                  <a:cubicBezTo>
                    <a:pt x="19254" y="3897149"/>
                    <a:pt x="12589" y="3894388"/>
                    <a:pt x="7675" y="3889474"/>
                  </a:cubicBezTo>
                  <a:cubicBezTo>
                    <a:pt x="2761" y="3884560"/>
                    <a:pt x="0" y="3877894"/>
                    <a:pt x="0" y="3870945"/>
                  </a:cubicBezTo>
                  <a:lnTo>
                    <a:pt x="0" y="26204"/>
                  </a:lnTo>
                  <a:cubicBezTo>
                    <a:pt x="0" y="19254"/>
                    <a:pt x="2761" y="12589"/>
                    <a:pt x="7675" y="7675"/>
                  </a:cubicBezTo>
                  <a:cubicBezTo>
                    <a:pt x="12589" y="2761"/>
                    <a:pt x="19254" y="0"/>
                    <a:pt x="26204" y="0"/>
                  </a:cubicBezTo>
                  <a:close/>
                </a:path>
              </a:pathLst>
            </a:custGeom>
            <a:noFill/>
          </p:spPr>
          <p:txBody>
            <a:bodyPr/>
            <a:lstStyle/>
            <a:p>
              <a:endParaRPr lang="en-US"/>
            </a:p>
          </p:txBody>
        </p:sp>
        <p:sp>
          <p:nvSpPr>
            <p:cNvPr id="56" name="TextBox 7">
              <a:extLst>
                <a:ext uri="{FF2B5EF4-FFF2-40B4-BE49-F238E27FC236}">
                  <a16:creationId xmlns:a16="http://schemas.microsoft.com/office/drawing/2014/main" id="{BB906342-2859-2F66-EF0A-27B113A92096}"/>
                </a:ext>
              </a:extLst>
            </p:cNvPr>
            <p:cNvSpPr txBox="1"/>
            <p:nvPr/>
          </p:nvSpPr>
          <p:spPr>
            <a:xfrm>
              <a:off x="0" y="-47625"/>
              <a:ext cx="1910769" cy="3944774"/>
            </a:xfrm>
            <a:prstGeom prst="rect">
              <a:avLst/>
            </a:prstGeom>
          </p:spPr>
          <p:txBody>
            <a:bodyPr lIns="25305" tIns="25305" rIns="25305" bIns="25305" rtlCol="0" anchor="ctr"/>
            <a:lstStyle/>
            <a:p>
              <a:pPr algn="ctr">
                <a:lnSpc>
                  <a:spcPts val="3975"/>
                </a:lnSpc>
              </a:pPr>
              <a:endParaRPr/>
            </a:p>
          </p:txBody>
        </p:sp>
      </p:grpSp>
      <p:grpSp>
        <p:nvGrpSpPr>
          <p:cNvPr id="4" name="Group 8">
            <a:extLst>
              <a:ext uri="{FF2B5EF4-FFF2-40B4-BE49-F238E27FC236}">
                <a16:creationId xmlns:a16="http://schemas.microsoft.com/office/drawing/2014/main" id="{9428BD4E-8759-D484-75C7-DB293592FA88}"/>
              </a:ext>
            </a:extLst>
          </p:cNvPr>
          <p:cNvGrpSpPr>
            <a:grpSpLocks noGrp="1" noUngrp="1" noRot="1" noMove="1" noResize="1"/>
          </p:cNvGrpSpPr>
          <p:nvPr/>
        </p:nvGrpSpPr>
        <p:grpSpPr>
          <a:xfrm>
            <a:off x="-1" y="116569"/>
            <a:ext cx="30267275" cy="3684651"/>
            <a:chOff x="0" y="0"/>
            <a:chExt cx="7689780" cy="661951"/>
          </a:xfrm>
          <a:solidFill>
            <a:srgbClr val="0D1D52"/>
          </a:solidFill>
        </p:grpSpPr>
        <p:sp>
          <p:nvSpPr>
            <p:cNvPr id="5" name="Freeform 9">
              <a:extLst>
                <a:ext uri="{FF2B5EF4-FFF2-40B4-BE49-F238E27FC236}">
                  <a16:creationId xmlns:a16="http://schemas.microsoft.com/office/drawing/2014/main" id="{E18894A4-30B9-72FD-12EA-1754AEF27435}"/>
                </a:ext>
              </a:extLst>
            </p:cNvPr>
            <p:cNvSpPr>
              <a:spLocks noGrp="1" noRot="1" noMove="1" noResize="1" noEditPoints="1" noAdjustHandles="1" noChangeArrowheads="1" noChangeShapeType="1"/>
            </p:cNvSpPr>
            <p:nvPr/>
          </p:nvSpPr>
          <p:spPr>
            <a:xfrm>
              <a:off x="0" y="0"/>
              <a:ext cx="7689780" cy="661951"/>
            </a:xfrm>
            <a:custGeom>
              <a:avLst/>
              <a:gdLst/>
              <a:ahLst/>
              <a:cxnLst/>
              <a:rect l="l" t="t" r="r" b="b"/>
              <a:pathLst>
                <a:path w="7689780" h="661951">
                  <a:moveTo>
                    <a:pt x="0" y="0"/>
                  </a:moveTo>
                  <a:lnTo>
                    <a:pt x="7689780" y="0"/>
                  </a:lnTo>
                  <a:lnTo>
                    <a:pt x="7689780" y="661951"/>
                  </a:lnTo>
                  <a:lnTo>
                    <a:pt x="0" y="661951"/>
                  </a:lnTo>
                  <a:close/>
                </a:path>
              </a:pathLst>
            </a:custGeom>
            <a:grpFill/>
          </p:spPr>
          <p:txBody>
            <a:bodyPr/>
            <a:lstStyle/>
            <a:p>
              <a:endParaRPr lang="en-US"/>
            </a:p>
          </p:txBody>
        </p:sp>
        <p:sp>
          <p:nvSpPr>
            <p:cNvPr id="6" name="TextBox 10">
              <a:extLst>
                <a:ext uri="{FF2B5EF4-FFF2-40B4-BE49-F238E27FC236}">
                  <a16:creationId xmlns:a16="http://schemas.microsoft.com/office/drawing/2014/main" id="{E2EE8963-70B6-67CE-AF6A-2633748FC0E6}"/>
                </a:ext>
              </a:extLst>
            </p:cNvPr>
            <p:cNvSpPr txBox="1">
              <a:spLocks noGrp="1" noRot="1" noMove="1" noResize="1" noEditPoints="1" noAdjustHandles="1" noChangeArrowheads="1" noChangeShapeType="1"/>
            </p:cNvSpPr>
            <p:nvPr/>
          </p:nvSpPr>
          <p:spPr>
            <a:xfrm>
              <a:off x="0" y="-47625"/>
              <a:ext cx="7689780" cy="709576"/>
            </a:xfrm>
            <a:prstGeom prst="rect">
              <a:avLst/>
            </a:prstGeom>
            <a:grpFill/>
          </p:spPr>
          <p:txBody>
            <a:bodyPr lIns="25305" tIns="25305" rIns="25305" bIns="25305" rtlCol="0" anchor="ctr"/>
            <a:lstStyle/>
            <a:p>
              <a:pPr algn="ctr">
                <a:lnSpc>
                  <a:spcPts val="3975"/>
                </a:lnSpc>
              </a:pPr>
              <a:endParaRPr/>
            </a:p>
          </p:txBody>
        </p:sp>
      </p:grpSp>
      <p:grpSp>
        <p:nvGrpSpPr>
          <p:cNvPr id="7" name="Group 21">
            <a:extLst>
              <a:ext uri="{FF2B5EF4-FFF2-40B4-BE49-F238E27FC236}">
                <a16:creationId xmlns:a16="http://schemas.microsoft.com/office/drawing/2014/main" id="{F47DDF8A-FE7C-22AB-249E-515267B64088}"/>
              </a:ext>
            </a:extLst>
          </p:cNvPr>
          <p:cNvGrpSpPr>
            <a:grpSpLocks noGrp="1" noUngrp="1" noRot="1" noMove="1" noResize="1"/>
          </p:cNvGrpSpPr>
          <p:nvPr/>
        </p:nvGrpSpPr>
        <p:grpSpPr>
          <a:xfrm>
            <a:off x="21906280" y="3513833"/>
            <a:ext cx="8360995" cy="605447"/>
            <a:chOff x="0" y="0"/>
            <a:chExt cx="4794764" cy="147506"/>
          </a:xfrm>
          <a:solidFill>
            <a:srgbClr val="FEBD4C"/>
          </a:solidFill>
        </p:grpSpPr>
        <p:sp>
          <p:nvSpPr>
            <p:cNvPr id="8" name="Freeform 22">
              <a:extLst>
                <a:ext uri="{FF2B5EF4-FFF2-40B4-BE49-F238E27FC236}">
                  <a16:creationId xmlns:a16="http://schemas.microsoft.com/office/drawing/2014/main" id="{71FF1953-9D62-3148-1AC0-A1CE1B414045}"/>
                </a:ext>
              </a:extLst>
            </p:cNvPr>
            <p:cNvSpPr>
              <a:spLocks noGrp="1" noRot="1" noMove="1" noResize="1" noEditPoints="1" noAdjustHandles="1" noChangeArrowheads="1" noChangeShapeType="1"/>
            </p:cNvSpPr>
            <p:nvPr/>
          </p:nvSpPr>
          <p:spPr>
            <a:xfrm>
              <a:off x="0" y="0"/>
              <a:ext cx="4794764" cy="147506"/>
            </a:xfrm>
            <a:custGeom>
              <a:avLst/>
              <a:gdLst/>
              <a:ahLst/>
              <a:cxnLst/>
              <a:rect l="l" t="t" r="r" b="b"/>
              <a:pathLst>
                <a:path w="4794764" h="147506">
                  <a:moveTo>
                    <a:pt x="1450" y="0"/>
                  </a:moveTo>
                  <a:lnTo>
                    <a:pt x="4793314" y="0"/>
                  </a:lnTo>
                  <a:cubicBezTo>
                    <a:pt x="4793698" y="0"/>
                    <a:pt x="4794067" y="153"/>
                    <a:pt x="4794340" y="425"/>
                  </a:cubicBezTo>
                  <a:cubicBezTo>
                    <a:pt x="4794612" y="697"/>
                    <a:pt x="4794764" y="1066"/>
                    <a:pt x="4794764" y="1450"/>
                  </a:cubicBezTo>
                  <a:lnTo>
                    <a:pt x="4794764" y="146056"/>
                  </a:lnTo>
                  <a:cubicBezTo>
                    <a:pt x="4794764" y="146857"/>
                    <a:pt x="4794115" y="147506"/>
                    <a:pt x="4793314" y="147506"/>
                  </a:cubicBezTo>
                  <a:lnTo>
                    <a:pt x="1450" y="147506"/>
                  </a:lnTo>
                  <a:cubicBezTo>
                    <a:pt x="649" y="147506"/>
                    <a:pt x="0" y="146857"/>
                    <a:pt x="0" y="146056"/>
                  </a:cubicBezTo>
                  <a:lnTo>
                    <a:pt x="0" y="1450"/>
                  </a:lnTo>
                  <a:cubicBezTo>
                    <a:pt x="0" y="649"/>
                    <a:pt x="649" y="0"/>
                    <a:pt x="1450" y="0"/>
                  </a:cubicBezTo>
                  <a:close/>
                </a:path>
              </a:pathLst>
            </a:custGeom>
            <a:grpFill/>
          </p:spPr>
          <p:txBody>
            <a:bodyPr/>
            <a:lstStyle/>
            <a:p>
              <a:endParaRPr lang="en-US"/>
            </a:p>
          </p:txBody>
        </p:sp>
        <p:sp>
          <p:nvSpPr>
            <p:cNvPr id="9" name="TextBox 23">
              <a:extLst>
                <a:ext uri="{FF2B5EF4-FFF2-40B4-BE49-F238E27FC236}">
                  <a16:creationId xmlns:a16="http://schemas.microsoft.com/office/drawing/2014/main" id="{D2349127-8113-FBC8-CCDB-A5F4D33F7A59}"/>
                </a:ext>
              </a:extLst>
            </p:cNvPr>
            <p:cNvSpPr txBox="1">
              <a:spLocks noGrp="1" noRot="1" noMove="1" noResize="1" noEditPoints="1" noAdjustHandles="1" noChangeArrowheads="1" noChangeShapeType="1"/>
            </p:cNvSpPr>
            <p:nvPr/>
          </p:nvSpPr>
          <p:spPr>
            <a:xfrm>
              <a:off x="0" y="-47625"/>
              <a:ext cx="4794764" cy="195131"/>
            </a:xfrm>
            <a:prstGeom prst="rect">
              <a:avLst/>
            </a:prstGeom>
            <a:grpFill/>
          </p:spPr>
          <p:txBody>
            <a:bodyPr lIns="25305" tIns="25305" rIns="25305" bIns="25305" rtlCol="0" anchor="ctr"/>
            <a:lstStyle/>
            <a:p>
              <a:pPr algn="ctr">
                <a:lnSpc>
                  <a:spcPts val="3975"/>
                </a:lnSpc>
              </a:pPr>
              <a:endParaRPr/>
            </a:p>
          </p:txBody>
        </p:sp>
      </p:grpSp>
      <p:sp>
        <p:nvSpPr>
          <p:cNvPr id="10" name="TextBox 47">
            <a:extLst>
              <a:ext uri="{FF2B5EF4-FFF2-40B4-BE49-F238E27FC236}">
                <a16:creationId xmlns:a16="http://schemas.microsoft.com/office/drawing/2014/main" id="{D32542E1-CFE3-5E9D-088E-76BDF151BE0E}"/>
              </a:ext>
            </a:extLst>
          </p:cNvPr>
          <p:cNvSpPr txBox="1"/>
          <p:nvPr/>
        </p:nvSpPr>
        <p:spPr>
          <a:xfrm>
            <a:off x="761597" y="577608"/>
            <a:ext cx="27699104" cy="1231106"/>
          </a:xfrm>
          <a:prstGeom prst="rect">
            <a:avLst/>
          </a:prstGeom>
        </p:spPr>
        <p:txBody>
          <a:bodyPr wrap="square" lIns="0" tIns="0" rIns="0" bIns="0" rtlCol="0" anchor="t">
            <a:spAutoFit/>
          </a:bodyPr>
          <a:lstStyle/>
          <a:p>
            <a:pPr>
              <a:lnSpc>
                <a:spcPts val="9600"/>
              </a:lnSpc>
            </a:pPr>
            <a:r>
              <a:rPr lang="en-US" sz="8000" spc="240" dirty="0">
                <a:solidFill>
                  <a:srgbClr val="FFFFFF"/>
                </a:solidFill>
                <a:latin typeface="Neue Einstellung Medium"/>
                <a:ea typeface="Neue Einstellung Medium"/>
                <a:cs typeface="Neue Einstellung Medium"/>
                <a:sym typeface="Neue Einstellung Medium"/>
              </a:rPr>
              <a:t>Physics-Informed Machine Learning Vessel Depth Classification</a:t>
            </a:r>
          </a:p>
        </p:txBody>
      </p:sp>
      <p:sp>
        <p:nvSpPr>
          <p:cNvPr id="11" name="TextBox 59">
            <a:extLst>
              <a:ext uri="{FF2B5EF4-FFF2-40B4-BE49-F238E27FC236}">
                <a16:creationId xmlns:a16="http://schemas.microsoft.com/office/drawing/2014/main" id="{7F6AA164-033A-585B-BE6A-CCC6CD0FAE06}"/>
              </a:ext>
            </a:extLst>
          </p:cNvPr>
          <p:cNvSpPr txBox="1"/>
          <p:nvPr/>
        </p:nvSpPr>
        <p:spPr>
          <a:xfrm>
            <a:off x="520905" y="4119281"/>
            <a:ext cx="17776399" cy="615553"/>
          </a:xfrm>
          <a:prstGeom prst="rect">
            <a:avLst/>
          </a:prstGeom>
        </p:spPr>
        <p:txBody>
          <a:bodyPr lIns="0" tIns="0" rIns="0" bIns="0" rtlCol="0" anchor="t">
            <a:spAutoFit/>
          </a:bodyPr>
          <a:lstStyle/>
          <a:p>
            <a:pPr>
              <a:lnSpc>
                <a:spcPts val="4759"/>
              </a:lnSpc>
            </a:pPr>
            <a:r>
              <a:rPr lang="en-US" sz="4400" i="1" dirty="0">
                <a:solidFill>
                  <a:srgbClr val="525252"/>
                </a:solidFill>
                <a:latin typeface="Poppins Italics"/>
                <a:ea typeface="Poppins Italics"/>
                <a:cs typeface="Poppins Italics"/>
                <a:sym typeface="Poppins Italics"/>
              </a:rPr>
              <a:t>Roy Michael - Department of Marine Technologies, Haifa University</a:t>
            </a:r>
          </a:p>
        </p:txBody>
      </p:sp>
      <p:grpSp>
        <p:nvGrpSpPr>
          <p:cNvPr id="12" name="Group 11">
            <a:extLst>
              <a:ext uri="{FF2B5EF4-FFF2-40B4-BE49-F238E27FC236}">
                <a16:creationId xmlns:a16="http://schemas.microsoft.com/office/drawing/2014/main" id="{E5A1E8A1-FB25-D24D-694D-6E0D259B6CD3}"/>
              </a:ext>
            </a:extLst>
          </p:cNvPr>
          <p:cNvGrpSpPr>
            <a:grpSpLocks noGrp="1" noUngrp="1" noRot="1" noMove="1" noResize="1"/>
          </p:cNvGrpSpPr>
          <p:nvPr/>
        </p:nvGrpSpPr>
        <p:grpSpPr>
          <a:xfrm>
            <a:off x="0" y="39820630"/>
            <a:ext cx="30267275" cy="2973608"/>
            <a:chOff x="0" y="-47625"/>
            <a:chExt cx="7689780" cy="534212"/>
          </a:xfrm>
          <a:solidFill>
            <a:srgbClr val="0D1D52"/>
          </a:solidFill>
        </p:grpSpPr>
        <p:sp>
          <p:nvSpPr>
            <p:cNvPr id="13" name="Freeform 12">
              <a:extLst>
                <a:ext uri="{FF2B5EF4-FFF2-40B4-BE49-F238E27FC236}">
                  <a16:creationId xmlns:a16="http://schemas.microsoft.com/office/drawing/2014/main" id="{C894B108-C194-F523-FCA4-16FC33336607}"/>
                </a:ext>
              </a:extLst>
            </p:cNvPr>
            <p:cNvSpPr>
              <a:spLocks noGrp="1" noRot="1" noMove="1" noResize="1" noEditPoints="1" noAdjustHandles="1" noChangeArrowheads="1" noChangeShapeType="1"/>
            </p:cNvSpPr>
            <p:nvPr/>
          </p:nvSpPr>
          <p:spPr>
            <a:xfrm>
              <a:off x="0" y="0"/>
              <a:ext cx="7689780" cy="486587"/>
            </a:xfrm>
            <a:custGeom>
              <a:avLst/>
              <a:gdLst/>
              <a:ahLst/>
              <a:cxnLst/>
              <a:rect l="l" t="t" r="r" b="b"/>
              <a:pathLst>
                <a:path w="7689780" h="486587">
                  <a:moveTo>
                    <a:pt x="0" y="0"/>
                  </a:moveTo>
                  <a:lnTo>
                    <a:pt x="7689780" y="0"/>
                  </a:lnTo>
                  <a:lnTo>
                    <a:pt x="7689780" y="486587"/>
                  </a:lnTo>
                  <a:lnTo>
                    <a:pt x="0" y="486587"/>
                  </a:lnTo>
                  <a:close/>
                </a:path>
              </a:pathLst>
            </a:custGeom>
            <a:grpFill/>
          </p:spPr>
          <p:txBody>
            <a:bodyPr/>
            <a:lstStyle/>
            <a:p>
              <a:endParaRPr lang="en-US"/>
            </a:p>
          </p:txBody>
        </p:sp>
        <p:sp>
          <p:nvSpPr>
            <p:cNvPr id="14" name="TextBox 13">
              <a:extLst>
                <a:ext uri="{FF2B5EF4-FFF2-40B4-BE49-F238E27FC236}">
                  <a16:creationId xmlns:a16="http://schemas.microsoft.com/office/drawing/2014/main" id="{55C1640F-7481-C6FB-B131-7A06374DF7EE}"/>
                </a:ext>
              </a:extLst>
            </p:cNvPr>
            <p:cNvSpPr txBox="1">
              <a:spLocks noGrp="1" noRot="1" noMove="1" noResize="1" noEditPoints="1" noAdjustHandles="1" noChangeArrowheads="1" noChangeShapeType="1"/>
            </p:cNvSpPr>
            <p:nvPr/>
          </p:nvSpPr>
          <p:spPr>
            <a:xfrm>
              <a:off x="0" y="-47625"/>
              <a:ext cx="7689780" cy="534212"/>
            </a:xfrm>
            <a:prstGeom prst="rect">
              <a:avLst/>
            </a:prstGeom>
            <a:grpFill/>
          </p:spPr>
          <p:txBody>
            <a:bodyPr lIns="25305" tIns="25305" rIns="25305" bIns="25305" rtlCol="0" anchor="ctr"/>
            <a:lstStyle/>
            <a:p>
              <a:pPr algn="ctr">
                <a:lnSpc>
                  <a:spcPts val="3975"/>
                </a:lnSpc>
              </a:pPr>
              <a:endParaRPr/>
            </a:p>
          </p:txBody>
        </p:sp>
      </p:grpSp>
      <p:pic>
        <p:nvPicPr>
          <p:cNvPr id="15" name="Picture 14">
            <a:extLst>
              <a:ext uri="{FF2B5EF4-FFF2-40B4-BE49-F238E27FC236}">
                <a16:creationId xmlns:a16="http://schemas.microsoft.com/office/drawing/2014/main" id="{F4C674CC-FC9D-50EC-7567-823C50A25E0B}"/>
              </a:ext>
            </a:extLst>
          </p:cNvPr>
          <p:cNvPicPr>
            <a:picLocks noGrp="1" noRot="1" noChangeAspect="1" noMove="1" noResize="1" noEditPoints="1" noAdjustHandles="1" noChangeArrowheads="1" noChangeShapeType="1" noCrop="1"/>
          </p:cNvPicPr>
          <p:nvPr/>
        </p:nvPicPr>
        <p:blipFill>
          <a:blip r:embed="rId2"/>
          <a:stretch>
            <a:fillRect/>
          </a:stretch>
        </p:blipFill>
        <p:spPr>
          <a:xfrm>
            <a:off x="19086107" y="40138690"/>
            <a:ext cx="7206095" cy="2243941"/>
          </a:xfrm>
          <a:prstGeom prst="rect">
            <a:avLst/>
          </a:prstGeom>
        </p:spPr>
      </p:pic>
      <p:pic>
        <p:nvPicPr>
          <p:cNvPr id="16" name="Picture 15">
            <a:extLst>
              <a:ext uri="{FF2B5EF4-FFF2-40B4-BE49-F238E27FC236}">
                <a16:creationId xmlns:a16="http://schemas.microsoft.com/office/drawing/2014/main" id="{8DBDC614-62A2-7C16-4C8E-78725BD510B0}"/>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594190" y="40008875"/>
            <a:ext cx="5929628" cy="3332450"/>
          </a:xfrm>
          <a:prstGeom prst="rect">
            <a:avLst/>
          </a:prstGeom>
        </p:spPr>
      </p:pic>
      <p:pic>
        <p:nvPicPr>
          <p:cNvPr id="17" name="Picture 16">
            <a:extLst>
              <a:ext uri="{FF2B5EF4-FFF2-40B4-BE49-F238E27FC236}">
                <a16:creationId xmlns:a16="http://schemas.microsoft.com/office/drawing/2014/main" id="{B109C094-B49B-AFB3-80A2-27821411AE2D}"/>
              </a:ext>
            </a:extLst>
          </p:cNvPr>
          <p:cNvPicPr>
            <a:picLocks noGrp="1" noRot="1" noChangeAspect="1" noMove="1" noResize="1" noEditPoints="1" noAdjustHandles="1" noChangeArrowheads="1" noChangeShapeType="1" noCrop="1"/>
          </p:cNvPicPr>
          <p:nvPr/>
        </p:nvPicPr>
        <p:blipFill>
          <a:blip r:embed="rId4" cstate="print">
            <a:extLst>
              <a:ext uri="{28A0092B-C50C-407E-A947-70E740481C1C}">
                <a14:useLocalDpi xmlns:a14="http://schemas.microsoft.com/office/drawing/2010/main" val="0"/>
              </a:ext>
            </a:extLst>
          </a:blip>
          <a:srcRect t="17329" b="18343"/>
          <a:stretch>
            <a:fillRect/>
          </a:stretch>
        </p:blipFill>
        <p:spPr>
          <a:xfrm>
            <a:off x="26532187" y="40215303"/>
            <a:ext cx="3455223" cy="2222635"/>
          </a:xfrm>
          <a:prstGeom prst="rect">
            <a:avLst/>
          </a:prstGeom>
        </p:spPr>
      </p:pic>
      <p:grpSp>
        <p:nvGrpSpPr>
          <p:cNvPr id="19" name="Group 5">
            <a:extLst>
              <a:ext uri="{FF2B5EF4-FFF2-40B4-BE49-F238E27FC236}">
                <a16:creationId xmlns:a16="http://schemas.microsoft.com/office/drawing/2014/main" id="{D03F68F9-7643-1483-EAD3-7F36AEEEDBCA}"/>
              </a:ext>
            </a:extLst>
          </p:cNvPr>
          <p:cNvGrpSpPr/>
          <p:nvPr/>
        </p:nvGrpSpPr>
        <p:grpSpPr>
          <a:xfrm>
            <a:off x="330284" y="5557616"/>
            <a:ext cx="10611289" cy="24350884"/>
            <a:chOff x="0" y="0"/>
            <a:chExt cx="1910769" cy="3897149"/>
          </a:xfrm>
        </p:grpSpPr>
        <p:sp>
          <p:nvSpPr>
            <p:cNvPr id="20" name="Freeform 6">
              <a:extLst>
                <a:ext uri="{FF2B5EF4-FFF2-40B4-BE49-F238E27FC236}">
                  <a16:creationId xmlns:a16="http://schemas.microsoft.com/office/drawing/2014/main" id="{FCBB05C1-7651-EC28-8CF3-BBBC1ADA11C2}"/>
                </a:ext>
              </a:extLst>
            </p:cNvPr>
            <p:cNvSpPr/>
            <p:nvPr/>
          </p:nvSpPr>
          <p:spPr>
            <a:xfrm>
              <a:off x="0" y="0"/>
              <a:ext cx="1910769" cy="3897149"/>
            </a:xfrm>
            <a:custGeom>
              <a:avLst/>
              <a:gdLst/>
              <a:ahLst/>
              <a:cxnLst/>
              <a:rect l="l" t="t" r="r" b="b"/>
              <a:pathLst>
                <a:path w="1910769" h="3897149">
                  <a:moveTo>
                    <a:pt x="26204" y="0"/>
                  </a:moveTo>
                  <a:lnTo>
                    <a:pt x="1884565" y="0"/>
                  </a:lnTo>
                  <a:cubicBezTo>
                    <a:pt x="1891515" y="0"/>
                    <a:pt x="1898180" y="2761"/>
                    <a:pt x="1903094" y="7675"/>
                  </a:cubicBezTo>
                  <a:cubicBezTo>
                    <a:pt x="1908009" y="12589"/>
                    <a:pt x="1910769" y="19254"/>
                    <a:pt x="1910769" y="26204"/>
                  </a:cubicBezTo>
                  <a:lnTo>
                    <a:pt x="1910769" y="3870945"/>
                  </a:lnTo>
                  <a:cubicBezTo>
                    <a:pt x="1910769" y="3877894"/>
                    <a:pt x="1908009" y="3884560"/>
                    <a:pt x="1903094" y="3889474"/>
                  </a:cubicBezTo>
                  <a:cubicBezTo>
                    <a:pt x="1898180" y="3894388"/>
                    <a:pt x="1891515" y="3897149"/>
                    <a:pt x="1884565" y="3897149"/>
                  </a:cubicBezTo>
                  <a:lnTo>
                    <a:pt x="26204" y="3897149"/>
                  </a:lnTo>
                  <a:cubicBezTo>
                    <a:pt x="19254" y="3897149"/>
                    <a:pt x="12589" y="3894388"/>
                    <a:pt x="7675" y="3889474"/>
                  </a:cubicBezTo>
                  <a:cubicBezTo>
                    <a:pt x="2761" y="3884560"/>
                    <a:pt x="0" y="3877894"/>
                    <a:pt x="0" y="3870945"/>
                  </a:cubicBezTo>
                  <a:lnTo>
                    <a:pt x="0" y="26204"/>
                  </a:lnTo>
                  <a:cubicBezTo>
                    <a:pt x="0" y="19254"/>
                    <a:pt x="2761" y="12589"/>
                    <a:pt x="7675" y="7675"/>
                  </a:cubicBezTo>
                  <a:cubicBezTo>
                    <a:pt x="12589" y="2761"/>
                    <a:pt x="19254" y="0"/>
                    <a:pt x="26204" y="0"/>
                  </a:cubicBezTo>
                  <a:close/>
                </a:path>
              </a:pathLst>
            </a:custGeom>
            <a:solidFill>
              <a:srgbClr val="EAF0F7"/>
            </a:solidFill>
          </p:spPr>
          <p:txBody>
            <a:bodyPr/>
            <a:lstStyle/>
            <a:p>
              <a:endParaRPr lang="en-US"/>
            </a:p>
          </p:txBody>
        </p:sp>
        <p:sp>
          <p:nvSpPr>
            <p:cNvPr id="21" name="TextBox 7">
              <a:extLst>
                <a:ext uri="{FF2B5EF4-FFF2-40B4-BE49-F238E27FC236}">
                  <a16:creationId xmlns:a16="http://schemas.microsoft.com/office/drawing/2014/main" id="{69A7AC6B-7D17-1BD9-9726-0ACB3AFAE178}"/>
                </a:ext>
              </a:extLst>
            </p:cNvPr>
            <p:cNvSpPr txBox="1"/>
            <p:nvPr/>
          </p:nvSpPr>
          <p:spPr>
            <a:xfrm>
              <a:off x="0" y="-47625"/>
              <a:ext cx="1910769" cy="3944774"/>
            </a:xfrm>
            <a:prstGeom prst="rect">
              <a:avLst/>
            </a:prstGeom>
          </p:spPr>
          <p:txBody>
            <a:bodyPr lIns="25305" tIns="25305" rIns="25305" bIns="25305" rtlCol="0" anchor="ctr"/>
            <a:lstStyle/>
            <a:p>
              <a:pPr algn="ctr">
                <a:lnSpc>
                  <a:spcPts val="3975"/>
                </a:lnSpc>
              </a:pPr>
              <a:endParaRPr/>
            </a:p>
          </p:txBody>
        </p:sp>
      </p:grpSp>
      <p:grpSp>
        <p:nvGrpSpPr>
          <p:cNvPr id="23" name="Group 24">
            <a:extLst>
              <a:ext uri="{FF2B5EF4-FFF2-40B4-BE49-F238E27FC236}">
                <a16:creationId xmlns:a16="http://schemas.microsoft.com/office/drawing/2014/main" id="{B653E9D8-9DF4-53C0-780D-CCE39FF3F8E3}"/>
              </a:ext>
            </a:extLst>
          </p:cNvPr>
          <p:cNvGrpSpPr/>
          <p:nvPr/>
        </p:nvGrpSpPr>
        <p:grpSpPr>
          <a:xfrm>
            <a:off x="761595" y="6173343"/>
            <a:ext cx="412074" cy="412074"/>
            <a:chOff x="0" y="0"/>
            <a:chExt cx="812800" cy="812800"/>
          </a:xfrm>
        </p:grpSpPr>
        <p:sp>
          <p:nvSpPr>
            <p:cNvPr id="24" name="Freeform 25">
              <a:extLst>
                <a:ext uri="{FF2B5EF4-FFF2-40B4-BE49-F238E27FC236}">
                  <a16:creationId xmlns:a16="http://schemas.microsoft.com/office/drawing/2014/main" id="{052F2C4B-4C8C-D535-BF8A-9F31558DE286}"/>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3B86B"/>
            </a:solidFill>
          </p:spPr>
          <p:txBody>
            <a:bodyPr/>
            <a:lstStyle/>
            <a:p>
              <a:endParaRPr lang="en-US"/>
            </a:p>
          </p:txBody>
        </p:sp>
        <p:sp>
          <p:nvSpPr>
            <p:cNvPr id="25" name="TextBox 26">
              <a:extLst>
                <a:ext uri="{FF2B5EF4-FFF2-40B4-BE49-F238E27FC236}">
                  <a16:creationId xmlns:a16="http://schemas.microsoft.com/office/drawing/2014/main" id="{F20BDD5A-C08C-AED3-787C-CE8EF08485A4}"/>
                </a:ext>
              </a:extLst>
            </p:cNvPr>
            <p:cNvSpPr txBox="1"/>
            <p:nvPr/>
          </p:nvSpPr>
          <p:spPr>
            <a:xfrm>
              <a:off x="76200" y="-85725"/>
              <a:ext cx="660400" cy="822325"/>
            </a:xfrm>
            <a:prstGeom prst="rect">
              <a:avLst/>
            </a:prstGeom>
          </p:spPr>
          <p:txBody>
            <a:bodyPr lIns="50800" tIns="50800" rIns="50800" bIns="50800" rtlCol="0" anchor="ctr"/>
            <a:lstStyle/>
            <a:p>
              <a:pPr algn="ctr">
                <a:lnSpc>
                  <a:spcPts val="7559"/>
                </a:lnSpc>
              </a:pPr>
              <a:endParaRPr dirty="0"/>
            </a:p>
          </p:txBody>
        </p:sp>
      </p:grpSp>
      <p:grpSp>
        <p:nvGrpSpPr>
          <p:cNvPr id="26" name="Group 27">
            <a:extLst>
              <a:ext uri="{FF2B5EF4-FFF2-40B4-BE49-F238E27FC236}">
                <a16:creationId xmlns:a16="http://schemas.microsoft.com/office/drawing/2014/main" id="{061BD95B-ECC9-AF8B-ED7F-CA41B946E251}"/>
              </a:ext>
            </a:extLst>
          </p:cNvPr>
          <p:cNvGrpSpPr/>
          <p:nvPr/>
        </p:nvGrpSpPr>
        <p:grpSpPr>
          <a:xfrm>
            <a:off x="555558" y="16094037"/>
            <a:ext cx="412074" cy="412074"/>
            <a:chOff x="0" y="0"/>
            <a:chExt cx="812800" cy="812800"/>
          </a:xfrm>
        </p:grpSpPr>
        <p:sp>
          <p:nvSpPr>
            <p:cNvPr id="27" name="Freeform 28">
              <a:extLst>
                <a:ext uri="{FF2B5EF4-FFF2-40B4-BE49-F238E27FC236}">
                  <a16:creationId xmlns:a16="http://schemas.microsoft.com/office/drawing/2014/main" id="{C8CF8B68-EF91-96F0-B825-CDB2079A674A}"/>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3B86B"/>
            </a:solidFill>
          </p:spPr>
          <p:txBody>
            <a:bodyPr/>
            <a:lstStyle/>
            <a:p>
              <a:endParaRPr lang="en-US"/>
            </a:p>
          </p:txBody>
        </p:sp>
        <p:sp>
          <p:nvSpPr>
            <p:cNvPr id="28" name="TextBox 29">
              <a:extLst>
                <a:ext uri="{FF2B5EF4-FFF2-40B4-BE49-F238E27FC236}">
                  <a16:creationId xmlns:a16="http://schemas.microsoft.com/office/drawing/2014/main" id="{AEA0AF5F-B066-DEBA-81BF-AC2F3EDE1AE1}"/>
                </a:ext>
              </a:extLst>
            </p:cNvPr>
            <p:cNvSpPr txBox="1"/>
            <p:nvPr/>
          </p:nvSpPr>
          <p:spPr>
            <a:xfrm>
              <a:off x="76200" y="-85725"/>
              <a:ext cx="660400" cy="822325"/>
            </a:xfrm>
            <a:prstGeom prst="rect">
              <a:avLst/>
            </a:prstGeom>
          </p:spPr>
          <p:txBody>
            <a:bodyPr lIns="50800" tIns="50800" rIns="50800" bIns="50800" rtlCol="0" anchor="ctr"/>
            <a:lstStyle/>
            <a:p>
              <a:pPr algn="ctr">
                <a:lnSpc>
                  <a:spcPts val="7559"/>
                </a:lnSpc>
              </a:pPr>
              <a:endParaRPr/>
            </a:p>
          </p:txBody>
        </p:sp>
      </p:grpSp>
      <p:sp>
        <p:nvSpPr>
          <p:cNvPr id="29" name="TextBox 48">
            <a:extLst>
              <a:ext uri="{FF2B5EF4-FFF2-40B4-BE49-F238E27FC236}">
                <a16:creationId xmlns:a16="http://schemas.microsoft.com/office/drawing/2014/main" id="{B875FFF8-52FE-5CCB-1BAD-1ED51CC73271}"/>
              </a:ext>
            </a:extLst>
          </p:cNvPr>
          <p:cNvSpPr txBox="1"/>
          <p:nvPr/>
        </p:nvSpPr>
        <p:spPr>
          <a:xfrm>
            <a:off x="1404852" y="5809786"/>
            <a:ext cx="5118967" cy="938719"/>
          </a:xfrm>
          <a:prstGeom prst="rect">
            <a:avLst/>
          </a:prstGeom>
        </p:spPr>
        <p:txBody>
          <a:bodyPr lIns="0" tIns="0" rIns="0" bIns="0" rtlCol="0" anchor="t">
            <a:spAutoFit/>
          </a:bodyPr>
          <a:lstStyle/>
          <a:p>
            <a:pPr>
              <a:lnSpc>
                <a:spcPts val="7559"/>
              </a:lnSpc>
            </a:pPr>
            <a:r>
              <a:rPr lang="en-US" sz="5400" b="1" dirty="0">
                <a:solidFill>
                  <a:srgbClr val="0D1D52"/>
                </a:solidFill>
                <a:latin typeface="Poppins Semi-Bold"/>
                <a:ea typeface="Poppins Semi-Bold"/>
                <a:cs typeface="Poppins Semi-Bold"/>
                <a:sym typeface="Poppins Semi-Bold"/>
              </a:rPr>
              <a:t>Background</a:t>
            </a:r>
          </a:p>
        </p:txBody>
      </p:sp>
      <p:sp>
        <p:nvSpPr>
          <p:cNvPr id="31" name="TextBox 55">
            <a:extLst>
              <a:ext uri="{FF2B5EF4-FFF2-40B4-BE49-F238E27FC236}">
                <a16:creationId xmlns:a16="http://schemas.microsoft.com/office/drawing/2014/main" id="{D2950F06-2ABD-9371-1208-BF8C9B360542}"/>
              </a:ext>
            </a:extLst>
          </p:cNvPr>
          <p:cNvSpPr txBox="1"/>
          <p:nvPr/>
        </p:nvSpPr>
        <p:spPr>
          <a:xfrm>
            <a:off x="1173669" y="15730480"/>
            <a:ext cx="4677842" cy="938719"/>
          </a:xfrm>
          <a:prstGeom prst="rect">
            <a:avLst/>
          </a:prstGeom>
        </p:spPr>
        <p:txBody>
          <a:bodyPr lIns="0" tIns="0" rIns="0" bIns="0" rtlCol="0" anchor="t">
            <a:spAutoFit/>
          </a:bodyPr>
          <a:lstStyle/>
          <a:p>
            <a:pPr>
              <a:lnSpc>
                <a:spcPts val="7559"/>
              </a:lnSpc>
            </a:pPr>
            <a:r>
              <a:rPr lang="en-US" sz="5400" b="1" dirty="0">
                <a:solidFill>
                  <a:srgbClr val="0D1D52"/>
                </a:solidFill>
                <a:latin typeface="Poppins Semi-Bold"/>
                <a:ea typeface="Poppins Semi-Bold"/>
                <a:cs typeface="Poppins Semi-Bold"/>
                <a:sym typeface="Poppins Semi-Bold"/>
              </a:rPr>
              <a:t>Methodology</a:t>
            </a:r>
          </a:p>
        </p:txBody>
      </p:sp>
      <p:sp>
        <p:nvSpPr>
          <p:cNvPr id="32" name="TextBox 61">
            <a:extLst>
              <a:ext uri="{FF2B5EF4-FFF2-40B4-BE49-F238E27FC236}">
                <a16:creationId xmlns:a16="http://schemas.microsoft.com/office/drawing/2014/main" id="{8C5F4688-3F66-2694-DDC8-EA3D1E568967}"/>
              </a:ext>
            </a:extLst>
          </p:cNvPr>
          <p:cNvSpPr txBox="1"/>
          <p:nvPr/>
        </p:nvSpPr>
        <p:spPr>
          <a:xfrm>
            <a:off x="929000" y="16441283"/>
            <a:ext cx="9336283" cy="14280833"/>
          </a:xfrm>
          <a:prstGeom prst="rect">
            <a:avLst/>
          </a:prstGeom>
        </p:spPr>
        <p:txBody>
          <a:bodyPr wrap="square" lIns="0" tIns="0" rIns="0" bIns="0" rtlCol="0" anchor="t">
            <a:spAutoFit/>
          </a:bodyPr>
          <a:lstStyle/>
          <a:p>
            <a:pPr algn="just" fontAlgn="base"/>
            <a:r>
              <a:rPr lang="en-US" sz="3200" dirty="0">
                <a:solidFill>
                  <a:srgbClr val="737373"/>
                </a:solidFill>
                <a:latin typeface="Poppins"/>
                <a:cs typeface="Poppins"/>
              </a:rPr>
              <a:t>The methodology converts the surface-versus-submerged propagation physics into measurable spectral features. </a:t>
            </a:r>
          </a:p>
          <a:p>
            <a:pPr algn="just" fontAlgn="base"/>
            <a:r>
              <a:rPr lang="en-US" sz="3200" dirty="0">
                <a:solidFill>
                  <a:srgbClr val="737373"/>
                </a:solidFill>
                <a:latin typeface="Poppins"/>
                <a:cs typeface="Poppins"/>
              </a:rPr>
              <a:t>Surface-vessel heave phase/frequency-modulates mechanical </a:t>
            </a:r>
            <a:r>
              <a:rPr lang="en-US" sz="3200" dirty="0" err="1">
                <a:solidFill>
                  <a:srgbClr val="737373"/>
                </a:solidFill>
                <a:latin typeface="Poppins"/>
                <a:cs typeface="Poppins"/>
              </a:rPr>
              <a:t>tonals</a:t>
            </a:r>
            <a:r>
              <a:rPr lang="en-US" sz="3200" dirty="0">
                <a:solidFill>
                  <a:srgbClr val="737373"/>
                </a:solidFill>
                <a:latin typeface="Poppins"/>
                <a:cs typeface="Poppins"/>
              </a:rPr>
              <a:t>, producing Bessel-weighted sidebands and bandwidth expansion; near-zero grazing propagation further adds time-varying micro-multipath and Doppler spread. </a:t>
            </a:r>
          </a:p>
          <a:p>
            <a:pPr algn="just" fontAlgn="base"/>
            <a:r>
              <a:rPr lang="en-US" sz="3200" dirty="0">
                <a:solidFill>
                  <a:srgbClr val="737373"/>
                </a:solidFill>
                <a:latin typeface="Poppins"/>
                <a:cs typeface="Poppins"/>
              </a:rPr>
              <a:t>For submerged sources, reduced heave suppresses these kinematic sidebands, so the direct tonal is expected to remain narrower and more persistent. </a:t>
            </a:r>
          </a:p>
          <a:p>
            <a:pPr algn="just" fontAlgn="base"/>
            <a:r>
              <a:rPr lang="en-US" sz="3200" dirty="0">
                <a:solidFill>
                  <a:srgbClr val="737373"/>
                </a:solidFill>
                <a:latin typeface="Poppins"/>
                <a:cs typeface="Poppins"/>
              </a:rPr>
              <a:t>The recording is segmented into short time buffers and transformed to a time-frequency representation. Candidate tonal regions are detected from persistent spectral energy, and a watershed segmentation separates neighboring spectral macro-lobes by treating spectral intensity as a topographic surface. For each segmented lobe, the dominant frequency is taken from the strongest/persistent spectral ridge, while its lower and upper watershed boundaries define the occupied band and bandwidth (BW=</a:t>
            </a:r>
            <a:r>
              <a:rPr lang="en-US" sz="3200" dirty="0" err="1">
                <a:solidFill>
                  <a:srgbClr val="737373"/>
                </a:solidFill>
                <a:latin typeface="Poppins"/>
                <a:cs typeface="Poppins"/>
              </a:rPr>
              <a:t>f_high−f_low</a:t>
            </a:r>
            <a:r>
              <a:rPr lang="en-US" sz="3200" dirty="0">
                <a:solidFill>
                  <a:srgbClr val="737373"/>
                </a:solidFill>
                <a:latin typeface="Poppins"/>
                <a:cs typeface="Poppins"/>
              </a:rPr>
              <a:t>). Repeating this over buffers forms frequency-dependent bandwidth tracks from which Time-in-Band, bandwidth expansion, entropy/stability and spectral-organization descriptors are calculated. These physics-informed features are analyzed here for surface-versus-submerged separation; ML/RL classification is reserved for future work.​</a:t>
            </a:r>
          </a:p>
        </p:txBody>
      </p:sp>
      <p:sp>
        <p:nvSpPr>
          <p:cNvPr id="30" name="TextBox 49">
            <a:extLst>
              <a:ext uri="{FF2B5EF4-FFF2-40B4-BE49-F238E27FC236}">
                <a16:creationId xmlns:a16="http://schemas.microsoft.com/office/drawing/2014/main" id="{D6D7E775-4564-4BB9-4ABB-ED76A6526E99}"/>
              </a:ext>
            </a:extLst>
          </p:cNvPr>
          <p:cNvSpPr txBox="1"/>
          <p:nvPr/>
        </p:nvSpPr>
        <p:spPr>
          <a:xfrm>
            <a:off x="761596" y="7075429"/>
            <a:ext cx="9336283" cy="5727081"/>
          </a:xfrm>
          <a:prstGeom prst="rect">
            <a:avLst/>
          </a:prstGeom>
        </p:spPr>
        <p:txBody>
          <a:bodyPr lIns="0" tIns="0" rIns="0" bIns="0" rtlCol="0" anchor="t">
            <a:spAutoFit/>
          </a:bodyPr>
          <a:lstStyle/>
          <a:p>
            <a:pPr>
              <a:lnSpc>
                <a:spcPts val="4480"/>
              </a:lnSpc>
            </a:pPr>
            <a:r>
              <a:rPr sz="2800" dirty="0">
                <a:solidFill>
                  <a:srgbClr val="737373"/>
                </a:solidFill>
                <a:latin typeface="Poppins"/>
                <a:cs typeface="Poppins"/>
              </a:rPr>
              <a:t>Passive acoustic monitoring (PAM) can support maritime surveillance and autonomous perception, but depth classification is difficult in shallow water because source motion and a dynamic sea surface spread tonal energy in both time and frequency. Surface craft are mechanically coupled to swell, whereas submerged sources are comparatively decoupled. This work converts those physical differences into interpretable acoustic features for classifying a source as surface or submerged.</a:t>
            </a:r>
          </a:p>
        </p:txBody>
      </p:sp>
      <p:grpSp>
        <p:nvGrpSpPr>
          <p:cNvPr id="44" name="Group 39">
            <a:extLst>
              <a:ext uri="{FF2B5EF4-FFF2-40B4-BE49-F238E27FC236}">
                <a16:creationId xmlns:a16="http://schemas.microsoft.com/office/drawing/2014/main" id="{7C8694B2-873E-BCF5-27A2-F010AA0C6E57}"/>
              </a:ext>
            </a:extLst>
          </p:cNvPr>
          <p:cNvGrpSpPr/>
          <p:nvPr/>
        </p:nvGrpSpPr>
        <p:grpSpPr>
          <a:xfrm>
            <a:off x="22017756" y="33340412"/>
            <a:ext cx="353790" cy="412074"/>
            <a:chOff x="0" y="0"/>
            <a:chExt cx="812800" cy="812800"/>
          </a:xfrm>
        </p:grpSpPr>
        <p:sp>
          <p:nvSpPr>
            <p:cNvPr id="45" name="Freeform 40">
              <a:extLst>
                <a:ext uri="{FF2B5EF4-FFF2-40B4-BE49-F238E27FC236}">
                  <a16:creationId xmlns:a16="http://schemas.microsoft.com/office/drawing/2014/main" id="{D9EE583C-1E8F-6F33-B1F6-C33C49220F7C}"/>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3B86B"/>
            </a:solidFill>
          </p:spPr>
          <p:txBody>
            <a:bodyPr/>
            <a:lstStyle/>
            <a:p>
              <a:endParaRPr lang="en-US"/>
            </a:p>
          </p:txBody>
        </p:sp>
        <p:sp>
          <p:nvSpPr>
            <p:cNvPr id="46" name="TextBox 41">
              <a:extLst>
                <a:ext uri="{FF2B5EF4-FFF2-40B4-BE49-F238E27FC236}">
                  <a16:creationId xmlns:a16="http://schemas.microsoft.com/office/drawing/2014/main" id="{EDEDBECF-55BF-4AAF-0DC6-037E243DBC2A}"/>
                </a:ext>
              </a:extLst>
            </p:cNvPr>
            <p:cNvSpPr txBox="1"/>
            <p:nvPr/>
          </p:nvSpPr>
          <p:spPr>
            <a:xfrm>
              <a:off x="76200" y="-85725"/>
              <a:ext cx="660400" cy="822325"/>
            </a:xfrm>
            <a:prstGeom prst="rect">
              <a:avLst/>
            </a:prstGeom>
          </p:spPr>
          <p:txBody>
            <a:bodyPr lIns="50800" tIns="50800" rIns="50800" bIns="50800" rtlCol="0" anchor="ctr"/>
            <a:lstStyle/>
            <a:p>
              <a:pPr algn="ctr">
                <a:lnSpc>
                  <a:spcPts val="7559"/>
                </a:lnSpc>
              </a:pPr>
              <a:endParaRPr/>
            </a:p>
          </p:txBody>
        </p:sp>
      </p:grpSp>
      <p:grpSp>
        <p:nvGrpSpPr>
          <p:cNvPr id="78" name="Group 77">
            <a:extLst>
              <a:ext uri="{FF2B5EF4-FFF2-40B4-BE49-F238E27FC236}">
                <a16:creationId xmlns:a16="http://schemas.microsoft.com/office/drawing/2014/main" id="{1824A2F6-2157-BED3-C292-3D9F88C2D357}"/>
              </a:ext>
            </a:extLst>
          </p:cNvPr>
          <p:cNvGrpSpPr/>
          <p:nvPr/>
        </p:nvGrpSpPr>
        <p:grpSpPr>
          <a:xfrm>
            <a:off x="11493190" y="9142878"/>
            <a:ext cx="8794259" cy="938719"/>
            <a:chOff x="11466662" y="5806860"/>
            <a:chExt cx="8794259" cy="938719"/>
          </a:xfrm>
        </p:grpSpPr>
        <p:grpSp>
          <p:nvGrpSpPr>
            <p:cNvPr id="59" name="Group 30">
              <a:extLst>
                <a:ext uri="{FF2B5EF4-FFF2-40B4-BE49-F238E27FC236}">
                  <a16:creationId xmlns:a16="http://schemas.microsoft.com/office/drawing/2014/main" id="{A40B761F-A63D-1A4D-771E-23F7983A4FE0}"/>
                </a:ext>
              </a:extLst>
            </p:cNvPr>
            <p:cNvGrpSpPr/>
            <p:nvPr/>
          </p:nvGrpSpPr>
          <p:grpSpPr>
            <a:xfrm>
              <a:off x="11466662" y="6170417"/>
              <a:ext cx="412074" cy="412074"/>
              <a:chOff x="0" y="0"/>
              <a:chExt cx="812800" cy="812800"/>
            </a:xfrm>
          </p:grpSpPr>
          <p:sp>
            <p:nvSpPr>
              <p:cNvPr id="60" name="Freeform 31">
                <a:extLst>
                  <a:ext uri="{FF2B5EF4-FFF2-40B4-BE49-F238E27FC236}">
                    <a16:creationId xmlns:a16="http://schemas.microsoft.com/office/drawing/2014/main" id="{938DDA56-3AE3-079C-A19D-6226559A7D80}"/>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3B86B"/>
              </a:solidFill>
            </p:spPr>
            <p:txBody>
              <a:bodyPr/>
              <a:lstStyle/>
              <a:p>
                <a:endParaRPr lang="en-US"/>
              </a:p>
            </p:txBody>
          </p:sp>
          <p:sp>
            <p:nvSpPr>
              <p:cNvPr id="61" name="TextBox 32">
                <a:extLst>
                  <a:ext uri="{FF2B5EF4-FFF2-40B4-BE49-F238E27FC236}">
                    <a16:creationId xmlns:a16="http://schemas.microsoft.com/office/drawing/2014/main" id="{8B3C9DE1-5449-9A4B-8835-9928A2D62301}"/>
                  </a:ext>
                </a:extLst>
              </p:cNvPr>
              <p:cNvSpPr txBox="1"/>
              <p:nvPr/>
            </p:nvSpPr>
            <p:spPr>
              <a:xfrm>
                <a:off x="76200" y="-85725"/>
                <a:ext cx="660400" cy="822325"/>
              </a:xfrm>
              <a:prstGeom prst="rect">
                <a:avLst/>
              </a:prstGeom>
            </p:spPr>
            <p:txBody>
              <a:bodyPr lIns="50800" tIns="50800" rIns="50800" bIns="50800" rtlCol="0" anchor="ctr"/>
              <a:lstStyle/>
              <a:p>
                <a:pPr algn="ctr">
                  <a:lnSpc>
                    <a:spcPts val="7559"/>
                  </a:lnSpc>
                </a:pPr>
                <a:endParaRPr/>
              </a:p>
            </p:txBody>
          </p:sp>
        </p:grpSp>
        <p:sp>
          <p:nvSpPr>
            <p:cNvPr id="62" name="TextBox 50">
              <a:extLst>
                <a:ext uri="{FF2B5EF4-FFF2-40B4-BE49-F238E27FC236}">
                  <a16:creationId xmlns:a16="http://schemas.microsoft.com/office/drawing/2014/main" id="{7618DE81-CD67-AC1F-15F9-9E61562F92CF}"/>
                </a:ext>
              </a:extLst>
            </p:cNvPr>
            <p:cNvSpPr txBox="1"/>
            <p:nvPr/>
          </p:nvSpPr>
          <p:spPr>
            <a:xfrm>
              <a:off x="12087288" y="5806860"/>
              <a:ext cx="8173633" cy="938719"/>
            </a:xfrm>
            <a:prstGeom prst="rect">
              <a:avLst/>
            </a:prstGeom>
          </p:spPr>
          <p:txBody>
            <a:bodyPr wrap="square" lIns="0" tIns="0" rIns="0" bIns="0" rtlCol="0" anchor="t">
              <a:spAutoFit/>
            </a:bodyPr>
            <a:lstStyle/>
            <a:p>
              <a:pPr>
                <a:lnSpc>
                  <a:spcPts val="7559"/>
                </a:lnSpc>
              </a:pPr>
              <a:r>
                <a:rPr lang="en-US" sz="5400" b="1" dirty="0">
                  <a:solidFill>
                    <a:srgbClr val="0D1D52"/>
                  </a:solidFill>
                  <a:latin typeface="Poppins Semi-Bold"/>
                  <a:ea typeface="Poppins Semi-Bold"/>
                  <a:cs typeface="Poppins Semi-Bold"/>
                  <a:sym typeface="Poppins Semi-Bold"/>
                </a:rPr>
                <a:t>Results</a:t>
              </a:r>
            </a:p>
          </p:txBody>
        </p:sp>
      </p:grpSp>
      <p:grpSp>
        <p:nvGrpSpPr>
          <p:cNvPr id="72" name="Group 71">
            <a:extLst>
              <a:ext uri="{FF2B5EF4-FFF2-40B4-BE49-F238E27FC236}">
                <a16:creationId xmlns:a16="http://schemas.microsoft.com/office/drawing/2014/main" id="{46730DC6-28D5-B4B3-13E8-4C4244311EF4}"/>
              </a:ext>
            </a:extLst>
          </p:cNvPr>
          <p:cNvGrpSpPr/>
          <p:nvPr/>
        </p:nvGrpSpPr>
        <p:grpSpPr>
          <a:xfrm>
            <a:off x="178005" y="29788198"/>
            <a:ext cx="29959706" cy="9922050"/>
            <a:chOff x="178005" y="28816648"/>
            <a:chExt cx="29959706" cy="9922050"/>
          </a:xfrm>
        </p:grpSpPr>
        <p:grpSp>
          <p:nvGrpSpPr>
            <p:cNvPr id="39" name="Group 2">
              <a:extLst>
                <a:ext uri="{FF2B5EF4-FFF2-40B4-BE49-F238E27FC236}">
                  <a16:creationId xmlns:a16="http://schemas.microsoft.com/office/drawing/2014/main" id="{F112B443-E0FE-6E45-9DEF-35E0A7368589}"/>
                </a:ext>
              </a:extLst>
            </p:cNvPr>
            <p:cNvGrpSpPr>
              <a:grpSpLocks/>
            </p:cNvGrpSpPr>
            <p:nvPr/>
          </p:nvGrpSpPr>
          <p:grpSpPr>
            <a:xfrm>
              <a:off x="178005" y="28816648"/>
              <a:ext cx="29959706" cy="9858309"/>
              <a:chOff x="0" y="-78761"/>
              <a:chExt cx="5523828" cy="2120871"/>
            </a:xfrm>
          </p:grpSpPr>
          <p:sp>
            <p:nvSpPr>
              <p:cNvPr id="40" name="Freeform 3">
                <a:extLst>
                  <a:ext uri="{FF2B5EF4-FFF2-40B4-BE49-F238E27FC236}">
                    <a16:creationId xmlns:a16="http://schemas.microsoft.com/office/drawing/2014/main" id="{D9C28C58-4DE3-3A62-B62A-BD8251316A6C}"/>
                  </a:ext>
                </a:extLst>
              </p:cNvPr>
              <p:cNvSpPr>
                <a:spLocks/>
              </p:cNvSpPr>
              <p:nvPr/>
            </p:nvSpPr>
            <p:spPr>
              <a:xfrm>
                <a:off x="2552" y="-78761"/>
                <a:ext cx="5521276" cy="2042110"/>
              </a:xfrm>
              <a:custGeom>
                <a:avLst/>
                <a:gdLst/>
                <a:ahLst/>
                <a:cxnLst/>
                <a:rect l="l" t="t" r="r" b="b"/>
                <a:pathLst>
                  <a:path w="5521276" h="2042110">
                    <a:moveTo>
                      <a:pt x="9069" y="0"/>
                    </a:moveTo>
                    <a:lnTo>
                      <a:pt x="5512208" y="0"/>
                    </a:lnTo>
                    <a:cubicBezTo>
                      <a:pt x="5514613" y="0"/>
                      <a:pt x="5516919" y="955"/>
                      <a:pt x="5518620" y="2656"/>
                    </a:cubicBezTo>
                    <a:cubicBezTo>
                      <a:pt x="5520321" y="4357"/>
                      <a:pt x="5521276" y="6663"/>
                      <a:pt x="5521276" y="9069"/>
                    </a:cubicBezTo>
                    <a:lnTo>
                      <a:pt x="5521276" y="2033042"/>
                    </a:lnTo>
                    <a:cubicBezTo>
                      <a:pt x="5521276" y="2035447"/>
                      <a:pt x="5520321" y="2037753"/>
                      <a:pt x="5518620" y="2039454"/>
                    </a:cubicBezTo>
                    <a:cubicBezTo>
                      <a:pt x="5516919" y="2041155"/>
                      <a:pt x="5514613" y="2042110"/>
                      <a:pt x="5512208" y="2042110"/>
                    </a:cubicBezTo>
                    <a:lnTo>
                      <a:pt x="9069" y="2042110"/>
                    </a:lnTo>
                    <a:cubicBezTo>
                      <a:pt x="6663" y="2042110"/>
                      <a:pt x="4357" y="2041155"/>
                      <a:pt x="2656" y="2039454"/>
                    </a:cubicBezTo>
                    <a:cubicBezTo>
                      <a:pt x="955" y="2037753"/>
                      <a:pt x="0" y="2035447"/>
                      <a:pt x="0" y="2033042"/>
                    </a:cubicBezTo>
                    <a:lnTo>
                      <a:pt x="0" y="9069"/>
                    </a:lnTo>
                    <a:cubicBezTo>
                      <a:pt x="0" y="6663"/>
                      <a:pt x="955" y="4357"/>
                      <a:pt x="2656" y="2656"/>
                    </a:cubicBezTo>
                    <a:cubicBezTo>
                      <a:pt x="4357" y="955"/>
                      <a:pt x="6663" y="0"/>
                      <a:pt x="9069" y="0"/>
                    </a:cubicBezTo>
                    <a:close/>
                  </a:path>
                </a:pathLst>
              </a:custGeom>
              <a:solidFill>
                <a:srgbClr val="EEF0F4"/>
              </a:solidFill>
            </p:spPr>
            <p:txBody>
              <a:bodyPr/>
              <a:lstStyle/>
              <a:p>
                <a:endParaRPr lang="en-US" dirty="0"/>
              </a:p>
            </p:txBody>
          </p:sp>
          <p:sp>
            <p:nvSpPr>
              <p:cNvPr id="41" name="TextBox 4">
                <a:extLst>
                  <a:ext uri="{FF2B5EF4-FFF2-40B4-BE49-F238E27FC236}">
                    <a16:creationId xmlns:a16="http://schemas.microsoft.com/office/drawing/2014/main" id="{61DB7902-2A2C-3315-2F0C-63AA3B567589}"/>
                  </a:ext>
                </a:extLst>
              </p:cNvPr>
              <p:cNvSpPr txBox="1">
                <a:spLocks/>
              </p:cNvSpPr>
              <p:nvPr/>
            </p:nvSpPr>
            <p:spPr>
              <a:xfrm>
                <a:off x="0" y="-47625"/>
                <a:ext cx="5521276" cy="2089735"/>
              </a:xfrm>
              <a:prstGeom prst="rect">
                <a:avLst/>
              </a:prstGeom>
            </p:spPr>
            <p:txBody>
              <a:bodyPr lIns="25305" tIns="25305" rIns="25305" bIns="25305" rtlCol="0" anchor="ctr"/>
              <a:lstStyle/>
              <a:p>
                <a:pPr algn="ctr">
                  <a:lnSpc>
                    <a:spcPts val="3975"/>
                  </a:lnSpc>
                </a:pPr>
                <a:endParaRPr/>
              </a:p>
            </p:txBody>
          </p:sp>
        </p:grpSp>
        <p:sp>
          <p:nvSpPr>
            <p:cNvPr id="51" name="TextBox 57">
              <a:extLst>
                <a:ext uri="{FF2B5EF4-FFF2-40B4-BE49-F238E27FC236}">
                  <a16:creationId xmlns:a16="http://schemas.microsoft.com/office/drawing/2014/main" id="{4393B921-3847-9F77-3646-4B178E8D48F3}"/>
                </a:ext>
              </a:extLst>
            </p:cNvPr>
            <p:cNvSpPr txBox="1"/>
            <p:nvPr/>
          </p:nvSpPr>
          <p:spPr>
            <a:xfrm>
              <a:off x="22045852" y="35029990"/>
              <a:ext cx="8029578" cy="938719"/>
            </a:xfrm>
            <a:prstGeom prst="rect">
              <a:avLst/>
            </a:prstGeom>
          </p:spPr>
          <p:txBody>
            <a:bodyPr wrap="square" lIns="0" tIns="0" rIns="0" bIns="0" rtlCol="0" anchor="t">
              <a:spAutoFit/>
            </a:bodyPr>
            <a:lstStyle/>
            <a:p>
              <a:pPr>
                <a:lnSpc>
                  <a:spcPts val="7559"/>
                </a:lnSpc>
              </a:pPr>
              <a:r>
                <a:rPr lang="en-US" sz="5400" b="1" dirty="0">
                  <a:solidFill>
                    <a:srgbClr val="0D1D52"/>
                  </a:solidFill>
                  <a:latin typeface="Poppins Semi-Bold"/>
                  <a:ea typeface="Poppins Semi-Bold"/>
                  <a:cs typeface="Poppins Semi-Bold"/>
                  <a:sym typeface="Poppins Semi-Bold"/>
                </a:rPr>
                <a:t>References</a:t>
              </a:r>
            </a:p>
          </p:txBody>
        </p:sp>
        <p:sp>
          <p:nvSpPr>
            <p:cNvPr id="52" name="TextBox 58">
              <a:extLst>
                <a:ext uri="{FF2B5EF4-FFF2-40B4-BE49-F238E27FC236}">
                  <a16:creationId xmlns:a16="http://schemas.microsoft.com/office/drawing/2014/main" id="{15C64EA5-6830-32DE-9119-A547FCCB5B42}"/>
                </a:ext>
              </a:extLst>
            </p:cNvPr>
            <p:cNvSpPr txBox="1"/>
            <p:nvPr/>
          </p:nvSpPr>
          <p:spPr>
            <a:xfrm>
              <a:off x="22045852" y="33103377"/>
              <a:ext cx="6878000" cy="938719"/>
            </a:xfrm>
            <a:prstGeom prst="rect">
              <a:avLst/>
            </a:prstGeom>
          </p:spPr>
          <p:txBody>
            <a:bodyPr wrap="square" lIns="0" tIns="0" rIns="0" bIns="0" rtlCol="0" anchor="t">
              <a:spAutoFit/>
            </a:bodyPr>
            <a:lstStyle/>
            <a:p>
              <a:pPr>
                <a:lnSpc>
                  <a:spcPts val="7559"/>
                </a:lnSpc>
              </a:pPr>
              <a:r>
                <a:rPr lang="en-US" sz="5400" b="1" dirty="0">
                  <a:solidFill>
                    <a:srgbClr val="0D1D52"/>
                  </a:solidFill>
                  <a:latin typeface="Poppins Semi-Bold"/>
                  <a:ea typeface="Poppins Semi-Bold"/>
                  <a:cs typeface="Poppins Semi-Bold"/>
                  <a:sym typeface="Poppins Semi-Bold"/>
                </a:rPr>
                <a:t>Acknowledgements</a:t>
              </a:r>
            </a:p>
          </p:txBody>
        </p:sp>
        <p:sp>
          <p:nvSpPr>
            <p:cNvPr id="54" name="TextBox 70">
              <a:extLst>
                <a:ext uri="{FF2B5EF4-FFF2-40B4-BE49-F238E27FC236}">
                  <a16:creationId xmlns:a16="http://schemas.microsoft.com/office/drawing/2014/main" id="{0DF760C2-608F-9400-21C2-838B3E0DD26D}"/>
                </a:ext>
              </a:extLst>
            </p:cNvPr>
            <p:cNvSpPr txBox="1"/>
            <p:nvPr/>
          </p:nvSpPr>
          <p:spPr>
            <a:xfrm>
              <a:off x="22050817" y="33955731"/>
              <a:ext cx="7886174" cy="1107996"/>
            </a:xfrm>
            <a:prstGeom prst="rect">
              <a:avLst/>
            </a:prstGeom>
          </p:spPr>
          <p:txBody>
            <a:bodyPr wrap="square" lIns="0" tIns="0" rIns="0" bIns="0" rtlCol="0" anchor="t">
              <a:spAutoFit/>
            </a:bodyPr>
            <a:lstStyle/>
            <a:p>
              <a:pPr algn="just"/>
              <a:r>
                <a:rPr sz="2400" dirty="0">
                  <a:solidFill>
                    <a:srgbClr val="737373"/>
                  </a:solidFill>
                  <a:latin typeface="Poppins"/>
                  <a:cs typeface="Poppins"/>
                </a:rPr>
                <a:t>This work was developed within the Department of Marine Technologies, Haifa University, as part of ongoing research on physics-informed passive acoustic sensing.</a:t>
              </a:r>
            </a:p>
          </p:txBody>
        </p:sp>
        <p:sp>
          <p:nvSpPr>
            <p:cNvPr id="55" name="TextBox 71">
              <a:extLst>
                <a:ext uri="{FF2B5EF4-FFF2-40B4-BE49-F238E27FC236}">
                  <a16:creationId xmlns:a16="http://schemas.microsoft.com/office/drawing/2014/main" id="{5D3B2871-AC08-18B3-8720-68CAF135694C}"/>
                </a:ext>
              </a:extLst>
            </p:cNvPr>
            <p:cNvSpPr txBox="1"/>
            <p:nvPr/>
          </p:nvSpPr>
          <p:spPr>
            <a:xfrm>
              <a:off x="22017756" y="35968709"/>
              <a:ext cx="8029579" cy="2769989"/>
            </a:xfrm>
            <a:prstGeom prst="rect">
              <a:avLst/>
            </a:prstGeom>
          </p:spPr>
          <p:txBody>
            <a:bodyPr wrap="square" lIns="0" tIns="0" rIns="0" bIns="0" rtlCol="0" anchor="t">
              <a:spAutoFit/>
            </a:bodyPr>
            <a:lstStyle/>
            <a:p>
              <a:pPr algn="just"/>
              <a:r>
                <a:rPr dirty="0">
                  <a:solidFill>
                    <a:srgbClr val="737373"/>
                  </a:solidFill>
                  <a:latin typeface="Poppins"/>
                  <a:cs typeface="Poppins"/>
                </a:rPr>
                <a:t>[1] M. Stojanovic, IEEE J. Oceanic Engineering, 21(2), 125–136, 1996.</a:t>
              </a:r>
            </a:p>
            <a:p>
              <a:pPr algn="just"/>
              <a:r>
                <a:rPr dirty="0">
                  <a:solidFill>
                    <a:srgbClr val="737373"/>
                  </a:solidFill>
                  <a:latin typeface="Poppins"/>
                  <a:cs typeface="Poppins"/>
                </a:rPr>
                <a:t>[2] J. C. </a:t>
              </a:r>
              <a:r>
                <a:rPr dirty="0" err="1">
                  <a:solidFill>
                    <a:srgbClr val="737373"/>
                  </a:solidFill>
                  <a:latin typeface="Poppins"/>
                  <a:cs typeface="Poppins"/>
                </a:rPr>
                <a:t>Preisig</a:t>
              </a:r>
              <a:r>
                <a:rPr dirty="0">
                  <a:solidFill>
                    <a:srgbClr val="737373"/>
                  </a:solidFill>
                  <a:latin typeface="Poppins"/>
                  <a:cs typeface="Poppins"/>
                </a:rPr>
                <a:t>, IEEE Communications Magazine, 45(12), 110–117, 2007.</a:t>
              </a:r>
            </a:p>
            <a:p>
              <a:pPr algn="just"/>
              <a:r>
                <a:rPr dirty="0">
                  <a:solidFill>
                    <a:srgbClr val="737373"/>
                  </a:solidFill>
                  <a:latin typeface="Poppins"/>
                  <a:cs typeface="Poppins"/>
                </a:rPr>
                <a:t>[3] A. B. Carlson, P. B. Crilly, J. C. Rutledge, Communication Systems, 4th ed., McGraw-Hill, 2001.</a:t>
              </a:r>
            </a:p>
            <a:p>
              <a:pPr algn="just"/>
              <a:r>
                <a:rPr dirty="0">
                  <a:solidFill>
                    <a:srgbClr val="737373"/>
                  </a:solidFill>
                  <a:latin typeface="Poppins"/>
                  <a:cs typeface="Poppins"/>
                </a:rPr>
                <a:t>[4] F. G. Bass, I. M. Fuks, Wave Scattering from Statistically Rough Surfaces, Pergamon, 1979.</a:t>
              </a:r>
            </a:p>
            <a:p>
              <a:pPr algn="just"/>
              <a:r>
                <a:rPr dirty="0">
                  <a:solidFill>
                    <a:srgbClr val="737373"/>
                  </a:solidFill>
                  <a:latin typeface="Poppins"/>
                  <a:cs typeface="Poppins"/>
                </a:rPr>
                <a:t>[5] W. I. Roderick, PhD dissertation, Yale University, 1979.</a:t>
              </a:r>
              <a:endParaRPr lang="en-US" dirty="0">
                <a:solidFill>
                  <a:srgbClr val="737373"/>
                </a:solidFill>
                <a:latin typeface="Poppins"/>
                <a:cs typeface="Poppins"/>
              </a:endParaRPr>
            </a:p>
            <a:p>
              <a:pPr algn="just"/>
              <a:r>
                <a:rPr lang="en-US" dirty="0">
                  <a:solidFill>
                    <a:srgbClr val="737373"/>
                  </a:solidFill>
                  <a:latin typeface="Poppins"/>
                  <a:cs typeface="Poppins"/>
                </a:rPr>
                <a:t>[6] L. Vincent and P. </a:t>
              </a:r>
              <a:r>
                <a:rPr lang="en-US" dirty="0" err="1">
                  <a:solidFill>
                    <a:srgbClr val="737373"/>
                  </a:solidFill>
                  <a:latin typeface="Poppins"/>
                  <a:cs typeface="Poppins"/>
                </a:rPr>
                <a:t>Soille</a:t>
              </a:r>
              <a:r>
                <a:rPr lang="en-US" dirty="0">
                  <a:solidFill>
                    <a:srgbClr val="737373"/>
                  </a:solidFill>
                  <a:latin typeface="Poppins"/>
                  <a:cs typeface="Poppins"/>
                </a:rPr>
                <a:t>, "Watersheds in digital spaces: an efficient algorithm based on immersion simulations," IEEE Transactions on Pattern Analysis and Machine Intelligence, 1991.</a:t>
              </a:r>
              <a:endParaRPr dirty="0">
                <a:solidFill>
                  <a:srgbClr val="737373"/>
                </a:solidFill>
                <a:latin typeface="Poppins"/>
                <a:cs typeface="Poppins"/>
              </a:endParaRPr>
            </a:p>
          </p:txBody>
        </p:sp>
        <p:grpSp>
          <p:nvGrpSpPr>
            <p:cNvPr id="67" name="Group 36">
              <a:extLst>
                <a:ext uri="{FF2B5EF4-FFF2-40B4-BE49-F238E27FC236}">
                  <a16:creationId xmlns:a16="http://schemas.microsoft.com/office/drawing/2014/main" id="{2345A97E-7218-56C3-4ADF-0384C88233B4}"/>
                </a:ext>
              </a:extLst>
            </p:cNvPr>
            <p:cNvGrpSpPr/>
            <p:nvPr/>
          </p:nvGrpSpPr>
          <p:grpSpPr>
            <a:xfrm>
              <a:off x="1577188" y="30013719"/>
              <a:ext cx="412074" cy="412074"/>
              <a:chOff x="0" y="0"/>
              <a:chExt cx="812800" cy="812800"/>
            </a:xfrm>
          </p:grpSpPr>
          <p:sp>
            <p:nvSpPr>
              <p:cNvPr id="68" name="Freeform 37">
                <a:extLst>
                  <a:ext uri="{FF2B5EF4-FFF2-40B4-BE49-F238E27FC236}">
                    <a16:creationId xmlns:a16="http://schemas.microsoft.com/office/drawing/2014/main" id="{AEF31F4D-6F98-24B5-2762-B94EB264D4E5}"/>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3B86B"/>
              </a:solidFill>
            </p:spPr>
            <p:txBody>
              <a:bodyPr/>
              <a:lstStyle/>
              <a:p>
                <a:endParaRPr lang="en-US"/>
              </a:p>
            </p:txBody>
          </p:sp>
          <p:sp>
            <p:nvSpPr>
              <p:cNvPr id="69" name="TextBox 38">
                <a:extLst>
                  <a:ext uri="{FF2B5EF4-FFF2-40B4-BE49-F238E27FC236}">
                    <a16:creationId xmlns:a16="http://schemas.microsoft.com/office/drawing/2014/main" id="{7642D246-51C2-6F11-9724-2564FBEB894A}"/>
                  </a:ext>
                </a:extLst>
              </p:cNvPr>
              <p:cNvSpPr txBox="1"/>
              <p:nvPr/>
            </p:nvSpPr>
            <p:spPr>
              <a:xfrm>
                <a:off x="76200" y="-85725"/>
                <a:ext cx="660400" cy="822325"/>
              </a:xfrm>
              <a:prstGeom prst="rect">
                <a:avLst/>
              </a:prstGeom>
            </p:spPr>
            <p:txBody>
              <a:bodyPr lIns="50800" tIns="50800" rIns="50800" bIns="50800" rtlCol="0" anchor="ctr"/>
              <a:lstStyle/>
              <a:p>
                <a:pPr algn="ctr">
                  <a:lnSpc>
                    <a:spcPts val="7559"/>
                  </a:lnSpc>
                </a:pPr>
                <a:endParaRPr dirty="0"/>
              </a:p>
            </p:txBody>
          </p:sp>
        </p:grpSp>
        <p:sp>
          <p:nvSpPr>
            <p:cNvPr id="70" name="TextBox 51">
              <a:extLst>
                <a:ext uri="{FF2B5EF4-FFF2-40B4-BE49-F238E27FC236}">
                  <a16:creationId xmlns:a16="http://schemas.microsoft.com/office/drawing/2014/main" id="{C1CCE83E-0AE8-16CB-288F-9423BC37C40F}"/>
                </a:ext>
              </a:extLst>
            </p:cNvPr>
            <p:cNvSpPr txBox="1"/>
            <p:nvPr/>
          </p:nvSpPr>
          <p:spPr>
            <a:xfrm>
              <a:off x="2367076" y="29650162"/>
              <a:ext cx="10080000" cy="888705"/>
            </a:xfrm>
            <a:prstGeom prst="rect">
              <a:avLst/>
            </a:prstGeom>
          </p:spPr>
          <p:txBody>
            <a:bodyPr lIns="0" tIns="0" rIns="0" bIns="0" rtlCol="0" anchor="t">
              <a:spAutoFit/>
            </a:bodyPr>
            <a:lstStyle/>
            <a:p>
              <a:pPr>
                <a:lnSpc>
                  <a:spcPts val="7559"/>
                </a:lnSpc>
              </a:pPr>
              <a:r>
                <a:rPr lang="en-US" sz="5400" b="1" dirty="0">
                  <a:solidFill>
                    <a:srgbClr val="0D1D52"/>
                  </a:solidFill>
                  <a:latin typeface="Poppins Semi-Bold"/>
                  <a:ea typeface="Poppins Semi-Bold"/>
                  <a:cs typeface="Poppins Semi-Bold"/>
                  <a:sym typeface="Poppins Semi-Bold"/>
                </a:rPr>
                <a:t>Conclusion and future work</a:t>
              </a:r>
            </a:p>
          </p:txBody>
        </p:sp>
        <p:sp>
          <p:nvSpPr>
            <p:cNvPr id="71" name="TextBox 52">
              <a:extLst>
                <a:ext uri="{FF2B5EF4-FFF2-40B4-BE49-F238E27FC236}">
                  <a16:creationId xmlns:a16="http://schemas.microsoft.com/office/drawing/2014/main" id="{0053FEAC-28F1-5D40-7374-99541D18574D}"/>
                </a:ext>
              </a:extLst>
            </p:cNvPr>
            <p:cNvSpPr txBox="1"/>
            <p:nvPr/>
          </p:nvSpPr>
          <p:spPr>
            <a:xfrm>
              <a:off x="1577188" y="30671416"/>
              <a:ext cx="9364385" cy="7755969"/>
            </a:xfrm>
            <a:prstGeom prst="rect">
              <a:avLst/>
            </a:prstGeom>
          </p:spPr>
          <p:txBody>
            <a:bodyPr wrap="square" lIns="0" tIns="0" rIns="0" bIns="0" rtlCol="0" anchor="t">
              <a:spAutoFit/>
            </a:bodyPr>
            <a:lstStyle/>
            <a:p>
              <a:pPr algn="just" fontAlgn="base"/>
              <a:r>
                <a:rPr lang="en-US" sz="2800" dirty="0">
                  <a:solidFill>
                    <a:srgbClr val="737373"/>
                  </a:solidFill>
                  <a:latin typeface="Poppins"/>
                  <a:cs typeface="Poppins"/>
                </a:rPr>
                <a:t>The results support the proposed physical mechanism rather than a purely empirical separation. A surface source is coupled to wave-induced heave, which phase/frequency-modulates its mechanical </a:t>
              </a:r>
              <a:r>
                <a:rPr lang="en-US" sz="2800" dirty="0" err="1">
                  <a:solidFill>
                    <a:srgbClr val="737373"/>
                  </a:solidFill>
                  <a:latin typeface="Poppins"/>
                  <a:cs typeface="Poppins"/>
                </a:rPr>
                <a:t>tonals</a:t>
              </a:r>
              <a:r>
                <a:rPr lang="en-US" sz="2800" dirty="0">
                  <a:solidFill>
                    <a:srgbClr val="737373"/>
                  </a:solidFill>
                  <a:latin typeface="Poppins"/>
                  <a:cs typeface="Poppins"/>
                </a:rPr>
                <a:t>, while the near-zero grazing geometry makes the direct and surface-scattered paths overlap. The dynamic boundary therefore adds micro-multipath fading and secondary Doppler spread, producing broader and less temporally persistent spectral energy. By contrast, a submerged source is largely decoupled from surface heave; its direct-path tonal remains narrow and stable and the surface contribution is more naturally treated as a delayed echo. The observed broader bandwidth and reduced Time-in-Band stability of the motorboat, versus the narrow bands and near-unity stability of the submerged DPV, are consistent with these predictions and motivate bandwidth, persistence, and spectral-organization features for physics-informed depth classification.​</a:t>
              </a:r>
            </a:p>
          </p:txBody>
        </p:sp>
        <p:sp>
          <p:nvSpPr>
            <p:cNvPr id="74" name="TextBox 70">
              <a:extLst>
                <a:ext uri="{FF2B5EF4-FFF2-40B4-BE49-F238E27FC236}">
                  <a16:creationId xmlns:a16="http://schemas.microsoft.com/office/drawing/2014/main" id="{2D5DA9F0-39DB-45B7-1AD8-21A97D1BE75F}"/>
                </a:ext>
              </a:extLst>
            </p:cNvPr>
            <p:cNvSpPr txBox="1"/>
            <p:nvPr/>
          </p:nvSpPr>
          <p:spPr>
            <a:xfrm>
              <a:off x="11505294" y="30671416"/>
              <a:ext cx="9108499" cy="7755969"/>
            </a:xfrm>
            <a:prstGeom prst="rect">
              <a:avLst/>
            </a:prstGeom>
          </p:spPr>
          <p:txBody>
            <a:bodyPr wrap="square" lIns="0" tIns="0" rIns="0" bIns="0" rtlCol="0" anchor="t">
              <a:spAutoFit/>
            </a:bodyPr>
            <a:lstStyle/>
            <a:p>
              <a:pPr algn="just" fontAlgn="base"/>
              <a:r>
                <a:rPr lang="en-US" sz="2800" dirty="0">
                  <a:solidFill>
                    <a:srgbClr val="737373"/>
                  </a:solidFill>
                  <a:latin typeface="Poppins"/>
                  <a:cs typeface="Poppins"/>
                </a:rPr>
                <a:t>Future work should convert this feature separation into a validated classifier using a larger independent dataset. Evaluation should span multiple sea states, ranges, source depths, headings and operating conditions, with held-out recordings used to quantify accuracy and robustness. The physics-informed bandwidth, temporal-stability and channel features can then be integrated into machine-learning (ML) or reinforcement-learning (RL) based detectors for real-time vessel detection and surface-versus-submerged classification. An ML detector can learn a robust decision boundary from labeled recordings, while an RL-based detector can be investigated for adaptive decision policies that respond to changing propagation and environmental conditions. A further goal is real-time passive detection and classification of AUVs and DPVs, together with testing where the theoretical assumptions begin to break down in more complex propagation environments.​</a:t>
              </a:r>
            </a:p>
          </p:txBody>
        </p:sp>
        <p:grpSp>
          <p:nvGrpSpPr>
            <p:cNvPr id="42" name="Group 41">
              <a:extLst>
                <a:ext uri="{FF2B5EF4-FFF2-40B4-BE49-F238E27FC236}">
                  <a16:creationId xmlns:a16="http://schemas.microsoft.com/office/drawing/2014/main" id="{371F10B5-D1DA-8F1B-E914-5C67634801D9}"/>
                </a:ext>
              </a:extLst>
            </p:cNvPr>
            <p:cNvGrpSpPr/>
            <p:nvPr/>
          </p:nvGrpSpPr>
          <p:grpSpPr>
            <a:xfrm>
              <a:off x="22045852" y="29389492"/>
              <a:ext cx="7645892" cy="3594620"/>
              <a:chOff x="20874975" y="29323916"/>
              <a:chExt cx="8918697" cy="3594620"/>
            </a:xfrm>
          </p:grpSpPr>
          <p:sp>
            <p:nvSpPr>
              <p:cNvPr id="75" name="Rectangle 74">
                <a:extLst>
                  <a:ext uri="{FF2B5EF4-FFF2-40B4-BE49-F238E27FC236}">
                    <a16:creationId xmlns:a16="http://schemas.microsoft.com/office/drawing/2014/main" id="{63AF8559-BB1E-D2E7-82A1-7A4708543215}"/>
                  </a:ext>
                </a:extLst>
              </p:cNvPr>
              <p:cNvSpPr/>
              <p:nvPr/>
            </p:nvSpPr>
            <p:spPr>
              <a:xfrm>
                <a:off x="20874975" y="29323916"/>
                <a:ext cx="8918697" cy="3594620"/>
              </a:xfrm>
              <a:prstGeom prst="rect">
                <a:avLst/>
              </a:prstGeom>
              <a:solidFill>
                <a:srgbClr val="D3E3E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TextBox 58">
                <a:extLst>
                  <a:ext uri="{FF2B5EF4-FFF2-40B4-BE49-F238E27FC236}">
                    <a16:creationId xmlns:a16="http://schemas.microsoft.com/office/drawing/2014/main" id="{0E0E6B5B-4BD5-DED9-1191-FEC38A8CBABD}"/>
                  </a:ext>
                </a:extLst>
              </p:cNvPr>
              <p:cNvSpPr txBox="1"/>
              <p:nvPr/>
            </p:nvSpPr>
            <p:spPr>
              <a:xfrm>
                <a:off x="21177514" y="29323916"/>
                <a:ext cx="8616158" cy="888705"/>
              </a:xfrm>
              <a:prstGeom prst="rect">
                <a:avLst/>
              </a:prstGeom>
            </p:spPr>
            <p:txBody>
              <a:bodyPr wrap="square" lIns="0" tIns="0" rIns="0" bIns="0" rtlCol="0" anchor="t">
                <a:spAutoFit/>
              </a:bodyPr>
              <a:lstStyle/>
              <a:p>
                <a:pPr>
                  <a:lnSpc>
                    <a:spcPts val="7559"/>
                  </a:lnSpc>
                </a:pPr>
                <a:r>
                  <a:rPr lang="en-US" sz="4400" b="1" i="1" dirty="0">
                    <a:solidFill>
                      <a:srgbClr val="0D1D52"/>
                    </a:solidFill>
                    <a:latin typeface="Poppins Semi-Bold"/>
                    <a:ea typeface="Poppins Semi-Bold"/>
                    <a:cs typeface="Poppins Semi-Bold"/>
                    <a:sym typeface="Poppins Semi-Bold"/>
                  </a:rPr>
                  <a:t>Authors</a:t>
                </a:r>
              </a:p>
            </p:txBody>
          </p:sp>
          <p:sp>
            <p:nvSpPr>
              <p:cNvPr id="79" name="TextBox 78">
                <a:extLst>
                  <a:ext uri="{FF2B5EF4-FFF2-40B4-BE49-F238E27FC236}">
                    <a16:creationId xmlns:a16="http://schemas.microsoft.com/office/drawing/2014/main" id="{910CCB4E-9AD9-91A0-4D03-93C6DBD55E25}"/>
                  </a:ext>
                </a:extLst>
              </p:cNvPr>
              <p:cNvSpPr txBox="1"/>
              <p:nvPr/>
            </p:nvSpPr>
            <p:spPr>
              <a:xfrm>
                <a:off x="21031107" y="30465458"/>
                <a:ext cx="7429594" cy="1938992"/>
              </a:xfrm>
              <a:prstGeom prst="rect">
                <a:avLst/>
              </a:prstGeom>
              <a:noFill/>
            </p:spPr>
            <p:txBody>
              <a:bodyPr wrap="square">
                <a:spAutoFit/>
              </a:bodyPr>
              <a:lstStyle/>
              <a:p>
                <a:r>
                  <a:rPr sz="2400" b="1" dirty="0">
                    <a:solidFill>
                      <a:srgbClr val="737373"/>
                    </a:solidFill>
                    <a:latin typeface="Poppins"/>
                    <a:cs typeface="Poppins"/>
                  </a:rPr>
                  <a:t>Roy Michael</a:t>
                </a:r>
                <a:r>
                  <a:rPr lang="en-US" sz="2400" dirty="0">
                    <a:solidFill>
                      <a:srgbClr val="737373"/>
                    </a:solidFill>
                    <a:latin typeface="Poppins"/>
                    <a:cs typeface="Poppins"/>
                  </a:rPr>
                  <a:t> - </a:t>
                </a:r>
                <a:r>
                  <a:rPr sz="2400" dirty="0">
                    <a:solidFill>
                      <a:srgbClr val="737373"/>
                    </a:solidFill>
                    <a:latin typeface="Poppins"/>
                    <a:cs typeface="Poppins"/>
                  </a:rPr>
                  <a:t>Department of Marine Technologies, Haifa University</a:t>
                </a:r>
                <a:endParaRPr lang="en-US" sz="2400" dirty="0">
                  <a:solidFill>
                    <a:srgbClr val="737373"/>
                  </a:solidFill>
                  <a:latin typeface="Poppins"/>
                  <a:cs typeface="Poppins"/>
                </a:endParaRPr>
              </a:p>
              <a:p>
                <a:endParaRPr lang="en-US" sz="2400" dirty="0">
                  <a:solidFill>
                    <a:srgbClr val="737373"/>
                  </a:solidFill>
                  <a:latin typeface="Poppins"/>
                  <a:cs typeface="Poppins"/>
                </a:endParaRPr>
              </a:p>
              <a:p>
                <a:r>
                  <a:rPr lang="en-US" sz="2400" b="1" dirty="0">
                    <a:solidFill>
                      <a:srgbClr val="737373"/>
                    </a:solidFill>
                    <a:latin typeface="Poppins"/>
                    <a:cs typeface="Poppins"/>
                  </a:rPr>
                  <a:t>Roee Diamant</a:t>
                </a:r>
                <a:r>
                  <a:rPr lang="en-US" sz="2400" dirty="0">
                    <a:solidFill>
                      <a:srgbClr val="737373"/>
                    </a:solidFill>
                    <a:latin typeface="Poppins"/>
                    <a:cs typeface="Poppins"/>
                  </a:rPr>
                  <a:t> - Department of Marine Technologies, Haifa University</a:t>
                </a:r>
                <a:endParaRPr sz="2400" dirty="0">
                  <a:solidFill>
                    <a:srgbClr val="737373"/>
                  </a:solidFill>
                  <a:latin typeface="Poppins"/>
                  <a:cs typeface="Poppins"/>
                </a:endParaRPr>
              </a:p>
            </p:txBody>
          </p:sp>
        </p:grpSp>
      </p:grpSp>
      <p:grpSp>
        <p:nvGrpSpPr>
          <p:cNvPr id="38" name="Group 37">
            <a:extLst>
              <a:ext uri="{FF2B5EF4-FFF2-40B4-BE49-F238E27FC236}">
                <a16:creationId xmlns:a16="http://schemas.microsoft.com/office/drawing/2014/main" id="{ADB0B363-9A7A-FFF2-43CF-DF7B94B69AD2}"/>
              </a:ext>
            </a:extLst>
          </p:cNvPr>
          <p:cNvGrpSpPr/>
          <p:nvPr/>
        </p:nvGrpSpPr>
        <p:grpSpPr>
          <a:xfrm>
            <a:off x="11172447" y="5500751"/>
            <a:ext cx="9857409" cy="3677916"/>
            <a:chOff x="1135037" y="19890017"/>
            <a:chExt cx="9670470" cy="5441678"/>
          </a:xfrm>
        </p:grpSpPr>
        <p:grpSp>
          <p:nvGrpSpPr>
            <p:cNvPr id="37" name="Group 36">
              <a:extLst>
                <a:ext uri="{FF2B5EF4-FFF2-40B4-BE49-F238E27FC236}">
                  <a16:creationId xmlns:a16="http://schemas.microsoft.com/office/drawing/2014/main" id="{B6646356-1506-A297-E7EA-D3095C5CC3CE}"/>
                </a:ext>
              </a:extLst>
            </p:cNvPr>
            <p:cNvGrpSpPr/>
            <p:nvPr/>
          </p:nvGrpSpPr>
          <p:grpSpPr>
            <a:xfrm>
              <a:off x="1135037" y="19890017"/>
              <a:ext cx="1993392" cy="5437166"/>
              <a:chOff x="1107634" y="19963462"/>
              <a:chExt cx="1993392" cy="5437166"/>
            </a:xfrm>
          </p:grpSpPr>
          <p:sp>
            <p:nvSpPr>
              <p:cNvPr id="80" name="Rounded Rectangle 79"/>
              <p:cNvSpPr/>
              <p:nvPr/>
            </p:nvSpPr>
            <p:spPr>
              <a:xfrm>
                <a:off x="1107634" y="19963462"/>
                <a:ext cx="1993392" cy="5437166"/>
              </a:xfrm>
              <a:prstGeom prst="roundRect">
                <a:avLst/>
              </a:prstGeom>
              <a:solidFill>
                <a:schemeClr val="bg1"/>
              </a:solidFill>
              <a:ln w="15240">
                <a:solidFill>
                  <a:srgbClr val="CD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Rounded Rectangle 80"/>
              <p:cNvSpPr/>
              <p:nvPr/>
            </p:nvSpPr>
            <p:spPr>
              <a:xfrm>
                <a:off x="1217362" y="20073190"/>
                <a:ext cx="1773936" cy="566928"/>
              </a:xfrm>
              <a:prstGeom prst="roundRect">
                <a:avLst/>
              </a:prstGeom>
              <a:solidFill>
                <a:srgbClr val="0D1D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400" b="1" dirty="0">
                    <a:solidFill>
                      <a:srgbClr val="FFFFFF"/>
                    </a:solidFill>
                    <a:latin typeface="Poppins SemiBold" panose="020B0502040204020203" pitchFamily="2" charset="0"/>
                    <a:cs typeface="Poppins SemiBold" panose="020B0502040204020203" pitchFamily="2" charset="0"/>
                  </a:rPr>
                  <a:t>S</a:t>
                </a:r>
                <a:r>
                  <a:rPr lang="en-US" sz="2400" b="1" dirty="0">
                    <a:solidFill>
                      <a:srgbClr val="FFFFFF"/>
                    </a:solidFill>
                    <a:latin typeface="Poppins SemiBold" panose="020B0502040204020203" pitchFamily="2" charset="0"/>
                    <a:cs typeface="Poppins SemiBold" panose="020B0502040204020203" pitchFamily="2" charset="0"/>
                  </a:rPr>
                  <a:t>tep</a:t>
                </a:r>
                <a:r>
                  <a:rPr sz="2400" b="1" dirty="0">
                    <a:solidFill>
                      <a:srgbClr val="FFFFFF"/>
                    </a:solidFill>
                    <a:latin typeface="Poppins SemiBold" panose="020B0502040204020203" pitchFamily="2" charset="0"/>
                    <a:cs typeface="Poppins SemiBold" panose="020B0502040204020203" pitchFamily="2" charset="0"/>
                  </a:rPr>
                  <a:t> 1</a:t>
                </a:r>
              </a:p>
            </p:txBody>
          </p:sp>
          <p:sp>
            <p:nvSpPr>
              <p:cNvPr id="82" name="Oval 81"/>
              <p:cNvSpPr/>
              <p:nvPr/>
            </p:nvSpPr>
            <p:spPr>
              <a:xfrm>
                <a:off x="1701994" y="20832142"/>
                <a:ext cx="804672" cy="804672"/>
              </a:xfrm>
              <a:prstGeom prst="ellipse">
                <a:avLst/>
              </a:prstGeom>
              <a:solidFill>
                <a:srgbClr val="205B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latin typeface="Arial"/>
                  </a:rPr>
                  <a:t>▥</a:t>
                </a:r>
              </a:p>
            </p:txBody>
          </p:sp>
          <p:sp>
            <p:nvSpPr>
              <p:cNvPr id="83" name="TextBox 82"/>
              <p:cNvSpPr txBox="1"/>
              <p:nvPr/>
            </p:nvSpPr>
            <p:spPr>
              <a:xfrm>
                <a:off x="1217362" y="21810550"/>
                <a:ext cx="1773936" cy="707886"/>
              </a:xfrm>
              <a:prstGeom prst="rect">
                <a:avLst/>
              </a:prstGeom>
              <a:noFill/>
            </p:spPr>
            <p:txBody>
              <a:bodyPr wrap="square">
                <a:spAutoFit/>
              </a:bodyPr>
              <a:lstStyle/>
              <a:p>
                <a:pPr algn="ctr"/>
                <a:r>
                  <a:rPr sz="2000" b="1" dirty="0">
                    <a:solidFill>
                      <a:srgbClr val="0D1D52"/>
                    </a:solidFill>
                    <a:latin typeface="Poppins SemiBold" panose="00000700000000000000" pitchFamily="2" charset="0"/>
                    <a:cs typeface="Poppins SemiBold" panose="00000700000000000000" pitchFamily="2" charset="0"/>
                  </a:rPr>
                  <a:t>SIGNAL</a:t>
                </a:r>
              </a:p>
              <a:p>
                <a:pPr algn="ctr"/>
                <a:r>
                  <a:rPr sz="2000" b="1" dirty="0">
                    <a:solidFill>
                      <a:srgbClr val="0D1D52"/>
                    </a:solidFill>
                    <a:latin typeface="Poppins SemiBold" panose="00000700000000000000" pitchFamily="2" charset="0"/>
                    <a:cs typeface="Poppins SemiBold" panose="00000700000000000000" pitchFamily="2" charset="0"/>
                  </a:rPr>
                  <a:t>INGESTION</a:t>
                </a:r>
              </a:p>
            </p:txBody>
          </p:sp>
          <p:sp>
            <p:nvSpPr>
              <p:cNvPr id="84" name="Rectangle 83"/>
              <p:cNvSpPr/>
              <p:nvPr/>
            </p:nvSpPr>
            <p:spPr>
              <a:xfrm>
                <a:off x="1400242" y="22752382"/>
                <a:ext cx="1408176" cy="32004"/>
              </a:xfrm>
              <a:prstGeom prst="rect">
                <a:avLst/>
              </a:prstGeom>
              <a:solidFill>
                <a:srgbClr val="AAC0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TextBox 84"/>
              <p:cNvSpPr txBox="1"/>
              <p:nvPr/>
            </p:nvSpPr>
            <p:spPr>
              <a:xfrm>
                <a:off x="1253938" y="22962694"/>
                <a:ext cx="1700784" cy="823181"/>
              </a:xfrm>
              <a:prstGeom prst="rect">
                <a:avLst/>
              </a:prstGeom>
              <a:noFill/>
            </p:spPr>
            <p:txBody>
              <a:bodyPr wrap="square" anchor="t">
                <a:spAutoFit/>
              </a:bodyPr>
              <a:lstStyle/>
              <a:p>
                <a:pPr>
                  <a:lnSpc>
                    <a:spcPts val="4082"/>
                  </a:lnSpc>
                </a:pPr>
                <a:r>
                  <a:rPr lang="en-US" sz="2400" dirty="0">
                    <a:solidFill>
                      <a:srgbClr val="737373"/>
                    </a:solidFill>
                    <a:latin typeface="Poppins"/>
                    <a:cs typeface="Poppins"/>
                  </a:rPr>
                  <a:t>Ingest</a:t>
                </a:r>
                <a:r>
                  <a:rPr sz="2400" dirty="0">
                    <a:solidFill>
                      <a:srgbClr val="737373"/>
                    </a:solidFill>
                    <a:latin typeface="Poppins"/>
                    <a:cs typeface="Poppins"/>
                  </a:rPr>
                  <a:t> data</a:t>
                </a:r>
              </a:p>
            </p:txBody>
          </p:sp>
        </p:grpSp>
        <p:sp>
          <p:nvSpPr>
            <p:cNvPr id="86" name="Chevron 85"/>
            <p:cNvSpPr/>
            <p:nvPr/>
          </p:nvSpPr>
          <p:spPr>
            <a:xfrm>
              <a:off x="3197946" y="22375368"/>
              <a:ext cx="219456" cy="475488"/>
            </a:xfrm>
            <a:prstGeom prst="chevron">
              <a:avLst/>
            </a:prstGeom>
            <a:solidFill>
              <a:srgbClr val="205B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34" name="Group 33">
              <a:extLst>
                <a:ext uri="{FF2B5EF4-FFF2-40B4-BE49-F238E27FC236}">
                  <a16:creationId xmlns:a16="http://schemas.microsoft.com/office/drawing/2014/main" id="{B44272DB-28A5-4F2A-1410-F118CDEDA09C}"/>
                </a:ext>
              </a:extLst>
            </p:cNvPr>
            <p:cNvGrpSpPr/>
            <p:nvPr/>
          </p:nvGrpSpPr>
          <p:grpSpPr>
            <a:xfrm>
              <a:off x="3527501" y="19890017"/>
              <a:ext cx="2312105" cy="5437166"/>
              <a:chOff x="3527130" y="19933920"/>
              <a:chExt cx="2312105" cy="5437166"/>
            </a:xfrm>
          </p:grpSpPr>
          <p:sp>
            <p:nvSpPr>
              <p:cNvPr id="87" name="Rounded Rectangle 86"/>
              <p:cNvSpPr/>
              <p:nvPr/>
            </p:nvSpPr>
            <p:spPr>
              <a:xfrm>
                <a:off x="3527130" y="19933920"/>
                <a:ext cx="2293798" cy="5437166"/>
              </a:xfrm>
              <a:prstGeom prst="roundRect">
                <a:avLst/>
              </a:prstGeom>
              <a:solidFill>
                <a:schemeClr val="bg1"/>
              </a:solidFill>
              <a:ln w="15240">
                <a:solidFill>
                  <a:srgbClr val="CD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Rounded Rectangle 87"/>
              <p:cNvSpPr/>
              <p:nvPr/>
            </p:nvSpPr>
            <p:spPr>
              <a:xfrm>
                <a:off x="3704726" y="20087990"/>
                <a:ext cx="1773936" cy="566928"/>
              </a:xfrm>
              <a:prstGeom prst="roundRect">
                <a:avLst/>
              </a:prstGeom>
              <a:solidFill>
                <a:srgbClr val="0D1D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dirty="0">
                    <a:solidFill>
                      <a:srgbClr val="FFFFFF"/>
                    </a:solidFill>
                    <a:latin typeface="Poppins SemiBold" panose="020B0502040204020203" pitchFamily="2" charset="0"/>
                    <a:cs typeface="Poppins SemiBold" panose="020B0502040204020203" pitchFamily="2" charset="0"/>
                  </a:rPr>
                  <a:t>Step 2</a:t>
                </a:r>
              </a:p>
            </p:txBody>
          </p:sp>
          <p:sp>
            <p:nvSpPr>
              <p:cNvPr id="89" name="Oval 88"/>
              <p:cNvSpPr/>
              <p:nvPr/>
            </p:nvSpPr>
            <p:spPr>
              <a:xfrm>
                <a:off x="4103999" y="20780387"/>
                <a:ext cx="804672" cy="804672"/>
              </a:xfrm>
              <a:prstGeom prst="ellipse">
                <a:avLst/>
              </a:prstGeom>
              <a:solidFill>
                <a:srgbClr val="205B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latin typeface="Arial"/>
                  </a:rPr>
                  <a:t>▦</a:t>
                </a:r>
              </a:p>
            </p:txBody>
          </p:sp>
          <p:sp>
            <p:nvSpPr>
              <p:cNvPr id="90" name="TextBox 89"/>
              <p:cNvSpPr txBox="1"/>
              <p:nvPr/>
            </p:nvSpPr>
            <p:spPr>
              <a:xfrm>
                <a:off x="3723415" y="21756416"/>
                <a:ext cx="1773936" cy="707886"/>
              </a:xfrm>
              <a:prstGeom prst="rect">
                <a:avLst/>
              </a:prstGeom>
              <a:noFill/>
            </p:spPr>
            <p:txBody>
              <a:bodyPr wrap="square">
                <a:spAutoFit/>
              </a:bodyPr>
              <a:lstStyle/>
              <a:p>
                <a:pPr algn="ctr"/>
                <a:r>
                  <a:rPr sz="2000" b="1" dirty="0">
                    <a:solidFill>
                      <a:srgbClr val="0D1D52"/>
                    </a:solidFill>
                    <a:latin typeface="Poppins SemiBold" panose="00000700000000000000" pitchFamily="2" charset="0"/>
                    <a:cs typeface="Poppins SemiBold" panose="00000700000000000000" pitchFamily="2" charset="0"/>
                  </a:rPr>
                  <a:t>BANDWIDTH</a:t>
                </a:r>
              </a:p>
              <a:p>
                <a:pPr algn="ctr"/>
                <a:r>
                  <a:rPr sz="2000" b="1" dirty="0">
                    <a:solidFill>
                      <a:srgbClr val="0D1D52"/>
                    </a:solidFill>
                    <a:latin typeface="Poppins SemiBold" panose="00000700000000000000" pitchFamily="2" charset="0"/>
                    <a:cs typeface="Poppins SemiBold" panose="00000700000000000000" pitchFamily="2" charset="0"/>
                  </a:rPr>
                  <a:t>MATRIX</a:t>
                </a:r>
              </a:p>
            </p:txBody>
          </p:sp>
          <p:sp>
            <p:nvSpPr>
              <p:cNvPr id="91" name="Rectangle 90"/>
              <p:cNvSpPr/>
              <p:nvPr/>
            </p:nvSpPr>
            <p:spPr>
              <a:xfrm>
                <a:off x="3850228" y="22685689"/>
                <a:ext cx="1408176" cy="32004"/>
              </a:xfrm>
              <a:prstGeom prst="rect">
                <a:avLst/>
              </a:prstGeom>
              <a:solidFill>
                <a:srgbClr val="AAC0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3592662" y="22669610"/>
                <a:ext cx="2246573" cy="2361862"/>
              </a:xfrm>
              <a:prstGeom prst="rect">
                <a:avLst/>
              </a:prstGeom>
              <a:noFill/>
            </p:spPr>
            <p:txBody>
              <a:bodyPr wrap="square" anchor="t">
                <a:spAutoFit/>
              </a:bodyPr>
              <a:lstStyle/>
              <a:p>
                <a:pPr>
                  <a:lnSpc>
                    <a:spcPts val="4082"/>
                  </a:lnSpc>
                </a:pPr>
                <a:r>
                  <a:rPr sz="2000" dirty="0">
                    <a:solidFill>
                      <a:srgbClr val="737373"/>
                    </a:solidFill>
                    <a:latin typeface="Poppins"/>
                    <a:cs typeface="Poppins"/>
                  </a:rPr>
                  <a:t>Estimate bandwidth</a:t>
                </a:r>
              </a:p>
              <a:p>
                <a:pPr>
                  <a:lnSpc>
                    <a:spcPts val="4082"/>
                  </a:lnSpc>
                </a:pPr>
                <a:r>
                  <a:rPr sz="2000" dirty="0">
                    <a:solidFill>
                      <a:srgbClr val="737373"/>
                    </a:solidFill>
                    <a:latin typeface="Poppins"/>
                    <a:cs typeface="Poppins"/>
                  </a:rPr>
                  <a:t>and frequencies</a:t>
                </a:r>
              </a:p>
            </p:txBody>
          </p:sp>
        </p:grpSp>
        <p:sp>
          <p:nvSpPr>
            <p:cNvPr id="93" name="Chevron 92"/>
            <p:cNvSpPr/>
            <p:nvPr/>
          </p:nvSpPr>
          <p:spPr>
            <a:xfrm>
              <a:off x="5916668" y="22375369"/>
              <a:ext cx="219456" cy="475487"/>
            </a:xfrm>
            <a:prstGeom prst="chevron">
              <a:avLst/>
            </a:prstGeom>
            <a:solidFill>
              <a:srgbClr val="205B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36" name="Group 35">
              <a:extLst>
                <a:ext uri="{FF2B5EF4-FFF2-40B4-BE49-F238E27FC236}">
                  <a16:creationId xmlns:a16="http://schemas.microsoft.com/office/drawing/2014/main" id="{EF5A08B7-E04F-E2CD-3755-2838619A01AF}"/>
                </a:ext>
              </a:extLst>
            </p:cNvPr>
            <p:cNvGrpSpPr/>
            <p:nvPr/>
          </p:nvGrpSpPr>
          <p:grpSpPr>
            <a:xfrm>
              <a:off x="6433906" y="19894529"/>
              <a:ext cx="1993392" cy="5437166"/>
              <a:chOff x="6414849" y="19948690"/>
              <a:chExt cx="1993392" cy="5437166"/>
            </a:xfrm>
          </p:grpSpPr>
          <p:sp>
            <p:nvSpPr>
              <p:cNvPr id="94" name="Rounded Rectangle 93"/>
              <p:cNvSpPr/>
              <p:nvPr/>
            </p:nvSpPr>
            <p:spPr>
              <a:xfrm>
                <a:off x="6414849" y="19948690"/>
                <a:ext cx="1993392" cy="5437166"/>
              </a:xfrm>
              <a:prstGeom prst="roundRect">
                <a:avLst/>
              </a:prstGeom>
              <a:solidFill>
                <a:schemeClr val="bg1"/>
              </a:solidFill>
              <a:ln w="15240">
                <a:solidFill>
                  <a:srgbClr val="CD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Rounded Rectangle 94"/>
              <p:cNvSpPr/>
              <p:nvPr/>
            </p:nvSpPr>
            <p:spPr>
              <a:xfrm>
                <a:off x="6524577" y="20058418"/>
                <a:ext cx="1773936" cy="566928"/>
              </a:xfrm>
              <a:prstGeom prst="roundRect">
                <a:avLst/>
              </a:prstGeom>
              <a:solidFill>
                <a:srgbClr val="0D1D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dirty="0">
                    <a:solidFill>
                      <a:srgbClr val="FFFFFF"/>
                    </a:solidFill>
                    <a:latin typeface="Poppins SemiBold" panose="020B0502040204020203" pitchFamily="2" charset="0"/>
                    <a:cs typeface="Poppins SemiBold" panose="020B0502040204020203" pitchFamily="2" charset="0"/>
                  </a:rPr>
                  <a:t>Step 3</a:t>
                </a:r>
              </a:p>
            </p:txBody>
          </p:sp>
          <p:sp>
            <p:nvSpPr>
              <p:cNvPr id="96" name="Oval 95"/>
              <p:cNvSpPr/>
              <p:nvPr/>
            </p:nvSpPr>
            <p:spPr>
              <a:xfrm>
                <a:off x="7009209" y="20817370"/>
                <a:ext cx="804672" cy="804672"/>
              </a:xfrm>
              <a:prstGeom prst="ellipse">
                <a:avLst/>
              </a:prstGeom>
              <a:solidFill>
                <a:srgbClr val="205B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latin typeface="Arial"/>
                  </a:rPr>
                  <a:t>∿</a:t>
                </a:r>
              </a:p>
            </p:txBody>
          </p:sp>
          <p:sp>
            <p:nvSpPr>
              <p:cNvPr id="97" name="TextBox 96"/>
              <p:cNvSpPr txBox="1"/>
              <p:nvPr/>
            </p:nvSpPr>
            <p:spPr>
              <a:xfrm>
                <a:off x="6524577" y="21795778"/>
                <a:ext cx="1773936" cy="707886"/>
              </a:xfrm>
              <a:prstGeom prst="rect">
                <a:avLst/>
              </a:prstGeom>
              <a:noFill/>
            </p:spPr>
            <p:txBody>
              <a:bodyPr wrap="square">
                <a:spAutoFit/>
              </a:bodyPr>
              <a:lstStyle/>
              <a:p>
                <a:pPr algn="ctr"/>
                <a:r>
                  <a:rPr sz="2000" b="1" dirty="0">
                    <a:solidFill>
                      <a:srgbClr val="0D1D52"/>
                    </a:solidFill>
                    <a:latin typeface="Poppins SemiBold" panose="00000700000000000000" pitchFamily="2" charset="0"/>
                    <a:cs typeface="Poppins SemiBold" panose="00000700000000000000" pitchFamily="2" charset="0"/>
                  </a:rPr>
                  <a:t>PHYSICS</a:t>
                </a:r>
              </a:p>
              <a:p>
                <a:pPr algn="ctr"/>
                <a:r>
                  <a:rPr sz="2000" b="1" dirty="0">
                    <a:solidFill>
                      <a:srgbClr val="0D1D52"/>
                    </a:solidFill>
                    <a:latin typeface="Poppins SemiBold" panose="00000700000000000000" pitchFamily="2" charset="0"/>
                    <a:cs typeface="Poppins SemiBold" panose="00000700000000000000" pitchFamily="2" charset="0"/>
                  </a:rPr>
                  <a:t>FEATURES</a:t>
                </a:r>
              </a:p>
            </p:txBody>
          </p:sp>
          <p:sp>
            <p:nvSpPr>
              <p:cNvPr id="98" name="Rectangle 97"/>
              <p:cNvSpPr/>
              <p:nvPr/>
            </p:nvSpPr>
            <p:spPr>
              <a:xfrm>
                <a:off x="6707457" y="22737610"/>
                <a:ext cx="1408176" cy="32004"/>
              </a:xfrm>
              <a:prstGeom prst="rect">
                <a:avLst/>
              </a:prstGeom>
              <a:solidFill>
                <a:srgbClr val="AAC0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 name="TextBox 98"/>
              <p:cNvSpPr txBox="1"/>
              <p:nvPr/>
            </p:nvSpPr>
            <p:spPr>
              <a:xfrm>
                <a:off x="6561153" y="22947922"/>
                <a:ext cx="1737360" cy="1618279"/>
              </a:xfrm>
              <a:prstGeom prst="rect">
                <a:avLst/>
              </a:prstGeom>
              <a:noFill/>
            </p:spPr>
            <p:txBody>
              <a:bodyPr wrap="square" anchor="t">
                <a:spAutoFit/>
              </a:bodyPr>
              <a:lstStyle/>
              <a:p>
                <a:pPr>
                  <a:lnSpc>
                    <a:spcPts val="4082"/>
                  </a:lnSpc>
                </a:pPr>
                <a:r>
                  <a:rPr sz="2400" dirty="0">
                    <a:solidFill>
                      <a:srgbClr val="737373"/>
                    </a:solidFill>
                    <a:latin typeface="Poppins"/>
                    <a:cs typeface="Poppins"/>
                  </a:rPr>
                  <a:t>Extract </a:t>
                </a:r>
                <a:r>
                  <a:rPr lang="en-US" sz="2400" dirty="0">
                    <a:solidFill>
                      <a:srgbClr val="737373"/>
                    </a:solidFill>
                    <a:latin typeface="Poppins"/>
                    <a:cs typeface="Poppins"/>
                  </a:rPr>
                  <a:t>features</a:t>
                </a:r>
                <a:endParaRPr sz="2400" dirty="0">
                  <a:solidFill>
                    <a:srgbClr val="737373"/>
                  </a:solidFill>
                  <a:latin typeface="Poppins"/>
                  <a:cs typeface="Poppins"/>
                </a:endParaRPr>
              </a:p>
            </p:txBody>
          </p:sp>
        </p:grpSp>
        <p:sp>
          <p:nvSpPr>
            <p:cNvPr id="100" name="Chevron 99"/>
            <p:cNvSpPr/>
            <p:nvPr/>
          </p:nvSpPr>
          <p:spPr>
            <a:xfrm>
              <a:off x="8500450" y="22375368"/>
              <a:ext cx="219456" cy="475488"/>
            </a:xfrm>
            <a:prstGeom prst="chevron">
              <a:avLst/>
            </a:prstGeom>
            <a:solidFill>
              <a:srgbClr val="205B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35" name="Group 34">
              <a:extLst>
                <a:ext uri="{FF2B5EF4-FFF2-40B4-BE49-F238E27FC236}">
                  <a16:creationId xmlns:a16="http://schemas.microsoft.com/office/drawing/2014/main" id="{3A9309BF-1790-F8D9-5D82-4B1BD740F870}"/>
                </a:ext>
              </a:extLst>
            </p:cNvPr>
            <p:cNvGrpSpPr/>
            <p:nvPr/>
          </p:nvGrpSpPr>
          <p:grpSpPr>
            <a:xfrm>
              <a:off x="8812115" y="19894529"/>
              <a:ext cx="1993392" cy="5437166"/>
              <a:chOff x="8793058" y="19963462"/>
              <a:chExt cx="1993392" cy="5437166"/>
            </a:xfrm>
          </p:grpSpPr>
          <p:sp>
            <p:nvSpPr>
              <p:cNvPr id="101" name="Rounded Rectangle 100"/>
              <p:cNvSpPr/>
              <p:nvPr/>
            </p:nvSpPr>
            <p:spPr>
              <a:xfrm>
                <a:off x="8793058" y="19963462"/>
                <a:ext cx="1993392" cy="5437166"/>
              </a:xfrm>
              <a:prstGeom prst="roundRect">
                <a:avLst/>
              </a:prstGeom>
              <a:solidFill>
                <a:schemeClr val="bg1"/>
              </a:solidFill>
              <a:ln w="15240">
                <a:solidFill>
                  <a:srgbClr val="CD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Rounded Rectangle 101"/>
              <p:cNvSpPr/>
              <p:nvPr/>
            </p:nvSpPr>
            <p:spPr>
              <a:xfrm>
                <a:off x="8902786" y="20073190"/>
                <a:ext cx="1773936" cy="566928"/>
              </a:xfrm>
              <a:prstGeom prst="roundRect">
                <a:avLst/>
              </a:prstGeom>
              <a:solidFill>
                <a:srgbClr val="0D1D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dirty="0">
                    <a:solidFill>
                      <a:srgbClr val="FFFFFF"/>
                    </a:solidFill>
                    <a:latin typeface="Poppins SemiBold" panose="020B0502040204020203" pitchFamily="2" charset="0"/>
                    <a:cs typeface="Poppins SemiBold" panose="020B0502040204020203" pitchFamily="2" charset="0"/>
                  </a:rPr>
                  <a:t>Step 4</a:t>
                </a:r>
              </a:p>
            </p:txBody>
          </p:sp>
          <p:sp>
            <p:nvSpPr>
              <p:cNvPr id="103" name="Oval 102"/>
              <p:cNvSpPr/>
              <p:nvPr/>
            </p:nvSpPr>
            <p:spPr>
              <a:xfrm>
                <a:off x="9387418" y="20832142"/>
                <a:ext cx="804672" cy="804672"/>
              </a:xfrm>
              <a:prstGeom prst="ellipse">
                <a:avLst/>
              </a:prstGeom>
              <a:solidFill>
                <a:srgbClr val="205B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latin typeface="Arial"/>
                  </a:rPr>
                  <a:t>✓</a:t>
                </a:r>
              </a:p>
            </p:txBody>
          </p:sp>
          <p:sp>
            <p:nvSpPr>
              <p:cNvPr id="104" name="TextBox 103"/>
              <p:cNvSpPr txBox="1"/>
              <p:nvPr/>
            </p:nvSpPr>
            <p:spPr>
              <a:xfrm>
                <a:off x="8902786" y="21810550"/>
                <a:ext cx="1773936" cy="707886"/>
              </a:xfrm>
              <a:prstGeom prst="rect">
                <a:avLst/>
              </a:prstGeom>
              <a:noFill/>
            </p:spPr>
            <p:txBody>
              <a:bodyPr wrap="square">
                <a:spAutoFit/>
              </a:bodyPr>
              <a:lstStyle/>
              <a:p>
                <a:pPr algn="ctr"/>
                <a:r>
                  <a:rPr sz="2000" b="1" dirty="0">
                    <a:solidFill>
                      <a:srgbClr val="0D1D52"/>
                    </a:solidFill>
                    <a:latin typeface="Poppins SemiBold" panose="00000700000000000000" pitchFamily="2" charset="0"/>
                    <a:cs typeface="Poppins SemiBold" panose="00000700000000000000" pitchFamily="2" charset="0"/>
                  </a:rPr>
                  <a:t>ML</a:t>
                </a:r>
              </a:p>
              <a:p>
                <a:pPr algn="ctr"/>
                <a:r>
                  <a:rPr sz="2000" b="1" dirty="0">
                    <a:solidFill>
                      <a:srgbClr val="0D1D52"/>
                    </a:solidFill>
                    <a:latin typeface="Poppins SemiBold" panose="00000700000000000000" pitchFamily="2" charset="0"/>
                    <a:cs typeface="Poppins SemiBold" panose="00000700000000000000" pitchFamily="2" charset="0"/>
                  </a:rPr>
                  <a:t>DECISION</a:t>
                </a:r>
              </a:p>
            </p:txBody>
          </p:sp>
          <p:sp>
            <p:nvSpPr>
              <p:cNvPr id="105" name="Rectangle 104"/>
              <p:cNvSpPr/>
              <p:nvPr/>
            </p:nvSpPr>
            <p:spPr>
              <a:xfrm>
                <a:off x="9085666" y="22752382"/>
                <a:ext cx="1408176" cy="32004"/>
              </a:xfrm>
              <a:prstGeom prst="rect">
                <a:avLst/>
              </a:prstGeom>
              <a:solidFill>
                <a:srgbClr val="AAC0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TextBox 105"/>
              <p:cNvSpPr txBox="1"/>
              <p:nvPr/>
            </p:nvSpPr>
            <p:spPr>
              <a:xfrm>
                <a:off x="8939362" y="22962694"/>
                <a:ext cx="1700784" cy="2396207"/>
              </a:xfrm>
              <a:prstGeom prst="rect">
                <a:avLst/>
              </a:prstGeom>
              <a:noFill/>
            </p:spPr>
            <p:txBody>
              <a:bodyPr wrap="square" anchor="t">
                <a:spAutoFit/>
              </a:bodyPr>
              <a:lstStyle/>
              <a:p>
                <a:pPr>
                  <a:lnSpc>
                    <a:spcPts val="4082"/>
                  </a:lnSpc>
                </a:pPr>
                <a:r>
                  <a:rPr sz="2400" dirty="0">
                    <a:solidFill>
                      <a:srgbClr val="737373"/>
                    </a:solidFill>
                    <a:latin typeface="Poppins"/>
                    <a:cs typeface="Poppins"/>
                  </a:rPr>
                  <a:t>Classify source</a:t>
                </a:r>
              </a:p>
              <a:p>
                <a:pPr>
                  <a:lnSpc>
                    <a:spcPts val="4082"/>
                  </a:lnSpc>
                </a:pPr>
                <a:r>
                  <a:rPr sz="2400" dirty="0">
                    <a:solidFill>
                      <a:srgbClr val="737373"/>
                    </a:solidFill>
                    <a:latin typeface="Poppins"/>
                    <a:cs typeface="Poppins"/>
                  </a:rPr>
                  <a:t>depth</a:t>
                </a:r>
              </a:p>
            </p:txBody>
          </p:sp>
        </p:grpSp>
      </p:grpSp>
      <p:sp>
        <p:nvSpPr>
          <p:cNvPr id="107" name="TextBox 106"/>
          <p:cNvSpPr txBox="1"/>
          <p:nvPr/>
        </p:nvSpPr>
        <p:spPr>
          <a:xfrm>
            <a:off x="11388940" y="10078338"/>
            <a:ext cx="8755627" cy="5509200"/>
          </a:xfrm>
          <a:prstGeom prst="rect">
            <a:avLst/>
          </a:prstGeom>
          <a:noFill/>
        </p:spPr>
        <p:txBody>
          <a:bodyPr wrap="square">
            <a:spAutoFit/>
          </a:bodyPr>
          <a:lstStyle/>
          <a:p>
            <a:pPr algn="just"/>
            <a:r>
              <a:rPr lang="en-US" sz="3200" dirty="0">
                <a:solidFill>
                  <a:srgbClr val="737373"/>
                </a:solidFill>
                <a:latin typeface="Poppins"/>
                <a:cs typeface="Poppins"/>
              </a:rPr>
              <a:t>The</a:t>
            </a:r>
            <a:r>
              <a:rPr sz="3200" dirty="0">
                <a:solidFill>
                  <a:srgbClr val="737373"/>
                </a:solidFill>
                <a:latin typeface="Poppins"/>
                <a:cs typeface="Poppins"/>
              </a:rPr>
              <a:t> recordings </a:t>
            </a:r>
            <a:r>
              <a:rPr lang="en-US" sz="3200" dirty="0">
                <a:solidFill>
                  <a:srgbClr val="737373"/>
                </a:solidFill>
                <a:latin typeface="Poppins"/>
                <a:cs typeface="Poppins"/>
              </a:rPr>
              <a:t>of a</a:t>
            </a:r>
            <a:r>
              <a:rPr sz="3200" dirty="0">
                <a:solidFill>
                  <a:srgbClr val="737373"/>
                </a:solidFill>
                <a:latin typeface="Poppins"/>
                <a:cs typeface="Poppins"/>
              </a:rPr>
              <a:t> motorboat (surface source) and </a:t>
            </a:r>
            <a:r>
              <a:rPr lang="en-US" sz="3200" dirty="0">
                <a:solidFill>
                  <a:srgbClr val="737373"/>
                </a:solidFill>
                <a:latin typeface="Poppins"/>
                <a:cs typeface="Poppins"/>
              </a:rPr>
              <a:t>a </a:t>
            </a:r>
            <a:r>
              <a:rPr sz="3200" dirty="0">
                <a:solidFill>
                  <a:srgbClr val="737373"/>
                </a:solidFill>
                <a:latin typeface="Poppins"/>
                <a:cs typeface="Poppins"/>
              </a:rPr>
              <a:t>submerged DP</a:t>
            </a:r>
            <a:r>
              <a:rPr lang="en-US" sz="3200" dirty="0">
                <a:solidFill>
                  <a:srgbClr val="737373"/>
                </a:solidFill>
                <a:latin typeface="Poppins"/>
                <a:cs typeface="Poppins"/>
              </a:rPr>
              <a:t>V</a:t>
            </a:r>
            <a:r>
              <a:rPr sz="3200" dirty="0">
                <a:solidFill>
                  <a:srgbClr val="737373"/>
                </a:solidFill>
                <a:latin typeface="Poppins"/>
                <a:cs typeface="Poppins"/>
              </a:rPr>
              <a:t> recordings</a:t>
            </a:r>
            <a:r>
              <a:rPr lang="en-US" sz="3200" dirty="0">
                <a:solidFill>
                  <a:srgbClr val="737373"/>
                </a:solidFill>
                <a:latin typeface="Poppins"/>
                <a:cs typeface="Poppins"/>
              </a:rPr>
              <a:t> were compared to test t</a:t>
            </a:r>
            <a:r>
              <a:rPr sz="3200" dirty="0">
                <a:solidFill>
                  <a:srgbClr val="737373"/>
                </a:solidFill>
                <a:latin typeface="Poppins"/>
                <a:cs typeface="Poppins"/>
              </a:rPr>
              <a:t>he analysis </a:t>
            </a:r>
            <a:r>
              <a:rPr lang="en-US" sz="3200" dirty="0">
                <a:solidFill>
                  <a:srgbClr val="737373"/>
                </a:solidFill>
                <a:latin typeface="Poppins"/>
                <a:cs typeface="Poppins"/>
              </a:rPr>
              <a:t>of </a:t>
            </a:r>
            <a:r>
              <a:rPr sz="3200" dirty="0">
                <a:solidFill>
                  <a:srgbClr val="737373"/>
                </a:solidFill>
                <a:latin typeface="Poppins"/>
                <a:cs typeface="Poppins"/>
              </a:rPr>
              <a:t>the central physics-informed hypothesis: surface coupling should broaden and destabilize mechanical </a:t>
            </a:r>
            <a:r>
              <a:rPr sz="3200" dirty="0" err="1">
                <a:solidFill>
                  <a:srgbClr val="737373"/>
                </a:solidFill>
                <a:latin typeface="Poppins"/>
                <a:cs typeface="Poppins"/>
              </a:rPr>
              <a:t>tonals</a:t>
            </a:r>
            <a:r>
              <a:rPr sz="3200" dirty="0">
                <a:solidFill>
                  <a:srgbClr val="737373"/>
                </a:solidFill>
                <a:latin typeface="Poppins"/>
                <a:cs typeface="Poppins"/>
              </a:rPr>
              <a:t>, whereas a submerged source should preserve narrower and more persistent direct-path components. The spectrogram, bandwidth distribution, Time-in-Band (TiB), entropy-stability, and macro-lobe analyses provide complementary views of this separation.</a:t>
            </a:r>
          </a:p>
        </p:txBody>
      </p:sp>
      <p:sp>
        <p:nvSpPr>
          <p:cNvPr id="109" name="TextBox 108"/>
          <p:cNvSpPr txBox="1"/>
          <p:nvPr/>
        </p:nvSpPr>
        <p:spPr>
          <a:xfrm>
            <a:off x="11453606" y="15091852"/>
            <a:ext cx="5989320" cy="958724"/>
          </a:xfrm>
          <a:prstGeom prst="rect">
            <a:avLst/>
          </a:prstGeom>
          <a:noFill/>
        </p:spPr>
        <p:txBody>
          <a:bodyPr wrap="square">
            <a:spAutoFit/>
          </a:bodyPr>
          <a:lstStyle/>
          <a:p>
            <a:pPr>
              <a:lnSpc>
                <a:spcPts val="7559"/>
              </a:lnSpc>
            </a:pPr>
            <a:r>
              <a:rPr sz="3600" b="1" dirty="0">
                <a:solidFill>
                  <a:srgbClr val="0D1D52"/>
                </a:solidFill>
                <a:latin typeface="Poppins Semi-Bold"/>
              </a:rPr>
              <a:t>Spectral </a:t>
            </a:r>
            <a:r>
              <a:rPr lang="en-US" sz="3600" b="1" dirty="0">
                <a:solidFill>
                  <a:srgbClr val="0D1D52"/>
                </a:solidFill>
                <a:latin typeface="Poppins Semi-Bold"/>
              </a:rPr>
              <a:t>S</a:t>
            </a:r>
            <a:r>
              <a:rPr sz="3600" b="1" dirty="0">
                <a:solidFill>
                  <a:srgbClr val="0D1D52"/>
                </a:solidFill>
                <a:latin typeface="Poppins Semi-Bold"/>
              </a:rPr>
              <a:t>tructure</a:t>
            </a:r>
          </a:p>
        </p:txBody>
      </p:sp>
      <p:sp>
        <p:nvSpPr>
          <p:cNvPr id="110" name="TextBox 109"/>
          <p:cNvSpPr txBox="1"/>
          <p:nvPr/>
        </p:nvSpPr>
        <p:spPr>
          <a:xfrm>
            <a:off x="11388940" y="15954360"/>
            <a:ext cx="8911070" cy="4524315"/>
          </a:xfrm>
          <a:prstGeom prst="rect">
            <a:avLst/>
          </a:prstGeom>
          <a:noFill/>
        </p:spPr>
        <p:txBody>
          <a:bodyPr wrap="square">
            <a:spAutoFit/>
          </a:bodyPr>
          <a:lstStyle/>
          <a:p>
            <a:pPr algn="just"/>
            <a:r>
              <a:rPr sz="3200" dirty="0">
                <a:solidFill>
                  <a:srgbClr val="737373"/>
                </a:solidFill>
                <a:latin typeface="Poppins"/>
                <a:cs typeface="Poppins"/>
              </a:rPr>
              <a:t>The motorboat contains a broad dominant region around 550.2–767.0 Hz together with multiple distributed horizontal components across the 0–2 kHz display. In contrast, the SUEX VR-X </a:t>
            </a:r>
            <a:r>
              <a:rPr lang="en-US" sz="3200" dirty="0">
                <a:solidFill>
                  <a:srgbClr val="737373"/>
                </a:solidFill>
                <a:latin typeface="Poppins"/>
                <a:cs typeface="Poppins"/>
              </a:rPr>
              <a:t>DPV</a:t>
            </a:r>
            <a:r>
              <a:rPr sz="3200" dirty="0">
                <a:solidFill>
                  <a:srgbClr val="737373"/>
                </a:solidFill>
                <a:latin typeface="Poppins"/>
                <a:cs typeface="Poppins"/>
              </a:rPr>
              <a:t> is dominated by a much narrower 810.8–872.0 Hz band. The persistent narrow </a:t>
            </a:r>
            <a:r>
              <a:rPr lang="en-US" sz="3200" dirty="0">
                <a:solidFill>
                  <a:srgbClr val="737373"/>
                </a:solidFill>
                <a:latin typeface="Poppins"/>
                <a:cs typeface="Poppins"/>
              </a:rPr>
              <a:t>DPV</a:t>
            </a:r>
            <a:r>
              <a:rPr sz="3200" dirty="0">
                <a:solidFill>
                  <a:srgbClr val="737373"/>
                </a:solidFill>
                <a:latin typeface="Poppins"/>
                <a:cs typeface="Poppins"/>
              </a:rPr>
              <a:t> ridges are consistent with reduced heave-induced frequency spreading for submerged sources.</a:t>
            </a:r>
          </a:p>
        </p:txBody>
      </p:sp>
      <p:sp>
        <p:nvSpPr>
          <p:cNvPr id="112" name="TextBox 111"/>
          <p:cNvSpPr txBox="1"/>
          <p:nvPr/>
        </p:nvSpPr>
        <p:spPr>
          <a:xfrm>
            <a:off x="20874976" y="11832965"/>
            <a:ext cx="6546640" cy="945195"/>
          </a:xfrm>
          <a:prstGeom prst="rect">
            <a:avLst/>
          </a:prstGeom>
          <a:noFill/>
        </p:spPr>
        <p:txBody>
          <a:bodyPr wrap="square">
            <a:spAutoFit/>
          </a:bodyPr>
          <a:lstStyle/>
          <a:p>
            <a:pPr>
              <a:lnSpc>
                <a:spcPts val="7559"/>
              </a:lnSpc>
            </a:pPr>
            <a:r>
              <a:rPr sz="3600" b="1" dirty="0">
                <a:solidFill>
                  <a:srgbClr val="0D1D52"/>
                </a:solidFill>
                <a:latin typeface="Poppins Semi-Bold"/>
              </a:rPr>
              <a:t>Bandwidth and temporal stability</a:t>
            </a:r>
          </a:p>
        </p:txBody>
      </p:sp>
      <p:sp>
        <p:nvSpPr>
          <p:cNvPr id="113" name="TextBox 112"/>
          <p:cNvSpPr txBox="1"/>
          <p:nvPr/>
        </p:nvSpPr>
        <p:spPr>
          <a:xfrm>
            <a:off x="20874976" y="12675682"/>
            <a:ext cx="9062015" cy="6001643"/>
          </a:xfrm>
          <a:prstGeom prst="rect">
            <a:avLst/>
          </a:prstGeom>
          <a:noFill/>
        </p:spPr>
        <p:txBody>
          <a:bodyPr wrap="square">
            <a:spAutoFit/>
          </a:bodyPr>
          <a:lstStyle/>
          <a:p>
            <a:pPr algn="just"/>
            <a:r>
              <a:rPr sz="3200" dirty="0">
                <a:solidFill>
                  <a:srgbClr val="737373"/>
                </a:solidFill>
                <a:latin typeface="Poppins"/>
                <a:cs typeface="Poppins"/>
              </a:rPr>
              <a:t>Bandwidth provides the clearest distributional contrast. The motorboat extends through a long high-bandwidth tail toward ~150 Hz, while </a:t>
            </a:r>
            <a:r>
              <a:rPr lang="en-US" sz="3200" dirty="0">
                <a:solidFill>
                  <a:srgbClr val="737373"/>
                </a:solidFill>
                <a:latin typeface="Poppins"/>
                <a:cs typeface="Poppins"/>
              </a:rPr>
              <a:t>the DPV</a:t>
            </a:r>
            <a:r>
              <a:rPr sz="3200" dirty="0">
                <a:solidFill>
                  <a:srgbClr val="737373"/>
                </a:solidFill>
                <a:latin typeface="Poppins"/>
                <a:cs typeface="Poppins"/>
              </a:rPr>
              <a:t> distribution </a:t>
            </a:r>
            <a:r>
              <a:rPr lang="en-US" sz="3200" dirty="0">
                <a:solidFill>
                  <a:srgbClr val="737373"/>
                </a:solidFill>
                <a:latin typeface="Poppins"/>
                <a:cs typeface="Poppins"/>
              </a:rPr>
              <a:t>is </a:t>
            </a:r>
            <a:r>
              <a:rPr sz="3200" dirty="0">
                <a:solidFill>
                  <a:srgbClr val="737373"/>
                </a:solidFill>
                <a:latin typeface="Poppins"/>
                <a:cs typeface="Poppins"/>
              </a:rPr>
              <a:t>concentrated mainly in the narrow-band region. </a:t>
            </a:r>
            <a:r>
              <a:rPr sz="3200" b="1" dirty="0">
                <a:solidFill>
                  <a:srgbClr val="737373"/>
                </a:solidFill>
                <a:latin typeface="Poppins"/>
                <a:cs typeface="Poppins"/>
              </a:rPr>
              <a:t>TiB</a:t>
            </a:r>
            <a:r>
              <a:rPr sz="3200" dirty="0">
                <a:solidFill>
                  <a:srgbClr val="737373"/>
                </a:solidFill>
                <a:latin typeface="Poppins"/>
                <a:cs typeface="Poppins"/>
              </a:rPr>
              <a:t> reinforces this result: </a:t>
            </a:r>
            <a:r>
              <a:rPr lang="en-US" sz="3200" dirty="0">
                <a:solidFill>
                  <a:srgbClr val="737373"/>
                </a:solidFill>
                <a:latin typeface="Poppins"/>
                <a:cs typeface="Poppins"/>
              </a:rPr>
              <a:t>the</a:t>
            </a:r>
            <a:r>
              <a:rPr sz="3200" dirty="0">
                <a:solidFill>
                  <a:srgbClr val="737373"/>
                </a:solidFill>
                <a:latin typeface="Poppins"/>
                <a:cs typeface="Poppins"/>
              </a:rPr>
              <a:t> </a:t>
            </a:r>
            <a:r>
              <a:rPr lang="en-US" sz="3200" dirty="0">
                <a:solidFill>
                  <a:srgbClr val="737373"/>
                </a:solidFill>
                <a:latin typeface="Poppins"/>
                <a:cs typeface="Poppins"/>
              </a:rPr>
              <a:t>DPV</a:t>
            </a:r>
            <a:r>
              <a:rPr sz="3200" dirty="0">
                <a:solidFill>
                  <a:srgbClr val="737373"/>
                </a:solidFill>
                <a:latin typeface="Poppins"/>
                <a:cs typeface="Poppins"/>
              </a:rPr>
              <a:t> recordings remain near 0.99 over the tested 2–60 s window sizes, whereas motorboat TiB progressively falls and fluctuates, reaching roughly 0.60–0.70 at longer windows. </a:t>
            </a:r>
            <a:r>
              <a:rPr sz="3200" b="1" dirty="0">
                <a:solidFill>
                  <a:srgbClr val="737373"/>
                </a:solidFill>
                <a:latin typeface="Poppins"/>
                <a:cs typeface="Poppins"/>
              </a:rPr>
              <a:t>Entropy </a:t>
            </a:r>
            <a:r>
              <a:rPr sz="3200" dirty="0">
                <a:solidFill>
                  <a:srgbClr val="737373"/>
                </a:solidFill>
                <a:latin typeface="Poppins"/>
                <a:cs typeface="Poppins"/>
              </a:rPr>
              <a:t>stability also differs systematically, indicating different degrees of spectral organization and persistence.</a:t>
            </a:r>
          </a:p>
        </p:txBody>
      </p:sp>
      <p:sp>
        <p:nvSpPr>
          <p:cNvPr id="115" name="TextBox 114"/>
          <p:cNvSpPr txBox="1"/>
          <p:nvPr/>
        </p:nvSpPr>
        <p:spPr>
          <a:xfrm>
            <a:off x="11205479" y="24931737"/>
            <a:ext cx="5989320" cy="945195"/>
          </a:xfrm>
          <a:prstGeom prst="rect">
            <a:avLst/>
          </a:prstGeom>
          <a:noFill/>
        </p:spPr>
        <p:txBody>
          <a:bodyPr wrap="square">
            <a:spAutoFit/>
          </a:bodyPr>
          <a:lstStyle/>
          <a:p>
            <a:pPr>
              <a:lnSpc>
                <a:spcPts val="7559"/>
              </a:lnSpc>
            </a:pPr>
            <a:r>
              <a:rPr sz="3600" b="1" dirty="0">
                <a:solidFill>
                  <a:srgbClr val="0D1D52"/>
                </a:solidFill>
                <a:latin typeface="Poppins Semi-Bold"/>
              </a:rPr>
              <a:t>Macro-lobe segmentation</a:t>
            </a:r>
          </a:p>
        </p:txBody>
      </p:sp>
      <p:sp>
        <p:nvSpPr>
          <p:cNvPr id="116" name="TextBox 115"/>
          <p:cNvSpPr txBox="1"/>
          <p:nvPr/>
        </p:nvSpPr>
        <p:spPr>
          <a:xfrm>
            <a:off x="11205479" y="25876627"/>
            <a:ext cx="8911069" cy="3046988"/>
          </a:xfrm>
          <a:prstGeom prst="rect">
            <a:avLst/>
          </a:prstGeom>
          <a:noFill/>
        </p:spPr>
        <p:txBody>
          <a:bodyPr wrap="square">
            <a:spAutoFit/>
          </a:bodyPr>
          <a:lstStyle/>
          <a:p>
            <a:pPr algn="just"/>
            <a:r>
              <a:rPr lang="en-US" sz="3200" dirty="0">
                <a:solidFill>
                  <a:srgbClr val="737373"/>
                </a:solidFill>
                <a:latin typeface="Poppins"/>
                <a:cs typeface="Poppins"/>
              </a:rPr>
              <a:t>The segmentation stage isolates physically meaningful candidate bands before feature extraction. The </a:t>
            </a:r>
            <a:r>
              <a:rPr lang="en-US" sz="3200" b="1" dirty="0">
                <a:solidFill>
                  <a:srgbClr val="737373"/>
                </a:solidFill>
                <a:latin typeface="Poppins"/>
                <a:cs typeface="Poppins"/>
              </a:rPr>
              <a:t>motorboat</a:t>
            </a:r>
            <a:r>
              <a:rPr lang="en-US" sz="3200" dirty="0">
                <a:solidFill>
                  <a:srgbClr val="737373"/>
                </a:solidFill>
                <a:latin typeface="Poppins"/>
                <a:cs typeface="Poppins"/>
              </a:rPr>
              <a:t> dominant lobe spans 550.2–767.0 Hz and accounts for 33.5% of the displayed segmentation measure and the </a:t>
            </a:r>
            <a:r>
              <a:rPr lang="en-US" sz="3200" b="1" dirty="0">
                <a:solidFill>
                  <a:srgbClr val="737373"/>
                </a:solidFill>
                <a:latin typeface="Poppins"/>
                <a:cs typeface="Poppins"/>
              </a:rPr>
              <a:t>DPV </a:t>
            </a:r>
            <a:r>
              <a:rPr lang="en-US" sz="3200" dirty="0">
                <a:solidFill>
                  <a:srgbClr val="737373"/>
                </a:solidFill>
                <a:latin typeface="Poppins"/>
                <a:cs typeface="Poppins"/>
              </a:rPr>
              <a:t>dominant lobe is 810.8–872.0 Hz (23.7%). </a:t>
            </a:r>
            <a:endParaRPr sz="3200" dirty="0">
              <a:solidFill>
                <a:srgbClr val="737373"/>
              </a:solidFill>
              <a:latin typeface="Poppins"/>
              <a:cs typeface="Poppins"/>
            </a:endParaRPr>
          </a:p>
        </p:txBody>
      </p:sp>
      <p:sp>
        <p:nvSpPr>
          <p:cNvPr id="117" name="TextBox 116"/>
          <p:cNvSpPr txBox="1"/>
          <p:nvPr/>
        </p:nvSpPr>
        <p:spPr>
          <a:xfrm>
            <a:off x="20742566" y="22195215"/>
            <a:ext cx="9126068" cy="6494085"/>
          </a:xfrm>
          <a:prstGeom prst="rect">
            <a:avLst/>
          </a:prstGeom>
          <a:noFill/>
        </p:spPr>
        <p:txBody>
          <a:bodyPr wrap="square">
            <a:spAutoFit/>
          </a:bodyPr>
          <a:lstStyle/>
          <a:p>
            <a:pPr algn="just"/>
            <a:r>
              <a:rPr sz="3200" b="1" dirty="0">
                <a:solidFill>
                  <a:srgbClr val="737373"/>
                </a:solidFill>
                <a:latin typeface="Poppins"/>
                <a:cs typeface="Poppins"/>
              </a:rPr>
              <a:t>Overall interpretation</a:t>
            </a:r>
            <a:r>
              <a:rPr sz="3200" dirty="0">
                <a:solidFill>
                  <a:srgbClr val="737373"/>
                </a:solidFill>
                <a:latin typeface="Poppins"/>
                <a:cs typeface="Poppins"/>
              </a:rPr>
              <a:t>: the three analyses agree with the proposed propagation model. The surface motorboat is characterized by wider spectral occupancy and decreasing temporal persistence, signatures expected from source heave plus dynamic surface micro-multipath</a:t>
            </a:r>
            <a:r>
              <a:rPr lang="en-US" sz="3200" dirty="0">
                <a:solidFill>
                  <a:srgbClr val="737373"/>
                </a:solidFill>
                <a:latin typeface="Poppins"/>
                <a:cs typeface="Poppins"/>
              </a:rPr>
              <a:t> while the </a:t>
            </a:r>
            <a:r>
              <a:rPr sz="3200" dirty="0">
                <a:solidFill>
                  <a:srgbClr val="737373"/>
                </a:solidFill>
                <a:latin typeface="Poppins"/>
                <a:cs typeface="Poppins"/>
              </a:rPr>
              <a:t>submerged </a:t>
            </a:r>
            <a:r>
              <a:rPr lang="en-US" sz="3200" dirty="0">
                <a:solidFill>
                  <a:srgbClr val="737373"/>
                </a:solidFill>
                <a:latin typeface="Poppins"/>
                <a:cs typeface="Poppins"/>
              </a:rPr>
              <a:t>DPV</a:t>
            </a:r>
            <a:r>
              <a:rPr sz="3200" dirty="0">
                <a:solidFill>
                  <a:srgbClr val="737373"/>
                </a:solidFill>
                <a:latin typeface="Poppins"/>
                <a:cs typeface="Poppins"/>
              </a:rPr>
              <a:t> recordings maintain compact dominant bands and near-unity TiB stability. This suggests that bandwidth expansion and temporal stability are useful complementary, physics-grounded inputs to the final depth classifier. These plots demonstrate feature separation for the available recordings.</a:t>
            </a:r>
          </a:p>
        </p:txBody>
      </p:sp>
      <p:pic>
        <p:nvPicPr>
          <p:cNvPr id="43" name="Picture 42">
            <a:extLst>
              <a:ext uri="{FF2B5EF4-FFF2-40B4-BE49-F238E27FC236}">
                <a16:creationId xmlns:a16="http://schemas.microsoft.com/office/drawing/2014/main" id="{BAE9404D-8F1E-A2AA-C805-21D8C59A937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466662" y="20473584"/>
            <a:ext cx="8911069" cy="4059798"/>
          </a:xfrm>
          <a:prstGeom prst="rect">
            <a:avLst/>
          </a:prstGeom>
        </p:spPr>
      </p:pic>
      <p:pic>
        <p:nvPicPr>
          <p:cNvPr id="64" name="Picture 63">
            <a:extLst>
              <a:ext uri="{FF2B5EF4-FFF2-40B4-BE49-F238E27FC236}">
                <a16:creationId xmlns:a16="http://schemas.microsoft.com/office/drawing/2014/main" id="{FBA5328B-9B9F-BB04-7607-DFDBD973F80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0941830" y="9080384"/>
            <a:ext cx="8845836" cy="3081010"/>
          </a:xfrm>
          <a:prstGeom prst="rect">
            <a:avLst/>
          </a:prstGeom>
        </p:spPr>
      </p:pic>
      <p:pic>
        <p:nvPicPr>
          <p:cNvPr id="66" name="Picture 65">
            <a:extLst>
              <a:ext uri="{FF2B5EF4-FFF2-40B4-BE49-F238E27FC236}">
                <a16:creationId xmlns:a16="http://schemas.microsoft.com/office/drawing/2014/main" id="{36B79516-5D20-D5EF-CADA-94BADFB6E10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0874976" y="18750852"/>
            <a:ext cx="8918697" cy="3373818"/>
          </a:xfrm>
          <a:prstGeom prst="rect">
            <a:avLst/>
          </a:prstGeom>
        </p:spPr>
      </p:pic>
      <p:pic>
        <p:nvPicPr>
          <p:cNvPr id="22" name="Picture 21">
            <a:extLst>
              <a:ext uri="{FF2B5EF4-FFF2-40B4-BE49-F238E27FC236}">
                <a16:creationId xmlns:a16="http://schemas.microsoft.com/office/drawing/2014/main" id="{6E26D725-D363-338D-A525-2D18ACE862E0}"/>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1604798" y="12305562"/>
            <a:ext cx="8062260" cy="3607727"/>
          </a:xfrm>
          <a:prstGeom prst="rect">
            <a:avLst/>
          </a:prstGeom>
        </p:spPr>
      </p:pic>
      <p:sp>
        <p:nvSpPr>
          <p:cNvPr id="76" name="TextBox 75">
            <a:extLst>
              <a:ext uri="{FF2B5EF4-FFF2-40B4-BE49-F238E27FC236}">
                <a16:creationId xmlns:a16="http://schemas.microsoft.com/office/drawing/2014/main" id="{B1BEE1CE-AE78-191D-3455-41D354B1F998}"/>
              </a:ext>
            </a:extLst>
          </p:cNvPr>
          <p:cNvSpPr txBox="1"/>
          <p:nvPr/>
        </p:nvSpPr>
        <p:spPr>
          <a:xfrm>
            <a:off x="20909213" y="5560475"/>
            <a:ext cx="8911069" cy="2062103"/>
          </a:xfrm>
          <a:prstGeom prst="rect">
            <a:avLst/>
          </a:prstGeom>
          <a:noFill/>
        </p:spPr>
        <p:txBody>
          <a:bodyPr wrap="square">
            <a:spAutoFit/>
          </a:bodyPr>
          <a:lstStyle/>
          <a:p>
            <a:pPr algn="just"/>
            <a:r>
              <a:rPr sz="3200" dirty="0">
                <a:solidFill>
                  <a:srgbClr val="737373"/>
                </a:solidFill>
                <a:latin typeface="Poppins"/>
                <a:cs typeface="Poppins"/>
              </a:rPr>
              <a:t>These automatically selected bands focus subsequent bandwidth and stability calculations on source-related tonal structure rather than the full spectrum.</a:t>
            </a:r>
          </a:p>
        </p:txBody>
      </p:sp>
    </p:spTree>
    <p:extLst>
      <p:ext uri="{BB962C8B-B14F-4D97-AF65-F5344CB8AC3E}">
        <p14:creationId xmlns:p14="http://schemas.microsoft.com/office/powerpoint/2010/main" val="1372119271"/>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67FBB1CA5B52B840B0EA7D6F7B6C204C" ma:contentTypeVersion="22" ma:contentTypeDescription="Create a new document." ma:contentTypeScope="" ma:versionID="ed2b06ac119a6c8319114f9f4fa72c4e">
  <xsd:schema xmlns:xsd="http://www.w3.org/2001/XMLSchema" xmlns:xs="http://www.w3.org/2001/XMLSchema" xmlns:p="http://schemas.microsoft.com/office/2006/metadata/properties" xmlns:ns2="366ff23c-68b8-4ad8-a6f0-ffe85b956f92" xmlns:ns3="ee347680-3277-4f02-8197-a596dc09f6cb" targetNamespace="http://schemas.microsoft.com/office/2006/metadata/properties" ma:root="true" ma:fieldsID="2e5abf7ae9e78a3b5bebe70b54ff6eb8" ns2:_="" ns3:_="">
    <xsd:import namespace="366ff23c-68b8-4ad8-a6f0-ffe85b956f92"/>
    <xsd:import namespace="ee347680-3277-4f02-8197-a596dc09f6cb"/>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ServiceOCR" minOccurs="0"/>
                <xsd:element ref="ns2:MediaServiceLocation" minOccurs="0"/>
                <xsd:element ref="ns3:SharedWithUsers" minOccurs="0"/>
                <xsd:element ref="ns3:SharedWithDetails" minOccurs="0"/>
                <xsd:element ref="ns2:MediaServiceGenerationTime" minOccurs="0"/>
                <xsd:element ref="ns2:MediaServiceEventHashCode" minOccurs="0"/>
                <xsd:element ref="ns2:MediaServiceAutoKeyPoints" minOccurs="0"/>
                <xsd:element ref="ns2:MediaServiceKeyPoints" minOccurs="0"/>
                <xsd:element ref="ns2:Size" minOccurs="0"/>
                <xsd:element ref="ns2:MediaLengthInSeconds" minOccurs="0"/>
                <xsd:element ref="ns3:TaxCatchAll" minOccurs="0"/>
                <xsd:element ref="ns2:lcf76f155ced4ddcb4097134ff3c332f"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66ff23c-68b8-4ad8-a6f0-ffe85b956f9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MediaServiceAutoTags" ma:internalName="MediaServiceAutoTags" ma:readOnly="true">
      <xsd:simpleType>
        <xsd:restriction base="dms:Text"/>
      </xsd:simpleType>
    </xsd:element>
    <xsd:element name="MediaServiceOCR" ma:index="12" nillable="true" ma:displayName="MediaServiceOCR" ma:internalName="MediaServiceOCR" ma:readOnly="true">
      <xsd:simpleType>
        <xsd:restriction base="dms:Note">
          <xsd:maxLength value="255"/>
        </xsd:restriction>
      </xsd:simpleType>
    </xsd:element>
    <xsd:element name="MediaServiceLocation" ma:index="13" nillable="true" ma:displayName="Location" ma:internalName="MediaServiceLocatio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Size" ma:index="20" nillable="true" ma:displayName="Size" ma:internalName="Size">
      <xsd:simpleType>
        <xsd:restriction base="dms:Number"/>
      </xsd:simpleType>
    </xsd:element>
    <xsd:element name="MediaLengthInSeconds" ma:index="21" nillable="true" ma:displayName="Length (seconds)" ma:internalName="MediaLengthInSeconds" ma:readOnly="true">
      <xsd:simpleType>
        <xsd:restriction base="dms:Unknown"/>
      </xsd:simpleType>
    </xsd:element>
    <xsd:element name="lcf76f155ced4ddcb4097134ff3c332f" ma:index="24" nillable="true" ma:taxonomy="true" ma:internalName="lcf76f155ced4ddcb4097134ff3c332f" ma:taxonomyFieldName="MediaServiceImageTags" ma:displayName="Image Tags" ma:readOnly="false" ma:fieldId="{5cf76f15-5ced-4ddc-b409-7134ff3c332f}" ma:taxonomyMulti="true" ma:sspId="6d51dc5d-6cba-4748-b546-1c911b97607f"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5"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6" nillable="true" ma:displayName="MediaServiceSearchProperties" ma:hidden="true" ma:internalName="MediaServiceSearchProperties" ma:readOnly="true">
      <xsd:simpleType>
        <xsd:restriction base="dms:Note"/>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ee347680-3277-4f02-8197-a596dc09f6cb"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011fd385-1916-4391-8fea-99ea66202781}" ma:internalName="TaxCatchAll" ma:showField="CatchAllData" ma:web="ee347680-3277-4f02-8197-a596dc09f6cb">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366ff23c-68b8-4ad8-a6f0-ffe85b956f92">
      <Terms xmlns="http://schemas.microsoft.com/office/infopath/2007/PartnerControls"/>
    </lcf76f155ced4ddcb4097134ff3c332f>
    <Size xmlns="366ff23c-68b8-4ad8-a6f0-ffe85b956f92" xsi:nil="true"/>
    <TaxCatchAll xmlns="ee347680-3277-4f02-8197-a596dc09f6cb" xsi:nil="true"/>
  </documentManagement>
</p:properties>
</file>

<file path=customXml/itemProps1.xml><?xml version="1.0" encoding="utf-8"?>
<ds:datastoreItem xmlns:ds="http://schemas.openxmlformats.org/officeDocument/2006/customXml" ds:itemID="{1EF6F4E9-F06E-4216-9E57-C9DD7A23E9CE}">
  <ds:schemaRefs>
    <ds:schemaRef ds:uri="http://schemas.microsoft.com/sharepoint/v3/contenttype/forms"/>
  </ds:schemaRefs>
</ds:datastoreItem>
</file>

<file path=customXml/itemProps2.xml><?xml version="1.0" encoding="utf-8"?>
<ds:datastoreItem xmlns:ds="http://schemas.openxmlformats.org/officeDocument/2006/customXml" ds:itemID="{2BE57F0F-C0CD-4805-AF50-9B703C20E18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66ff23c-68b8-4ad8-a6f0-ffe85b956f92"/>
    <ds:schemaRef ds:uri="ee347680-3277-4f02-8197-a596dc09f6c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874EC294-F82B-4370-969E-F01216E43FC5}">
  <ds:schemaRefs>
    <ds:schemaRef ds:uri="http://schemas.microsoft.com/office/2006/metadata/properties"/>
    <ds:schemaRef ds:uri="http://schemas.microsoft.com/office/infopath/2007/PartnerControls"/>
    <ds:schemaRef ds:uri="366ff23c-68b8-4ad8-a6f0-ffe85b956f92"/>
    <ds:schemaRef ds:uri="ee347680-3277-4f02-8197-a596dc09f6cb"/>
  </ds:schemaRefs>
</ds:datastoreItem>
</file>

<file path=docProps/app.xml><?xml version="1.0" encoding="utf-8"?>
<Properties xmlns="http://schemas.openxmlformats.org/officeDocument/2006/extended-properties" xmlns:vt="http://schemas.openxmlformats.org/officeDocument/2006/docPropsVTypes">
  <Template>Office Theme</Template>
  <TotalTime>5106</TotalTime>
  <Words>1155</Words>
  <Application>Microsoft Office PowerPoint</Application>
  <PresentationFormat>Custom</PresentationFormat>
  <Paragraphs>57</Paragraphs>
  <Slides>1</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vt:i4>
      </vt:variant>
    </vt:vector>
  </HeadingPairs>
  <TitlesOfParts>
    <vt:vector size="10" baseType="lpstr">
      <vt:lpstr>Aptos</vt:lpstr>
      <vt:lpstr>Aptos Display</vt:lpstr>
      <vt:lpstr>Arial</vt:lpstr>
      <vt:lpstr>Neue Einstellung Medium</vt:lpstr>
      <vt:lpstr>Poppins</vt:lpstr>
      <vt:lpstr>Poppins Italics</vt:lpstr>
      <vt:lpstr>Poppins SemiBold</vt:lpstr>
      <vt:lpstr>Poppins Semi-Bold</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רועי מיכאל</dc:creator>
  <cp:lastModifiedBy>רועי מיכאל</cp:lastModifiedBy>
  <cp:revision>25</cp:revision>
  <dcterms:created xsi:type="dcterms:W3CDTF">2026-09-20T10:23:34Z</dcterms:created>
  <dcterms:modified xsi:type="dcterms:W3CDTF">2026-09-22T12:53:32Z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0x01010067FBB1CA5B52B840B0EA7D6F7B6C204C</vt:lpwstr>
  </property>
</Properties>
</file>