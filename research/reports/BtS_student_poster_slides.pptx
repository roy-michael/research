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</p:sldIdLst>
  <p:sldSz cx="512064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3CA0DA-D741-40E3-81FC-008E5FCDD9D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F8E"/>
    <a:srgbClr val="00B29F"/>
    <a:srgbClr val="00B23B"/>
    <a:srgbClr val="D3E3EF"/>
    <a:srgbClr val="00A993"/>
    <a:srgbClr val="00B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5157" autoAdjust="0"/>
  </p:normalViewPr>
  <p:slideViewPr>
    <p:cSldViewPr snapToGrid="0">
      <p:cViewPr>
        <p:scale>
          <a:sx n="25" d="100"/>
          <a:sy n="25" d="100"/>
        </p:scale>
        <p:origin x="211" y="-3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404384-910E-4E12-A7CC-CF8A590B0B70}" type="doc">
      <dgm:prSet loTypeId="urn:microsoft.com/office/officeart/2005/8/layout/chevronAccent+Icon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26DFD3D5-B82E-473B-A7AA-7825F9EDDDC9}">
      <dgm:prSet custT="1"/>
      <dgm:spPr/>
      <dgm:t>
        <a:bodyPr/>
        <a:lstStyle/>
        <a:p>
          <a:pPr algn="l"/>
          <a:r>
            <a:rPr lang="en-US" sz="6000" b="1" dirty="0"/>
            <a:t>Signal Ingestion </a:t>
          </a:r>
        </a:p>
      </dgm:t>
    </dgm:pt>
    <dgm:pt modelId="{0F69CF1D-533A-41BB-944D-6F719645DC9B}" type="parTrans" cxnId="{B162334E-5C84-477E-A4D2-E253D854DDD3}">
      <dgm:prSet/>
      <dgm:spPr/>
      <dgm:t>
        <a:bodyPr/>
        <a:lstStyle/>
        <a:p>
          <a:endParaRPr lang="en-US"/>
        </a:p>
      </dgm:t>
    </dgm:pt>
    <dgm:pt modelId="{131A03F6-3957-4F57-B548-B48C1ED9CCF7}" type="sibTrans" cxnId="{B162334E-5C84-477E-A4D2-E253D854DDD3}">
      <dgm:prSet/>
      <dgm:spPr/>
      <dgm:t>
        <a:bodyPr/>
        <a:lstStyle/>
        <a:p>
          <a:endParaRPr lang="en-US"/>
        </a:p>
      </dgm:t>
    </dgm:pt>
    <dgm:pt modelId="{212582AE-B612-4F83-9FA4-5D731E45A87C}">
      <dgm:prSet custT="1"/>
      <dgm:spPr/>
      <dgm:t>
        <a:bodyPr/>
        <a:lstStyle/>
        <a:p>
          <a:pPr algn="l"/>
          <a:r>
            <a:rPr lang="en-US" sz="6000" b="1" dirty="0"/>
            <a:t>Estimation Matrix</a:t>
          </a:r>
        </a:p>
      </dgm:t>
    </dgm:pt>
    <dgm:pt modelId="{B037EBDF-5096-496B-A117-3DB7165EB0F5}" type="parTrans" cxnId="{A97436E4-0A65-4024-B856-3D832504DB8A}">
      <dgm:prSet/>
      <dgm:spPr/>
      <dgm:t>
        <a:bodyPr/>
        <a:lstStyle/>
        <a:p>
          <a:endParaRPr lang="en-US"/>
        </a:p>
      </dgm:t>
    </dgm:pt>
    <dgm:pt modelId="{A340B067-88E4-4002-BD35-420A78510667}" type="sibTrans" cxnId="{A97436E4-0A65-4024-B856-3D832504DB8A}">
      <dgm:prSet/>
      <dgm:spPr/>
      <dgm:t>
        <a:bodyPr/>
        <a:lstStyle/>
        <a:p>
          <a:endParaRPr lang="en-US"/>
        </a:p>
      </dgm:t>
    </dgm:pt>
    <dgm:pt modelId="{73D5061B-6698-41CF-BCE4-C80D7316D945}">
      <dgm:prSet custT="1"/>
      <dgm:spPr/>
      <dgm:t>
        <a:bodyPr/>
        <a:lstStyle/>
        <a:p>
          <a:pPr algn="l" rtl="0" eaLnBrk="1" latinLnBrk="0"/>
          <a:r>
            <a:rPr lang="en-US" sz="6000" b="1" dirty="0"/>
            <a:t>Feature Extraction</a:t>
          </a:r>
        </a:p>
      </dgm:t>
    </dgm:pt>
    <dgm:pt modelId="{5AFAC292-1D16-4051-9B3A-0FB67B747EED}" type="parTrans" cxnId="{BC8B9AC9-5936-4C01-B2DD-43FA9B074158}">
      <dgm:prSet/>
      <dgm:spPr/>
      <dgm:t>
        <a:bodyPr/>
        <a:lstStyle/>
        <a:p>
          <a:endParaRPr lang="en-US"/>
        </a:p>
      </dgm:t>
    </dgm:pt>
    <dgm:pt modelId="{A779D731-85EB-4F95-82AB-B02C1F293861}" type="sibTrans" cxnId="{BC8B9AC9-5936-4C01-B2DD-43FA9B074158}">
      <dgm:prSet/>
      <dgm:spPr/>
      <dgm:t>
        <a:bodyPr/>
        <a:lstStyle/>
        <a:p>
          <a:endParaRPr lang="en-US"/>
        </a:p>
      </dgm:t>
    </dgm:pt>
    <dgm:pt modelId="{BF09043C-4E04-4743-B4CF-39115AD2A2EC}">
      <dgm:prSet custT="1"/>
      <dgm:spPr/>
      <dgm:t>
        <a:bodyPr/>
        <a:lstStyle/>
        <a:p>
          <a:pPr algn="l"/>
          <a:r>
            <a:rPr lang="en-US" sz="6000" b="1" dirty="0"/>
            <a:t>Classification</a:t>
          </a:r>
        </a:p>
      </dgm:t>
    </dgm:pt>
    <dgm:pt modelId="{8DF51FBC-A76C-4D3B-8305-52B1DD7B2240}" type="parTrans" cxnId="{312303F7-4BCF-4AD3-936C-5ED2C4825859}">
      <dgm:prSet/>
      <dgm:spPr/>
      <dgm:t>
        <a:bodyPr/>
        <a:lstStyle/>
        <a:p>
          <a:endParaRPr lang="en-US"/>
        </a:p>
      </dgm:t>
    </dgm:pt>
    <dgm:pt modelId="{9C89353F-8CC3-45E8-A71C-E7642D657571}" type="sibTrans" cxnId="{312303F7-4BCF-4AD3-936C-5ED2C4825859}">
      <dgm:prSet/>
      <dgm:spPr/>
      <dgm:t>
        <a:bodyPr/>
        <a:lstStyle/>
        <a:p>
          <a:endParaRPr lang="en-US"/>
        </a:p>
      </dgm:t>
    </dgm:pt>
    <dgm:pt modelId="{CE4D7BDD-DC4E-4A5F-A7F9-8EEC0DD66EF1}" type="pres">
      <dgm:prSet presAssocID="{62404384-910E-4E12-A7CC-CF8A590B0B70}" presName="Name0" presStyleCnt="0">
        <dgm:presLayoutVars>
          <dgm:dir/>
          <dgm:resizeHandles val="exact"/>
        </dgm:presLayoutVars>
      </dgm:prSet>
      <dgm:spPr/>
    </dgm:pt>
    <dgm:pt modelId="{093FFC7F-19FE-4DF4-83F4-5F893580BB98}" type="pres">
      <dgm:prSet presAssocID="{26DFD3D5-B82E-473B-A7AA-7825F9EDDDC9}" presName="composite" presStyleCnt="0"/>
      <dgm:spPr/>
    </dgm:pt>
    <dgm:pt modelId="{64D3BD77-2E8D-4ACB-B037-B68BB870413E}" type="pres">
      <dgm:prSet presAssocID="{26DFD3D5-B82E-473B-A7AA-7825F9EDDDC9}" presName="bgChev" presStyleLbl="node1" presStyleIdx="0" presStyleCnt="4"/>
      <dgm:spPr/>
    </dgm:pt>
    <dgm:pt modelId="{B23ABE36-295D-4ED2-A1C3-936B461D7F13}" type="pres">
      <dgm:prSet presAssocID="{26DFD3D5-B82E-473B-A7AA-7825F9EDDDC9}" presName="txNode" presStyleLbl="fgAcc1" presStyleIdx="0" presStyleCnt="4">
        <dgm:presLayoutVars>
          <dgm:bulletEnabled val="1"/>
        </dgm:presLayoutVars>
      </dgm:prSet>
      <dgm:spPr/>
    </dgm:pt>
    <dgm:pt modelId="{6E7F21C4-9FED-4317-A3B5-1B60758A1E38}" type="pres">
      <dgm:prSet presAssocID="{131A03F6-3957-4F57-B548-B48C1ED9CCF7}" presName="compositeSpace" presStyleCnt="0"/>
      <dgm:spPr/>
    </dgm:pt>
    <dgm:pt modelId="{E9612FB9-C2E7-48E7-B37E-74ABE95CBFBF}" type="pres">
      <dgm:prSet presAssocID="{212582AE-B612-4F83-9FA4-5D731E45A87C}" presName="composite" presStyleCnt="0"/>
      <dgm:spPr/>
    </dgm:pt>
    <dgm:pt modelId="{B26F2705-56C7-47CC-B74C-CAC4E56B2D4A}" type="pres">
      <dgm:prSet presAssocID="{212582AE-B612-4F83-9FA4-5D731E45A87C}" presName="bgChev" presStyleLbl="node1" presStyleIdx="1" presStyleCnt="4"/>
      <dgm:spPr/>
    </dgm:pt>
    <dgm:pt modelId="{CCE706E9-86D1-4F51-9C4C-BFAD3EE1B0E3}" type="pres">
      <dgm:prSet presAssocID="{212582AE-B612-4F83-9FA4-5D731E45A87C}" presName="txNode" presStyleLbl="fgAcc1" presStyleIdx="1" presStyleCnt="4">
        <dgm:presLayoutVars>
          <dgm:bulletEnabled val="1"/>
        </dgm:presLayoutVars>
      </dgm:prSet>
      <dgm:spPr/>
    </dgm:pt>
    <dgm:pt modelId="{53835B33-A5D5-47C4-AFE4-1F575BC2417D}" type="pres">
      <dgm:prSet presAssocID="{A340B067-88E4-4002-BD35-420A78510667}" presName="compositeSpace" presStyleCnt="0"/>
      <dgm:spPr/>
    </dgm:pt>
    <dgm:pt modelId="{4710D575-1A6B-4C4E-8068-DB93D0A73BBE}" type="pres">
      <dgm:prSet presAssocID="{73D5061B-6698-41CF-BCE4-C80D7316D945}" presName="composite" presStyleCnt="0"/>
      <dgm:spPr/>
    </dgm:pt>
    <dgm:pt modelId="{99DE828F-6864-41E4-A5C4-05E8046630B5}" type="pres">
      <dgm:prSet presAssocID="{73D5061B-6698-41CF-BCE4-C80D7316D945}" presName="bgChev" presStyleLbl="node1" presStyleIdx="2" presStyleCnt="4" custLinFactNeighborX="-13"/>
      <dgm:spPr/>
    </dgm:pt>
    <dgm:pt modelId="{9A579A99-7A25-402D-BE69-F98C11EEABFA}" type="pres">
      <dgm:prSet presAssocID="{73D5061B-6698-41CF-BCE4-C80D7316D945}" presName="txNode" presStyleLbl="fgAcc1" presStyleIdx="2" presStyleCnt="4">
        <dgm:presLayoutVars>
          <dgm:bulletEnabled val="1"/>
        </dgm:presLayoutVars>
      </dgm:prSet>
      <dgm:spPr/>
    </dgm:pt>
    <dgm:pt modelId="{D82A2208-4DDD-4F84-9A5C-51EA437D9EB6}" type="pres">
      <dgm:prSet presAssocID="{A779D731-85EB-4F95-82AB-B02C1F293861}" presName="compositeSpace" presStyleCnt="0"/>
      <dgm:spPr/>
    </dgm:pt>
    <dgm:pt modelId="{D6DDDCCD-249E-4620-A437-21A7E114492A}" type="pres">
      <dgm:prSet presAssocID="{BF09043C-4E04-4743-B4CF-39115AD2A2EC}" presName="composite" presStyleCnt="0"/>
      <dgm:spPr/>
    </dgm:pt>
    <dgm:pt modelId="{22060C5F-2C50-4568-B6A1-B342590C2F68}" type="pres">
      <dgm:prSet presAssocID="{BF09043C-4E04-4743-B4CF-39115AD2A2EC}" presName="bgChev" presStyleLbl="node1" presStyleIdx="3" presStyleCnt="4"/>
      <dgm:spPr/>
    </dgm:pt>
    <dgm:pt modelId="{F911EE14-0BFD-4600-A0CF-830EA524F342}" type="pres">
      <dgm:prSet presAssocID="{BF09043C-4E04-4743-B4CF-39115AD2A2EC}" presName="txNode" presStyleLbl="fgAcc1" presStyleIdx="3" presStyleCnt="4" custLinFactNeighborX="-7299" custLinFactNeighborY="2082">
        <dgm:presLayoutVars>
          <dgm:bulletEnabled val="1"/>
        </dgm:presLayoutVars>
      </dgm:prSet>
      <dgm:spPr/>
    </dgm:pt>
  </dgm:ptLst>
  <dgm:cxnLst>
    <dgm:cxn modelId="{E9FC1401-DAF8-404A-B8F0-E741EB1D57C0}" type="presOf" srcId="{BF09043C-4E04-4743-B4CF-39115AD2A2EC}" destId="{F911EE14-0BFD-4600-A0CF-830EA524F342}" srcOrd="0" destOrd="0" presId="urn:microsoft.com/office/officeart/2005/8/layout/chevronAccent+Icon"/>
    <dgm:cxn modelId="{3E63A15E-CD61-4652-9D8E-CC3930E7A0B5}" type="presOf" srcId="{212582AE-B612-4F83-9FA4-5D731E45A87C}" destId="{CCE706E9-86D1-4F51-9C4C-BFAD3EE1B0E3}" srcOrd="0" destOrd="0" presId="urn:microsoft.com/office/officeart/2005/8/layout/chevronAccent+Icon"/>
    <dgm:cxn modelId="{B162334E-5C84-477E-A4D2-E253D854DDD3}" srcId="{62404384-910E-4E12-A7CC-CF8A590B0B70}" destId="{26DFD3D5-B82E-473B-A7AA-7825F9EDDDC9}" srcOrd="0" destOrd="0" parTransId="{0F69CF1D-533A-41BB-944D-6F719645DC9B}" sibTransId="{131A03F6-3957-4F57-B548-B48C1ED9CCF7}"/>
    <dgm:cxn modelId="{795CA48D-168C-4DB8-81A3-1195F7540114}" type="presOf" srcId="{26DFD3D5-B82E-473B-A7AA-7825F9EDDDC9}" destId="{B23ABE36-295D-4ED2-A1C3-936B461D7F13}" srcOrd="0" destOrd="0" presId="urn:microsoft.com/office/officeart/2005/8/layout/chevronAccent+Icon"/>
    <dgm:cxn modelId="{59A1F09A-5330-4F93-9090-7F614CD74059}" type="presOf" srcId="{73D5061B-6698-41CF-BCE4-C80D7316D945}" destId="{9A579A99-7A25-402D-BE69-F98C11EEABFA}" srcOrd="0" destOrd="0" presId="urn:microsoft.com/office/officeart/2005/8/layout/chevronAccent+Icon"/>
    <dgm:cxn modelId="{BC8B9AC9-5936-4C01-B2DD-43FA9B074158}" srcId="{62404384-910E-4E12-A7CC-CF8A590B0B70}" destId="{73D5061B-6698-41CF-BCE4-C80D7316D945}" srcOrd="2" destOrd="0" parTransId="{5AFAC292-1D16-4051-9B3A-0FB67B747EED}" sibTransId="{A779D731-85EB-4F95-82AB-B02C1F293861}"/>
    <dgm:cxn modelId="{A97436E4-0A65-4024-B856-3D832504DB8A}" srcId="{62404384-910E-4E12-A7CC-CF8A590B0B70}" destId="{212582AE-B612-4F83-9FA4-5D731E45A87C}" srcOrd="1" destOrd="0" parTransId="{B037EBDF-5096-496B-A117-3DB7165EB0F5}" sibTransId="{A340B067-88E4-4002-BD35-420A78510667}"/>
    <dgm:cxn modelId="{91A9EAF0-EBD4-48DE-94CD-EA815B4E81B1}" type="presOf" srcId="{62404384-910E-4E12-A7CC-CF8A590B0B70}" destId="{CE4D7BDD-DC4E-4A5F-A7F9-8EEC0DD66EF1}" srcOrd="0" destOrd="0" presId="urn:microsoft.com/office/officeart/2005/8/layout/chevronAccent+Icon"/>
    <dgm:cxn modelId="{312303F7-4BCF-4AD3-936C-5ED2C4825859}" srcId="{62404384-910E-4E12-A7CC-CF8A590B0B70}" destId="{BF09043C-4E04-4743-B4CF-39115AD2A2EC}" srcOrd="3" destOrd="0" parTransId="{8DF51FBC-A76C-4D3B-8305-52B1DD7B2240}" sibTransId="{9C89353F-8CC3-45E8-A71C-E7642D657571}"/>
    <dgm:cxn modelId="{C5680033-C149-430E-BF3A-8D5C2E9BB060}" type="presParOf" srcId="{CE4D7BDD-DC4E-4A5F-A7F9-8EEC0DD66EF1}" destId="{093FFC7F-19FE-4DF4-83F4-5F893580BB98}" srcOrd="0" destOrd="0" presId="urn:microsoft.com/office/officeart/2005/8/layout/chevronAccent+Icon"/>
    <dgm:cxn modelId="{BEC18BEA-6D8C-4F5E-816E-9945C7623899}" type="presParOf" srcId="{093FFC7F-19FE-4DF4-83F4-5F893580BB98}" destId="{64D3BD77-2E8D-4ACB-B037-B68BB870413E}" srcOrd="0" destOrd="0" presId="urn:microsoft.com/office/officeart/2005/8/layout/chevronAccent+Icon"/>
    <dgm:cxn modelId="{801BB7E7-0111-4DE0-AE2E-965EF14B327B}" type="presParOf" srcId="{093FFC7F-19FE-4DF4-83F4-5F893580BB98}" destId="{B23ABE36-295D-4ED2-A1C3-936B461D7F13}" srcOrd="1" destOrd="0" presId="urn:microsoft.com/office/officeart/2005/8/layout/chevronAccent+Icon"/>
    <dgm:cxn modelId="{6FDBD790-34AA-4C91-872A-703E45F87BF4}" type="presParOf" srcId="{CE4D7BDD-DC4E-4A5F-A7F9-8EEC0DD66EF1}" destId="{6E7F21C4-9FED-4317-A3B5-1B60758A1E38}" srcOrd="1" destOrd="0" presId="urn:microsoft.com/office/officeart/2005/8/layout/chevronAccent+Icon"/>
    <dgm:cxn modelId="{422147B9-1A54-4554-85FB-46C1AC9F20E8}" type="presParOf" srcId="{CE4D7BDD-DC4E-4A5F-A7F9-8EEC0DD66EF1}" destId="{E9612FB9-C2E7-48E7-B37E-74ABE95CBFBF}" srcOrd="2" destOrd="0" presId="urn:microsoft.com/office/officeart/2005/8/layout/chevronAccent+Icon"/>
    <dgm:cxn modelId="{0B7017C1-677A-4E40-A17C-C404567220B6}" type="presParOf" srcId="{E9612FB9-C2E7-48E7-B37E-74ABE95CBFBF}" destId="{B26F2705-56C7-47CC-B74C-CAC4E56B2D4A}" srcOrd="0" destOrd="0" presId="urn:microsoft.com/office/officeart/2005/8/layout/chevronAccent+Icon"/>
    <dgm:cxn modelId="{1EFFC9E9-F785-4AF7-B155-6CB81461C3DC}" type="presParOf" srcId="{E9612FB9-C2E7-48E7-B37E-74ABE95CBFBF}" destId="{CCE706E9-86D1-4F51-9C4C-BFAD3EE1B0E3}" srcOrd="1" destOrd="0" presId="urn:microsoft.com/office/officeart/2005/8/layout/chevronAccent+Icon"/>
    <dgm:cxn modelId="{CE78A018-6CD7-4075-8947-637067823A59}" type="presParOf" srcId="{CE4D7BDD-DC4E-4A5F-A7F9-8EEC0DD66EF1}" destId="{53835B33-A5D5-47C4-AFE4-1F575BC2417D}" srcOrd="3" destOrd="0" presId="urn:microsoft.com/office/officeart/2005/8/layout/chevronAccent+Icon"/>
    <dgm:cxn modelId="{6AFBFC50-331E-43B1-A8F6-44EB56E84D68}" type="presParOf" srcId="{CE4D7BDD-DC4E-4A5F-A7F9-8EEC0DD66EF1}" destId="{4710D575-1A6B-4C4E-8068-DB93D0A73BBE}" srcOrd="4" destOrd="0" presId="urn:microsoft.com/office/officeart/2005/8/layout/chevronAccent+Icon"/>
    <dgm:cxn modelId="{3E70E8CD-149E-460D-B6AC-1FD69EDEC714}" type="presParOf" srcId="{4710D575-1A6B-4C4E-8068-DB93D0A73BBE}" destId="{99DE828F-6864-41E4-A5C4-05E8046630B5}" srcOrd="0" destOrd="0" presId="urn:microsoft.com/office/officeart/2005/8/layout/chevronAccent+Icon"/>
    <dgm:cxn modelId="{541339B9-F80F-4B69-8CDD-C411897B129B}" type="presParOf" srcId="{4710D575-1A6B-4C4E-8068-DB93D0A73BBE}" destId="{9A579A99-7A25-402D-BE69-F98C11EEABFA}" srcOrd="1" destOrd="0" presId="urn:microsoft.com/office/officeart/2005/8/layout/chevronAccent+Icon"/>
    <dgm:cxn modelId="{DE131353-2A81-4F4A-9031-9D69261383B0}" type="presParOf" srcId="{CE4D7BDD-DC4E-4A5F-A7F9-8EEC0DD66EF1}" destId="{D82A2208-4DDD-4F84-9A5C-51EA437D9EB6}" srcOrd="5" destOrd="0" presId="urn:microsoft.com/office/officeart/2005/8/layout/chevronAccent+Icon"/>
    <dgm:cxn modelId="{FF9FAFBF-27E7-4CF2-9604-72E942B560FB}" type="presParOf" srcId="{CE4D7BDD-DC4E-4A5F-A7F9-8EEC0DD66EF1}" destId="{D6DDDCCD-249E-4620-A437-21A7E114492A}" srcOrd="6" destOrd="0" presId="urn:microsoft.com/office/officeart/2005/8/layout/chevronAccent+Icon"/>
    <dgm:cxn modelId="{165B2C16-7D2D-4349-9089-1FE171AF7536}" type="presParOf" srcId="{D6DDDCCD-249E-4620-A437-21A7E114492A}" destId="{22060C5F-2C50-4568-B6A1-B342590C2F68}" srcOrd="0" destOrd="0" presId="urn:microsoft.com/office/officeart/2005/8/layout/chevronAccent+Icon"/>
    <dgm:cxn modelId="{ADE14273-2D0B-4690-8D21-509408151D88}" type="presParOf" srcId="{D6DDDCCD-249E-4620-A437-21A7E114492A}" destId="{F911EE14-0BFD-4600-A0CF-830EA524F342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3BD77-2E8D-4ACB-B037-B68BB870413E}">
      <dsp:nvSpPr>
        <dsp:cNvPr id="0" name=""/>
        <dsp:cNvSpPr/>
      </dsp:nvSpPr>
      <dsp:spPr>
        <a:xfrm>
          <a:off x="19798" y="326874"/>
          <a:ext cx="9318711" cy="35970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ABE36-295D-4ED2-A1C3-936B461D7F13}">
      <dsp:nvSpPr>
        <dsp:cNvPr id="0" name=""/>
        <dsp:cNvSpPr/>
      </dsp:nvSpPr>
      <dsp:spPr>
        <a:xfrm>
          <a:off x="2504788" y="1226130"/>
          <a:ext cx="7869134" cy="3597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Signal Ingestion </a:t>
          </a:r>
        </a:p>
      </dsp:txBody>
      <dsp:txXfrm>
        <a:off x="2610141" y="1331483"/>
        <a:ext cx="7658428" cy="3386316"/>
      </dsp:txXfrm>
    </dsp:sp>
    <dsp:sp modelId="{B26F2705-56C7-47CC-B74C-CAC4E56B2D4A}">
      <dsp:nvSpPr>
        <dsp:cNvPr id="0" name=""/>
        <dsp:cNvSpPr/>
      </dsp:nvSpPr>
      <dsp:spPr>
        <a:xfrm>
          <a:off x="10663838" y="326874"/>
          <a:ext cx="9318711" cy="35970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706E9-86D1-4F51-9C4C-BFAD3EE1B0E3}">
      <dsp:nvSpPr>
        <dsp:cNvPr id="0" name=""/>
        <dsp:cNvSpPr/>
      </dsp:nvSpPr>
      <dsp:spPr>
        <a:xfrm>
          <a:off x="13148827" y="1226130"/>
          <a:ext cx="7869134" cy="3597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Estimation Matrix</a:t>
          </a:r>
        </a:p>
      </dsp:txBody>
      <dsp:txXfrm>
        <a:off x="13254180" y="1331483"/>
        <a:ext cx="7658428" cy="3386316"/>
      </dsp:txXfrm>
    </dsp:sp>
    <dsp:sp modelId="{99DE828F-6864-41E4-A5C4-05E8046630B5}">
      <dsp:nvSpPr>
        <dsp:cNvPr id="0" name=""/>
        <dsp:cNvSpPr/>
      </dsp:nvSpPr>
      <dsp:spPr>
        <a:xfrm>
          <a:off x="21306665" y="326874"/>
          <a:ext cx="9318711" cy="35970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579A99-7A25-402D-BE69-F98C11EEABFA}">
      <dsp:nvSpPr>
        <dsp:cNvPr id="0" name=""/>
        <dsp:cNvSpPr/>
      </dsp:nvSpPr>
      <dsp:spPr>
        <a:xfrm>
          <a:off x="23792866" y="1226130"/>
          <a:ext cx="7869134" cy="3597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l" defTabSz="2667000" rtl="0" eaLnBrk="1" latinLnBrk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Feature Extraction</a:t>
          </a:r>
        </a:p>
      </dsp:txBody>
      <dsp:txXfrm>
        <a:off x="23898219" y="1331483"/>
        <a:ext cx="7658428" cy="3386316"/>
      </dsp:txXfrm>
    </dsp:sp>
    <dsp:sp modelId="{22060C5F-2C50-4568-B6A1-B342590C2F68}">
      <dsp:nvSpPr>
        <dsp:cNvPr id="0" name=""/>
        <dsp:cNvSpPr/>
      </dsp:nvSpPr>
      <dsp:spPr>
        <a:xfrm>
          <a:off x="31951916" y="326874"/>
          <a:ext cx="9318711" cy="35970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1EE14-0BFD-4600-A0CF-830EA524F342}">
      <dsp:nvSpPr>
        <dsp:cNvPr id="0" name=""/>
        <dsp:cNvSpPr/>
      </dsp:nvSpPr>
      <dsp:spPr>
        <a:xfrm>
          <a:off x="33862537" y="1301020"/>
          <a:ext cx="7869134" cy="35970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0" tIns="426720" rIns="426720" bIns="42672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kern="1200" dirty="0"/>
            <a:t>Classification</a:t>
          </a:r>
        </a:p>
      </dsp:txBody>
      <dsp:txXfrm>
        <a:off x="33967890" y="1406373"/>
        <a:ext cx="7658428" cy="3386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6285233"/>
            <a:ext cx="43525440" cy="13370560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0171413"/>
            <a:ext cx="38404800" cy="9272267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3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9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9574541"/>
            <a:ext cx="44165520" cy="15975327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25701001"/>
            <a:ext cx="44165520" cy="8401047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82000"/>
                  </a:schemeClr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82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82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0223500"/>
            <a:ext cx="217627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0223500"/>
            <a:ext cx="217627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4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044708"/>
            <a:ext cx="4416552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9414513"/>
            <a:ext cx="21662704" cy="461390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4028420"/>
            <a:ext cx="21662704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9414513"/>
            <a:ext cx="21769390" cy="461390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4028420"/>
            <a:ext cx="21769390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39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6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560320"/>
            <a:ext cx="16515397" cy="896112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529588"/>
            <a:ext cx="25923240" cy="27292300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1521440"/>
            <a:ext cx="16515397" cy="21344893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560320"/>
            <a:ext cx="16515397" cy="896112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529588"/>
            <a:ext cx="25923240" cy="27292300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1521440"/>
            <a:ext cx="16515397" cy="21344893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7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8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044700"/>
            <a:ext cx="11041380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044700"/>
            <a:ext cx="32484060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0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044708"/>
            <a:ext cx="4416552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0223500"/>
            <a:ext cx="4416552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35595568"/>
            <a:ext cx="115214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52A70-1682-4967-8B8E-ED0BCE20DE0B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35595568"/>
            <a:ext cx="172821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5595568"/>
            <a:ext cx="115214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4E698-7E5E-4C45-B3FE-0E5EE17289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0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11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0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9428BD4E-8759-D484-75C7-DB293592FA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4013" y="344412"/>
            <a:ext cx="51206400" cy="4168154"/>
            <a:chOff x="0" y="0"/>
            <a:chExt cx="7689780" cy="661951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18894A4-30B9-72FD-12EA-1754AEF274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E2EE8963-70B6-67CE-AF6A-2633748FC0E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7689780" cy="709576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F47DDF8A-FE7C-22AB-249E-515267B640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845169" y="3925373"/>
            <a:ext cx="14145193" cy="1024300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71FF1953-9D62-3148-1AC0-A1CE1B414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D2349127-8113-FBC8-CCDB-A5F4D33F7A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D32542E1-CFE3-5E9D-088E-76BDF151BE0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2613" y="496097"/>
            <a:ext cx="46861549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241"/>
              </a:lnSpc>
            </a:pPr>
            <a:r>
              <a:rPr lang="en-US" sz="13534" spc="406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Physics-Informed Machine Learning Vessel Depth Classification</a:t>
            </a:r>
          </a:p>
        </p:txBody>
      </p:sp>
      <p:sp>
        <p:nvSpPr>
          <p:cNvPr id="11" name="TextBox 59">
            <a:extLst>
              <a:ext uri="{FF2B5EF4-FFF2-40B4-BE49-F238E27FC236}">
                <a16:creationId xmlns:a16="http://schemas.microsoft.com/office/drawing/2014/main" id="{7F6AA164-033A-585B-BE6A-CCC6CD0FAE06}"/>
              </a:ext>
            </a:extLst>
          </p:cNvPr>
          <p:cNvSpPr txBox="1"/>
          <p:nvPr/>
        </p:nvSpPr>
        <p:spPr>
          <a:xfrm>
            <a:off x="301151" y="2999705"/>
            <a:ext cx="30074243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51"/>
              </a:lnSpc>
            </a:pPr>
            <a:r>
              <a:rPr lang="en-US" sz="7444" i="1" dirty="0">
                <a:solidFill>
                  <a:schemeClr val="bg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Roy Michael - Department of Marine Technologies, Haifa University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DE42E-070B-A561-D7FD-039BA56B44DD}"/>
              </a:ext>
            </a:extLst>
          </p:cNvPr>
          <p:cNvGrpSpPr/>
          <p:nvPr/>
        </p:nvGrpSpPr>
        <p:grpSpPr>
          <a:xfrm>
            <a:off x="489464" y="20470509"/>
            <a:ext cx="50071252" cy="17589879"/>
            <a:chOff x="555508" y="5596954"/>
            <a:chExt cx="17973804" cy="44495177"/>
          </a:xfrm>
        </p:grpSpPr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69A7AC6B-7D17-1BD9-9726-0ACB3AFAE178}"/>
                </a:ext>
              </a:extLst>
            </p:cNvPr>
            <p:cNvSpPr txBox="1"/>
            <p:nvPr/>
          </p:nvSpPr>
          <p:spPr>
            <a:xfrm>
              <a:off x="555508" y="5875664"/>
              <a:ext cx="17973804" cy="44216467"/>
            </a:xfrm>
            <a:prstGeom prst="rect">
              <a:avLst/>
            </a:prstGeom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D83AEE0-06BD-0121-295F-F38E645919D5}"/>
                </a:ext>
              </a:extLst>
            </p:cNvPr>
            <p:cNvGrpSpPr/>
            <p:nvPr/>
          </p:nvGrpSpPr>
          <p:grpSpPr>
            <a:xfrm>
              <a:off x="555508" y="5596954"/>
              <a:ext cx="9894312" cy="3837638"/>
              <a:chOff x="355559" y="14587956"/>
              <a:chExt cx="5848368" cy="2268365"/>
            </a:xfrm>
          </p:grpSpPr>
          <p:grpSp>
            <p:nvGrpSpPr>
              <p:cNvPr id="123" name="Group 24">
                <a:extLst>
                  <a:ext uri="{FF2B5EF4-FFF2-40B4-BE49-F238E27FC236}">
                    <a16:creationId xmlns:a16="http://schemas.microsoft.com/office/drawing/2014/main" id="{E3936F24-3693-2867-7C4A-EB9CBAA1D234}"/>
                  </a:ext>
                </a:extLst>
              </p:cNvPr>
              <p:cNvGrpSpPr/>
              <p:nvPr/>
            </p:nvGrpSpPr>
            <p:grpSpPr>
              <a:xfrm>
                <a:off x="355559" y="14937888"/>
                <a:ext cx="683952" cy="1918433"/>
                <a:chOff x="-612469" y="-883448"/>
                <a:chExt cx="1349069" cy="3784034"/>
              </a:xfrm>
            </p:grpSpPr>
            <p:sp>
              <p:nvSpPr>
                <p:cNvPr id="124" name="Freeform 25">
                  <a:extLst>
                    <a:ext uri="{FF2B5EF4-FFF2-40B4-BE49-F238E27FC236}">
                      <a16:creationId xmlns:a16="http://schemas.microsoft.com/office/drawing/2014/main" id="{A6DA49F6-0BD4-DBEC-DFBA-A970B80F83DB}"/>
                    </a:ext>
                  </a:extLst>
                </p:cNvPr>
                <p:cNvSpPr/>
                <p:nvPr/>
              </p:nvSpPr>
              <p:spPr>
                <a:xfrm>
                  <a:off x="-612469" y="-883448"/>
                  <a:ext cx="563816" cy="3784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3B86B"/>
                </a:solidFill>
              </p:spPr>
              <p:txBody>
                <a:bodyPr/>
                <a:lstStyle/>
                <a:p>
                  <a:endParaRPr lang="en-US" sz="3045"/>
                </a:p>
              </p:txBody>
            </p:sp>
            <p:sp>
              <p:nvSpPr>
                <p:cNvPr id="125" name="TextBox 26">
                  <a:extLst>
                    <a:ext uri="{FF2B5EF4-FFF2-40B4-BE49-F238E27FC236}">
                      <a16:creationId xmlns:a16="http://schemas.microsoft.com/office/drawing/2014/main" id="{237E4A24-2DFC-1547-58CE-38642480FBA8}"/>
                    </a:ext>
                  </a:extLst>
                </p:cNvPr>
                <p:cNvSpPr txBox="1"/>
                <p:nvPr/>
              </p:nvSpPr>
              <p:spPr>
                <a:xfrm>
                  <a:off x="76200" y="-85725"/>
                  <a:ext cx="660400" cy="822325"/>
                </a:xfrm>
                <a:prstGeom prst="rect">
                  <a:avLst/>
                </a:prstGeom>
              </p:spPr>
              <p:txBody>
                <a:bodyPr lIns="85944" tIns="85944" rIns="85944" bIns="85944" rtlCol="0" anchor="ctr"/>
                <a:lstStyle/>
                <a:p>
                  <a:pPr algn="ctr">
                    <a:lnSpc>
                      <a:spcPts val="12788"/>
                    </a:lnSpc>
                  </a:pPr>
                  <a:endParaRPr sz="3045" dirty="0"/>
                </a:p>
              </p:txBody>
            </p:sp>
          </p:grpSp>
          <p:sp>
            <p:nvSpPr>
              <p:cNvPr id="126" name="TextBox 48">
                <a:extLst>
                  <a:ext uri="{FF2B5EF4-FFF2-40B4-BE49-F238E27FC236}">
                    <a16:creationId xmlns:a16="http://schemas.microsoft.com/office/drawing/2014/main" id="{0A98A987-AD53-FFA7-6812-4CF6C52E4913}"/>
                  </a:ext>
                </a:extLst>
              </p:cNvPr>
              <p:cNvSpPr txBox="1"/>
              <p:nvPr/>
            </p:nvSpPr>
            <p:spPr>
              <a:xfrm>
                <a:off x="696756" y="14587956"/>
                <a:ext cx="5507171" cy="91051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12788"/>
                  </a:lnSpc>
                </a:pPr>
                <a:r>
                  <a:rPr lang="en-US" sz="9136" b="1" dirty="0">
                    <a:solidFill>
                      <a:schemeClr val="tx2"/>
                    </a:solidFill>
                    <a:latin typeface="Poppins Semi-Bold"/>
                    <a:cs typeface="Poppins"/>
                  </a:rPr>
                  <a:t>Physical Model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49">
                  <a:extLst>
                    <a:ext uri="{FF2B5EF4-FFF2-40B4-BE49-F238E27FC236}">
                      <a16:creationId xmlns:a16="http://schemas.microsoft.com/office/drawing/2014/main" id="{DB88C22A-586F-EEEC-4AE0-2549FADBFF71}"/>
                    </a:ext>
                  </a:extLst>
                </p:cNvPr>
                <p:cNvSpPr txBox="1"/>
                <p:nvPr/>
              </p:nvSpPr>
              <p:spPr>
                <a:xfrm>
                  <a:off x="555508" y="8576037"/>
                  <a:ext cx="8923755" cy="28054508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US" sz="6600" b="1" dirty="0">
                      <a:solidFill>
                        <a:schemeClr val="tx2"/>
                      </a:solidFill>
                      <a:latin typeface="Poppins"/>
                      <a:cs typeface="Poppins"/>
                    </a:rPr>
                    <a:t>1. Heave-driven FM source</a:t>
                  </a:r>
                  <a:endParaRPr lang="en-US" sz="6600" i="1" dirty="0">
                    <a:solidFill>
                      <a:srgbClr val="737373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66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l-PL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l-PL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func>
                                <m:funcPr>
                                  <m:ctrlPr>
                                    <a:rPr lang="pl-PL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pl-PL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l-PL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l-PL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sub>
                                      </m:sSub>
                                      <m:r>
                                        <a:rPr lang="pl-PL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a14:m>
                  <a:r>
                    <a:rPr lang="en-US" sz="6600" dirty="0">
                      <a:solidFill>
                        <a:srgbClr val="737373"/>
                      </a:solidFill>
                    </a:rPr>
                    <a:t>, 	   </a:t>
                  </a:r>
                  <a14:m>
                    <m:oMath xmlns:m="http://schemas.openxmlformats.org/officeDocument/2006/math">
                      <m:r>
                        <a:rPr lang="en-US" sz="66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66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  <m:sub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endParaRPr lang="en-US" sz="6600" dirty="0">
                    <a:solidFill>
                      <a:srgbClr val="737373"/>
                    </a:solidFill>
                    <a:latin typeface="Poppins"/>
                    <a:cs typeface="Poppins"/>
                  </a:endParaRPr>
                </a:p>
                <a:p>
                  <a:r>
                    <a:rPr lang="en-US" sz="6600" dirty="0">
                      <a:solidFill>
                        <a:srgbClr val="737373"/>
                      </a:solidFill>
                      <a:latin typeface="Poppins"/>
                      <a:cs typeface="Poppins"/>
                    </a:rPr>
                    <a:t>	The resulting tonal is broader and less stable.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US" sz="6600" b="1" dirty="0">
                      <a:solidFill>
                        <a:schemeClr val="tx2"/>
                      </a:solidFill>
                      <a:latin typeface="Poppins"/>
                      <a:cs typeface="Poppins"/>
                    </a:rPr>
                    <a:t>2. Underwater two-path channel</a:t>
                  </a:r>
                  <a:endParaRPr lang="en-US" sz="6600" dirty="0">
                    <a:solidFill>
                      <a:schemeClr val="tx2"/>
                    </a:solidFill>
                    <a:latin typeface="Poppins"/>
                    <a:cs typeface="Poppins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  <m:d>
                          <m:d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6600" dirty="0">
                            <a:solidFill>
                              <a:srgbClr val="73737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𝑑𝑖𝑟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  <m:d>
                          <m:d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𝑑𝑖𝑟</m:t>
                                </m:r>
                              </m:sub>
                            </m:sSub>
                          </m:e>
                        </m:d>
                        <m:r>
                          <a:rPr lang="en-US" sz="6600" dirty="0">
                            <a:solidFill>
                              <a:srgbClr val="73737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𝑠𝑢𝑟𝑓</m:t>
                                </m:r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  <m:d>
                          <m:d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𝑠𝑢𝑟𝑓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6600" i="1" dirty="0">
                    <a:solidFill>
                      <a:srgbClr val="737373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6600" i="1" dirty="0">
                            <a:solidFill>
                              <a:srgbClr val="737373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6600" dirty="0">
                            <a:solidFill>
                              <a:srgbClr val="737373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6600" i="1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unc>
                          <m:funcPr>
                            <m:ctrlP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6600" dirty="0">
                                <a:solidFill>
                                  <a:srgbClr val="737373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6600" i="1" dirty="0">
                                    <a:solidFill>
                                      <a:srgbClr val="73737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f>
                                  <m:fPr>
                                    <m:ctrlPr>
                                      <a:rPr lang="en-US" sz="6600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6600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en-US" sz="6600" i="1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6600" i="1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sz="6600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unc>
                                      <m:funcPr>
                                        <m:ctrlPr>
                                          <a:rPr lang="en-US" sz="6600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6600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6600" i="1" dirty="0">
                                            <a:solidFill>
                                              <a:srgbClr val="73737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func>
                                  </m:e>
                                  <m:sub>
                                    <m:r>
                                      <a:rPr lang="en-US" sz="6600" i="1" dirty="0">
                                        <a:solidFill>
                                          <a:srgbClr val="73737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6600" dirty="0">
                    <a:solidFill>
                      <a:srgbClr val="737373"/>
                    </a:solidFill>
                    <a:latin typeface="Poppins"/>
                    <a:cs typeface="Poppins"/>
                  </a:endParaRPr>
                </a:p>
              </p:txBody>
            </p:sp>
          </mc:Choice>
          <mc:Fallback>
            <p:sp>
              <p:nvSpPr>
                <p:cNvPr id="127" name="TextBox 49">
                  <a:extLst>
                    <a:ext uri="{FF2B5EF4-FFF2-40B4-BE49-F238E27FC236}">
                      <a16:creationId xmlns:a16="http://schemas.microsoft.com/office/drawing/2014/main" id="{DB88C22A-586F-EEEC-4AE0-2549FADBF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508" y="8576037"/>
                  <a:ext cx="8923755" cy="28054508"/>
                </a:xfrm>
                <a:prstGeom prst="rect">
                  <a:avLst/>
                </a:prstGeom>
                <a:blipFill>
                  <a:blip r:embed="rId2"/>
                  <a:stretch>
                    <a:fillRect l="-20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C0B9920-308E-7002-53CD-85E589693F49}"/>
              </a:ext>
            </a:extLst>
          </p:cNvPr>
          <p:cNvGrpSpPr/>
          <p:nvPr/>
        </p:nvGrpSpPr>
        <p:grpSpPr>
          <a:xfrm>
            <a:off x="14013" y="4565405"/>
            <a:ext cx="23703237" cy="16014922"/>
            <a:chOff x="558779" y="-9044071"/>
            <a:chExt cx="18449862" cy="15248106"/>
          </a:xfrm>
        </p:grpSpPr>
        <p:grpSp>
          <p:nvGrpSpPr>
            <p:cNvPr id="137" name="Group 5">
              <a:extLst>
                <a:ext uri="{FF2B5EF4-FFF2-40B4-BE49-F238E27FC236}">
                  <a16:creationId xmlns:a16="http://schemas.microsoft.com/office/drawing/2014/main" id="{99D4F269-618D-7823-F612-F7DED153A966}"/>
                </a:ext>
              </a:extLst>
            </p:cNvPr>
            <p:cNvGrpSpPr/>
            <p:nvPr/>
          </p:nvGrpSpPr>
          <p:grpSpPr>
            <a:xfrm>
              <a:off x="558779" y="-9044071"/>
              <a:ext cx="18449862" cy="15248106"/>
              <a:chOff x="-50609" y="-47625"/>
              <a:chExt cx="1961378" cy="3944774"/>
            </a:xfrm>
          </p:grpSpPr>
          <p:sp>
            <p:nvSpPr>
              <p:cNvPr id="138" name="Freeform 6">
                <a:extLst>
                  <a:ext uri="{FF2B5EF4-FFF2-40B4-BE49-F238E27FC236}">
                    <a16:creationId xmlns:a16="http://schemas.microsoft.com/office/drawing/2014/main" id="{73ADDBB2-B3DF-100B-56D9-B2CBCBFD366B}"/>
                  </a:ext>
                </a:extLst>
              </p:cNvPr>
              <p:cNvSpPr/>
              <p:nvPr/>
            </p:nvSpPr>
            <p:spPr>
              <a:xfrm>
                <a:off x="-50609" y="40805"/>
                <a:ext cx="1910769" cy="3856344"/>
              </a:xfrm>
              <a:custGeom>
                <a:avLst/>
                <a:gdLst/>
                <a:ahLst/>
                <a:cxnLst/>
                <a:rect l="l" t="t" r="r" b="b"/>
                <a:pathLst>
                  <a:path w="1910769" h="3897149">
                    <a:moveTo>
                      <a:pt x="26204" y="0"/>
                    </a:moveTo>
                    <a:lnTo>
                      <a:pt x="1884565" y="0"/>
                    </a:lnTo>
                    <a:cubicBezTo>
                      <a:pt x="1891515" y="0"/>
                      <a:pt x="1898180" y="2761"/>
                      <a:pt x="1903094" y="7675"/>
                    </a:cubicBezTo>
                    <a:cubicBezTo>
                      <a:pt x="1908009" y="12589"/>
                      <a:pt x="1910769" y="19254"/>
                      <a:pt x="1910769" y="26204"/>
                    </a:cubicBezTo>
                    <a:lnTo>
                      <a:pt x="1910769" y="3870945"/>
                    </a:lnTo>
                    <a:cubicBezTo>
                      <a:pt x="1910769" y="3877894"/>
                      <a:pt x="1908009" y="3884560"/>
                      <a:pt x="1903094" y="3889474"/>
                    </a:cubicBezTo>
                    <a:cubicBezTo>
                      <a:pt x="1898180" y="3894388"/>
                      <a:pt x="1891515" y="3897149"/>
                      <a:pt x="1884565" y="3897149"/>
                    </a:cubicBezTo>
                    <a:lnTo>
                      <a:pt x="26204" y="3897149"/>
                    </a:lnTo>
                    <a:cubicBezTo>
                      <a:pt x="19254" y="3897149"/>
                      <a:pt x="12589" y="3894388"/>
                      <a:pt x="7675" y="3889474"/>
                    </a:cubicBezTo>
                    <a:cubicBezTo>
                      <a:pt x="2761" y="3884560"/>
                      <a:pt x="0" y="3877894"/>
                      <a:pt x="0" y="3870945"/>
                    </a:cubicBezTo>
                    <a:lnTo>
                      <a:pt x="0" y="26204"/>
                    </a:lnTo>
                    <a:cubicBezTo>
                      <a:pt x="0" y="19254"/>
                      <a:pt x="2761" y="12589"/>
                      <a:pt x="7675" y="7675"/>
                    </a:cubicBezTo>
                    <a:cubicBezTo>
                      <a:pt x="12589" y="2761"/>
                      <a:pt x="19254" y="0"/>
                      <a:pt x="26204" y="0"/>
                    </a:cubicBezTo>
                    <a:close/>
                  </a:path>
                </a:pathLst>
              </a:custGeom>
              <a:solidFill>
                <a:srgbClr val="EAF0F7"/>
              </a:solidFill>
            </p:spPr>
            <p:txBody>
              <a:bodyPr/>
              <a:lstStyle/>
              <a:p>
                <a:endParaRPr lang="en-US" sz="3045" dirty="0"/>
              </a:p>
            </p:txBody>
          </p:sp>
          <p:sp>
            <p:nvSpPr>
              <p:cNvPr id="139" name="TextBox 7">
                <a:extLst>
                  <a:ext uri="{FF2B5EF4-FFF2-40B4-BE49-F238E27FC236}">
                    <a16:creationId xmlns:a16="http://schemas.microsoft.com/office/drawing/2014/main" id="{3315F425-6642-2ABE-61E4-CAC619970C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769" cy="3944774"/>
              </a:xfrm>
              <a:prstGeom prst="rect">
                <a:avLst/>
              </a:prstGeom>
            </p:spPr>
            <p:txBody>
              <a:bodyPr lIns="42811" tIns="42811" rIns="42811" bIns="42811" rtlCol="0" anchor="ctr"/>
              <a:lstStyle/>
              <a:p>
                <a:pPr algn="ctr">
                  <a:lnSpc>
                    <a:spcPts val="6725"/>
                  </a:lnSpc>
                </a:pPr>
                <a:endParaRPr sz="3045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EBAE3F6-FF86-36C7-8511-5B15551F0036}"/>
                </a:ext>
              </a:extLst>
            </p:cNvPr>
            <p:cNvGrpSpPr/>
            <p:nvPr/>
          </p:nvGrpSpPr>
          <p:grpSpPr>
            <a:xfrm>
              <a:off x="1136139" y="-8822926"/>
              <a:ext cx="9660335" cy="1540423"/>
              <a:chOff x="671553" y="5327101"/>
              <a:chExt cx="5710068" cy="910519"/>
            </a:xfrm>
          </p:grpSpPr>
          <p:grpSp>
            <p:nvGrpSpPr>
              <p:cNvPr id="23" name="Group 24">
                <a:extLst>
                  <a:ext uri="{FF2B5EF4-FFF2-40B4-BE49-F238E27FC236}">
                    <a16:creationId xmlns:a16="http://schemas.microsoft.com/office/drawing/2014/main" id="{B653E9D8-9DF4-53C0-780D-CCE39FF3F8E3}"/>
                  </a:ext>
                </a:extLst>
              </p:cNvPr>
              <p:cNvGrpSpPr/>
              <p:nvPr/>
            </p:nvGrpSpPr>
            <p:grpSpPr>
              <a:xfrm>
                <a:off x="671553" y="5631471"/>
                <a:ext cx="412074" cy="412074"/>
                <a:chOff x="0" y="0"/>
                <a:chExt cx="812800" cy="812800"/>
              </a:xfrm>
            </p:grpSpPr>
            <p:sp>
              <p:nvSpPr>
                <p:cNvPr id="24" name="Freeform 25">
                  <a:extLst>
                    <a:ext uri="{FF2B5EF4-FFF2-40B4-BE49-F238E27FC236}">
                      <a16:creationId xmlns:a16="http://schemas.microsoft.com/office/drawing/2014/main" id="{052F2C4B-4C8C-D535-BF8A-9F31558DE28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3B86B"/>
                </a:solidFill>
              </p:spPr>
              <p:txBody>
                <a:bodyPr/>
                <a:lstStyle/>
                <a:p>
                  <a:endParaRPr lang="en-US" sz="3045"/>
                </a:p>
              </p:txBody>
            </p:sp>
            <p:sp>
              <p:nvSpPr>
                <p:cNvPr id="25" name="TextBox 26">
                  <a:extLst>
                    <a:ext uri="{FF2B5EF4-FFF2-40B4-BE49-F238E27FC236}">
                      <a16:creationId xmlns:a16="http://schemas.microsoft.com/office/drawing/2014/main" id="{F20BDD5A-C08C-AED3-787C-CE8EF08485A4}"/>
                    </a:ext>
                  </a:extLst>
                </p:cNvPr>
                <p:cNvSpPr txBox="1"/>
                <p:nvPr/>
              </p:nvSpPr>
              <p:spPr>
                <a:xfrm>
                  <a:off x="76200" y="-85725"/>
                  <a:ext cx="660400" cy="822325"/>
                </a:xfrm>
                <a:prstGeom prst="rect">
                  <a:avLst/>
                </a:prstGeom>
              </p:spPr>
              <p:txBody>
                <a:bodyPr lIns="85944" tIns="85944" rIns="85944" bIns="85944" rtlCol="0" anchor="ctr"/>
                <a:lstStyle/>
                <a:p>
                  <a:pPr algn="ctr">
                    <a:lnSpc>
                      <a:spcPts val="12788"/>
                    </a:lnSpc>
                  </a:pPr>
                  <a:endParaRPr sz="3045" dirty="0"/>
                </a:p>
              </p:txBody>
            </p:sp>
          </p:grpSp>
          <p:sp>
            <p:nvSpPr>
              <p:cNvPr id="29" name="TextBox 48">
                <a:extLst>
                  <a:ext uri="{FF2B5EF4-FFF2-40B4-BE49-F238E27FC236}">
                    <a16:creationId xmlns:a16="http://schemas.microsoft.com/office/drawing/2014/main" id="{B875FFF8-52FE-5CCB-1BAD-1ED51CC73271}"/>
                  </a:ext>
                </a:extLst>
              </p:cNvPr>
              <p:cNvSpPr txBox="1"/>
              <p:nvPr/>
            </p:nvSpPr>
            <p:spPr>
              <a:xfrm>
                <a:off x="1262654" y="5327101"/>
                <a:ext cx="5118967" cy="91051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2788"/>
                  </a:lnSpc>
                </a:pPr>
                <a:r>
                  <a:rPr lang="en-US" sz="9136" b="1" dirty="0">
                    <a:solidFill>
                      <a:srgbClr val="0D1D52"/>
                    </a:solidFill>
                    <a:latin typeface="Poppins Semi-Bold"/>
                    <a:ea typeface="Poppins Semi-Bold"/>
                    <a:cs typeface="Poppins Semi-Bold"/>
                    <a:sym typeface="Poppins Semi-Bold"/>
                  </a:rPr>
                  <a:t>Background</a:t>
                </a:r>
              </a:p>
            </p:txBody>
          </p:sp>
        </p:grpSp>
        <p:sp>
          <p:nvSpPr>
            <p:cNvPr id="30" name="TextBox 49">
              <a:extLst>
                <a:ext uri="{FF2B5EF4-FFF2-40B4-BE49-F238E27FC236}">
                  <a16:creationId xmlns:a16="http://schemas.microsoft.com/office/drawing/2014/main" id="{D6D7E775-4564-4BB9-4ABB-ED76A6526E99}"/>
                </a:ext>
              </a:extLst>
            </p:cNvPr>
            <p:cNvSpPr txBox="1"/>
            <p:nvPr/>
          </p:nvSpPr>
          <p:spPr>
            <a:xfrm>
              <a:off x="1288474" y="-7276475"/>
              <a:ext cx="16940556" cy="24995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5414" dirty="0">
                  <a:solidFill>
                    <a:srgbClr val="737373"/>
                  </a:solidFill>
                  <a:latin typeface="Poppins"/>
                  <a:cs typeface="Poppins"/>
                </a:rPr>
                <a:t>Passive Acoustic Monitoring can distinguish </a:t>
              </a:r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surface</a:t>
              </a:r>
              <a:r>
                <a:rPr lang="en-US" sz="5414" dirty="0">
                  <a:solidFill>
                    <a:srgbClr val="737373"/>
                  </a:solidFill>
                  <a:latin typeface="Poppins"/>
                  <a:cs typeface="Poppins"/>
                </a:rPr>
                <a:t> and </a:t>
              </a:r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submerged</a:t>
              </a:r>
              <a:r>
                <a:rPr lang="en-US" sz="5414" dirty="0">
                  <a:solidFill>
                    <a:srgbClr val="737373"/>
                  </a:solidFill>
                  <a:latin typeface="Poppins"/>
                  <a:cs typeface="Poppins"/>
                </a:rPr>
                <a:t> sources using the effect of wave coupling on mechanical tonal.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639479EC-FA44-60D4-B0A8-93D913B0A7D6}"/>
                </a:ext>
              </a:extLst>
            </p:cNvPr>
            <p:cNvGrpSpPr/>
            <p:nvPr/>
          </p:nvGrpSpPr>
          <p:grpSpPr>
            <a:xfrm>
              <a:off x="1361282" y="-4624737"/>
              <a:ext cx="16347248" cy="10505336"/>
              <a:chOff x="736246" y="8545454"/>
              <a:chExt cx="9662594" cy="6209534"/>
            </a:xfrm>
          </p:grpSpPr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F157696C-674D-88A7-7058-CD97764BF0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6246" y="11479151"/>
                <a:ext cx="9662594" cy="3275837"/>
              </a:xfrm>
              <a:prstGeom prst="rect">
                <a:avLst/>
              </a:prstGeom>
            </p:spPr>
          </p:pic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63E7FEA9-DB71-EF30-4C30-96FE9412A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4171" y="8545454"/>
                <a:ext cx="4374669" cy="2856846"/>
              </a:xfrm>
              <a:prstGeom prst="rect">
                <a:avLst/>
              </a:prstGeom>
            </p:spPr>
          </p:pic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33671137-6238-33EE-0CF0-5259601A5C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6246" y="8545454"/>
                <a:ext cx="5174199" cy="2856845"/>
              </a:xfrm>
              <a:prstGeom prst="rect">
                <a:avLst/>
              </a:prstGeom>
            </p:spPr>
          </p:pic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213A88-7E53-2BBC-5A61-3B3AC8DC0F8F}"/>
              </a:ext>
            </a:extLst>
          </p:cNvPr>
          <p:cNvGrpSpPr/>
          <p:nvPr/>
        </p:nvGrpSpPr>
        <p:grpSpPr>
          <a:xfrm>
            <a:off x="23717250" y="4963687"/>
            <a:ext cx="26935164" cy="15696131"/>
            <a:chOff x="502710" y="6409486"/>
            <a:chExt cx="18026602" cy="44121195"/>
          </a:xfrm>
        </p:grpSpPr>
        <p:grpSp>
          <p:nvGrpSpPr>
            <p:cNvPr id="50" name="Group 5">
              <a:extLst>
                <a:ext uri="{FF2B5EF4-FFF2-40B4-BE49-F238E27FC236}">
                  <a16:creationId xmlns:a16="http://schemas.microsoft.com/office/drawing/2014/main" id="{0BC84FB8-A19C-CB87-D228-4CCE72E12448}"/>
                </a:ext>
              </a:extLst>
            </p:cNvPr>
            <p:cNvGrpSpPr/>
            <p:nvPr/>
          </p:nvGrpSpPr>
          <p:grpSpPr>
            <a:xfrm>
              <a:off x="555508" y="6409486"/>
              <a:ext cx="17973804" cy="43682645"/>
              <a:chOff x="0" y="0"/>
              <a:chExt cx="1910769" cy="3897149"/>
            </a:xfrm>
          </p:grpSpPr>
          <p:sp>
            <p:nvSpPr>
              <p:cNvPr id="80" name="Freeform 6">
                <a:extLst>
                  <a:ext uri="{FF2B5EF4-FFF2-40B4-BE49-F238E27FC236}">
                    <a16:creationId xmlns:a16="http://schemas.microsoft.com/office/drawing/2014/main" id="{3B0C2C4B-8BE9-4B9B-24CD-873E6EF0B0E6}"/>
                  </a:ext>
                </a:extLst>
              </p:cNvPr>
              <p:cNvSpPr/>
              <p:nvPr/>
            </p:nvSpPr>
            <p:spPr>
              <a:xfrm>
                <a:off x="0" y="0"/>
                <a:ext cx="1910769" cy="3897149"/>
              </a:xfrm>
              <a:custGeom>
                <a:avLst/>
                <a:gdLst/>
                <a:ahLst/>
                <a:cxnLst/>
                <a:rect l="l" t="t" r="r" b="b"/>
                <a:pathLst>
                  <a:path w="1910769" h="3897149">
                    <a:moveTo>
                      <a:pt x="26204" y="0"/>
                    </a:moveTo>
                    <a:lnTo>
                      <a:pt x="1884565" y="0"/>
                    </a:lnTo>
                    <a:cubicBezTo>
                      <a:pt x="1891515" y="0"/>
                      <a:pt x="1898180" y="2761"/>
                      <a:pt x="1903094" y="7675"/>
                    </a:cubicBezTo>
                    <a:cubicBezTo>
                      <a:pt x="1908009" y="12589"/>
                      <a:pt x="1910769" y="19254"/>
                      <a:pt x="1910769" y="26204"/>
                    </a:cubicBezTo>
                    <a:lnTo>
                      <a:pt x="1910769" y="3870945"/>
                    </a:lnTo>
                    <a:cubicBezTo>
                      <a:pt x="1910769" y="3877894"/>
                      <a:pt x="1908009" y="3884560"/>
                      <a:pt x="1903094" y="3889474"/>
                    </a:cubicBezTo>
                    <a:cubicBezTo>
                      <a:pt x="1898180" y="3894388"/>
                      <a:pt x="1891515" y="3897149"/>
                      <a:pt x="1884565" y="3897149"/>
                    </a:cubicBezTo>
                    <a:lnTo>
                      <a:pt x="26204" y="3897149"/>
                    </a:lnTo>
                    <a:cubicBezTo>
                      <a:pt x="19254" y="3897149"/>
                      <a:pt x="12589" y="3894388"/>
                      <a:pt x="7675" y="3889474"/>
                    </a:cubicBezTo>
                    <a:cubicBezTo>
                      <a:pt x="2761" y="3884560"/>
                      <a:pt x="0" y="3877894"/>
                      <a:pt x="0" y="3870945"/>
                    </a:cubicBezTo>
                    <a:lnTo>
                      <a:pt x="0" y="26204"/>
                    </a:lnTo>
                    <a:cubicBezTo>
                      <a:pt x="0" y="19254"/>
                      <a:pt x="2761" y="12589"/>
                      <a:pt x="7675" y="7675"/>
                    </a:cubicBezTo>
                    <a:cubicBezTo>
                      <a:pt x="12589" y="2761"/>
                      <a:pt x="19254" y="0"/>
                      <a:pt x="26204" y="0"/>
                    </a:cubicBezTo>
                    <a:close/>
                  </a:path>
                </a:pathLst>
              </a:custGeom>
              <a:solidFill>
                <a:srgbClr val="EAF0F7"/>
              </a:solidFill>
            </p:spPr>
            <p:txBody>
              <a:bodyPr/>
              <a:lstStyle/>
              <a:p>
                <a:endParaRPr lang="en-US" sz="3045"/>
              </a:p>
            </p:txBody>
          </p:sp>
          <p:sp>
            <p:nvSpPr>
              <p:cNvPr id="81" name="TextBox 7">
                <a:extLst>
                  <a:ext uri="{FF2B5EF4-FFF2-40B4-BE49-F238E27FC236}">
                    <a16:creationId xmlns:a16="http://schemas.microsoft.com/office/drawing/2014/main" id="{BD8F4806-95A0-B9AF-515B-BE6E01AB93B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910769" cy="3944774"/>
              </a:xfrm>
              <a:prstGeom prst="rect">
                <a:avLst/>
              </a:prstGeom>
            </p:spPr>
            <p:txBody>
              <a:bodyPr lIns="42811" tIns="42811" rIns="42811" bIns="42811" rtlCol="0" anchor="ctr"/>
              <a:lstStyle/>
              <a:p>
                <a:pPr algn="ctr">
                  <a:lnSpc>
                    <a:spcPts val="6725"/>
                  </a:lnSpc>
                </a:pPr>
                <a:endParaRPr sz="3045"/>
              </a:p>
            </p:txBody>
          </p:sp>
        </p:grpSp>
        <p:sp>
          <p:nvSpPr>
            <p:cNvPr id="73" name="TextBox 26">
              <a:extLst>
                <a:ext uri="{FF2B5EF4-FFF2-40B4-BE49-F238E27FC236}">
                  <a16:creationId xmlns:a16="http://schemas.microsoft.com/office/drawing/2014/main" id="{75646A94-A496-1425-C19F-2AFC08844260}"/>
                </a:ext>
              </a:extLst>
            </p:cNvPr>
            <p:cNvSpPr txBox="1"/>
            <p:nvPr/>
          </p:nvSpPr>
          <p:spPr>
            <a:xfrm>
              <a:off x="1146189" y="6873185"/>
              <a:ext cx="566434" cy="705318"/>
            </a:xfrm>
            <a:prstGeom prst="rect">
              <a:avLst/>
            </a:prstGeom>
          </p:spPr>
          <p:txBody>
            <a:bodyPr lIns="85944" tIns="85944" rIns="85944" bIns="85944" rtlCol="0" anchor="ctr"/>
            <a:lstStyle/>
            <a:p>
              <a:pPr algn="ctr">
                <a:lnSpc>
                  <a:spcPts val="12788"/>
                </a:lnSpc>
              </a:pPr>
              <a:endParaRPr sz="3045" dirty="0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7533D0F-9364-E33D-77F4-859789777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02710" y="7949274"/>
              <a:ext cx="18026602" cy="4258140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49">
                <a:extLst>
                  <a:ext uri="{FF2B5EF4-FFF2-40B4-BE49-F238E27FC236}">
                    <a16:creationId xmlns:a16="http://schemas.microsoft.com/office/drawing/2014/main" id="{5AB4CF02-0266-D2BF-C576-3A6F952F48CE}"/>
                  </a:ext>
                </a:extLst>
              </p:cNvPr>
              <p:cNvSpPr txBox="1"/>
              <p:nvPr/>
            </p:nvSpPr>
            <p:spPr>
              <a:xfrm>
                <a:off x="25505394" y="20791720"/>
                <a:ext cx="25701005" cy="1475666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66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3. Surface-source result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𝑑𝑖𝑟</m:t>
                          </m:r>
                        </m:sub>
                      </m:sSub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𝑑𝑖𝑟</m:t>
                          </m:r>
                        </m:sub>
                      </m:sSub>
                      <m:sSub>
                        <m:sSubPr>
                          <m:ctrlP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𝑠𝑢𝑟𝑓</m:t>
                          </m:r>
                        </m:sub>
                      </m:sSub>
                    </m:oMath>
                  </m:oMathPara>
                </a14:m>
                <a:endParaRPr lang="en-US" sz="6600" b="1" dirty="0">
                  <a:solidFill>
                    <a:schemeClr val="tx2"/>
                  </a:solidFill>
                  <a:latin typeface="Poppins"/>
                  <a:cs typeface="Poppin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d>
                        <m:d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6600" i="1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d>
                        <m:dPr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𝑑𝑖𝑟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600" i="1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6600" i="1">
                                  <a:solidFill>
                                    <a:srgbClr val="737373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600" i="1">
                                      <a:solidFill>
                                        <a:srgbClr val="73737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f>
                                    <m:fPr>
                                      <m:ctrlP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func>
                                        <m:funcPr>
                                          <m:ctrlP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a:rPr lang="en-US" sz="6600" i="1">
                                              <a:solidFill>
                                                <a:srgbClr val="73737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e>
                                    <m:sub>
                                      <m:r>
                                        <a:rPr lang="en-US" sz="6600" i="1">
                                          <a:solidFill>
                                            <a:srgbClr val="7373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66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 algn="ctr"/>
                <a:r>
                  <a:rPr lang="en-US" sz="66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FM carrier × dynamic multipath envelope → bandwidth expansion, fading, and reduced persistence.</a:t>
                </a:r>
              </a:p>
              <a:p>
                <a:pPr algn="ctr"/>
                <a:r>
                  <a:rPr lang="en-US" sz="6600" b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Surface</a:t>
                </a:r>
                <a:r>
                  <a:rPr lang="en-US" sz="6600" dirty="0">
                    <a:solidFill>
                      <a:srgbClr val="737373"/>
                    </a:solidFill>
                    <a:latin typeface="Poppins"/>
                    <a:cs typeface="Poppins"/>
                  </a:rPr>
                  <a:t>: overlapping paths cause fading and Doppler spread.</a:t>
                </a:r>
                <a:endParaRPr lang="en-US" sz="6600" i="1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6600" b="1" dirty="0">
                    <a:solidFill>
                      <a:schemeClr val="tx2"/>
                    </a:solidFill>
                    <a:latin typeface="Poppins"/>
                    <a:cs typeface="Poppins"/>
                  </a:rPr>
                  <a:t>4. Underwater-source result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6600" i="1" dirty="0">
                              <a:solidFill>
                                <a:srgbClr val="737373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≈0⇒</m:t>
                      </m:r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≈0, </m:t>
                      </m:r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𝛥𝜏</m:t>
                      </m:r>
                      <m:r>
                        <a:rPr lang="en-US" sz="6600" i="1" dirty="0">
                          <a:solidFill>
                            <a:srgbClr val="737373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6600" dirty="0">
                  <a:solidFill>
                    <a:srgbClr val="737373"/>
                  </a:solidFill>
                  <a:highlight>
                    <a:srgbClr val="FFFF00"/>
                  </a:highlight>
                  <a:latin typeface="Poppins"/>
                  <a:cs typeface="Poppins"/>
                </a:endParaRPr>
              </a:p>
              <a:p>
                <a:pPr algn="ctr"/>
                <a:r>
                  <a:rPr lang="en-US" sz="6600" i="1" dirty="0">
                    <a:solidFill>
                      <a:srgbClr val="737373"/>
                    </a:solidFill>
                    <a:latin typeface="Poppins"/>
                    <a:cs typeface="Poppins"/>
                  </a:rPr>
                  <a:t>Stable direct tonal + delayed additive surface echo.</a:t>
                </a:r>
                <a:endParaRPr lang="en-US" sz="8000" dirty="0">
                  <a:solidFill>
                    <a:srgbClr val="737373"/>
                  </a:solidFill>
                  <a:latin typeface="Poppins"/>
                  <a:cs typeface="Poppins"/>
                </a:endParaRPr>
              </a:p>
            </p:txBody>
          </p:sp>
        </mc:Choice>
        <mc:Fallback>
          <p:sp>
            <p:nvSpPr>
              <p:cNvPr id="83" name="TextBox 49">
                <a:extLst>
                  <a:ext uri="{FF2B5EF4-FFF2-40B4-BE49-F238E27FC236}">
                    <a16:creationId xmlns:a16="http://schemas.microsoft.com/office/drawing/2014/main" id="{5AB4CF02-0266-D2BF-C576-3A6F952F4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5394" y="20791720"/>
                <a:ext cx="25701005" cy="14756668"/>
              </a:xfrm>
              <a:prstGeom prst="rect">
                <a:avLst/>
              </a:prstGeom>
              <a:blipFill>
                <a:blip r:embed="rId7"/>
                <a:stretch>
                  <a:fillRect l="-1992" b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49">
            <a:extLst>
              <a:ext uri="{FF2B5EF4-FFF2-40B4-BE49-F238E27FC236}">
                <a16:creationId xmlns:a16="http://schemas.microsoft.com/office/drawing/2014/main" id="{F20953EB-5989-1173-AF41-0B68EFDB6806}"/>
              </a:ext>
            </a:extLst>
          </p:cNvPr>
          <p:cNvSpPr txBox="1"/>
          <p:nvPr/>
        </p:nvSpPr>
        <p:spPr>
          <a:xfrm>
            <a:off x="516227" y="35675060"/>
            <a:ext cx="50506416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b="1" dirty="0">
                <a:solidFill>
                  <a:srgbClr val="737373"/>
                </a:solidFill>
                <a:latin typeface="Poppins Semi-Bold"/>
                <a:cs typeface="Poppins"/>
              </a:rPr>
              <a:t>The model predicts broader, less persistent energy for the surface motorboat and narrow, stable tonal bands for submerged DPVs.</a:t>
            </a:r>
          </a:p>
        </p:txBody>
      </p:sp>
    </p:spTree>
    <p:extLst>
      <p:ext uri="{BB962C8B-B14F-4D97-AF65-F5344CB8AC3E}">
        <p14:creationId xmlns:p14="http://schemas.microsoft.com/office/powerpoint/2010/main" val="1372119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DF80-5016-1248-8788-F3A7413E0D11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52CD0C6A-DF98-568F-0834-1CBA85177E15}"/>
              </a:ext>
            </a:extLst>
          </p:cNvPr>
          <p:cNvGrpSpPr>
            <a:grpSpLocks/>
          </p:cNvGrpSpPr>
          <p:nvPr/>
        </p:nvGrpSpPr>
        <p:grpSpPr>
          <a:xfrm>
            <a:off x="0" y="-1680549"/>
            <a:ext cx="51206400" cy="2814117"/>
            <a:chOff x="0" y="0"/>
            <a:chExt cx="7689780" cy="661951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903BF6AC-156E-6D6C-B878-5F36AE7F6C3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4FDBB9A5-C305-B8FA-545C-DCCA3425B136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47625"/>
              <a:ext cx="7689780" cy="709576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BF91BF73-A934-496B-C1E7-B016AE8D3D12}"/>
              </a:ext>
            </a:extLst>
          </p:cNvPr>
          <p:cNvGrpSpPr>
            <a:grpSpLocks/>
          </p:cNvGrpSpPr>
          <p:nvPr/>
        </p:nvGrpSpPr>
        <p:grpSpPr>
          <a:xfrm>
            <a:off x="36794735" y="556328"/>
            <a:ext cx="14145193" cy="1015773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8B59CACE-3345-EC34-5D77-E353EE89D38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12A5BD6D-B5B1-39C9-5756-E6E5FE1812A5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EFB3F0FC-84EC-8D6D-261A-EE0C22614FC0}"/>
              </a:ext>
            </a:extLst>
          </p:cNvPr>
          <p:cNvSpPr txBox="1"/>
          <p:nvPr/>
        </p:nvSpPr>
        <p:spPr>
          <a:xfrm>
            <a:off x="555507" y="-1663955"/>
            <a:ext cx="46861549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241"/>
              </a:lnSpc>
            </a:pPr>
            <a:r>
              <a:rPr lang="en-US" sz="13534" spc="406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Methodology and Results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93AED7-30A4-169D-5AF0-D7B8BC85A051}"/>
              </a:ext>
            </a:extLst>
          </p:cNvPr>
          <p:cNvGrpSpPr/>
          <p:nvPr/>
        </p:nvGrpSpPr>
        <p:grpSpPr>
          <a:xfrm>
            <a:off x="555508" y="1109040"/>
            <a:ext cx="42539197" cy="6858478"/>
            <a:chOff x="18835462" y="-8831454"/>
            <a:chExt cx="28671221" cy="39813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53B1CF-3D85-E2C0-C905-E445E835492C}"/>
                </a:ext>
              </a:extLst>
            </p:cNvPr>
            <p:cNvGrpSpPr/>
            <p:nvPr/>
          </p:nvGrpSpPr>
          <p:grpSpPr>
            <a:xfrm>
              <a:off x="18835462" y="-8831454"/>
              <a:ext cx="8959733" cy="1540423"/>
              <a:chOff x="555558" y="15730480"/>
              <a:chExt cx="5295953" cy="910519"/>
            </a:xfrm>
          </p:grpSpPr>
          <p:grpSp>
            <p:nvGrpSpPr>
              <p:cNvPr id="26" name="Group 27">
                <a:extLst>
                  <a:ext uri="{FF2B5EF4-FFF2-40B4-BE49-F238E27FC236}">
                    <a16:creationId xmlns:a16="http://schemas.microsoft.com/office/drawing/2014/main" id="{714C7054-1429-B530-1F51-1A03805C6D66}"/>
                  </a:ext>
                </a:extLst>
              </p:cNvPr>
              <p:cNvGrpSpPr/>
              <p:nvPr/>
            </p:nvGrpSpPr>
            <p:grpSpPr>
              <a:xfrm>
                <a:off x="555558" y="15822123"/>
                <a:ext cx="412074" cy="645356"/>
                <a:chOff x="0" y="-536341"/>
                <a:chExt cx="812800" cy="1272941"/>
              </a:xfrm>
            </p:grpSpPr>
            <p:sp>
              <p:nvSpPr>
                <p:cNvPr id="27" name="Freeform 28">
                  <a:extLst>
                    <a:ext uri="{FF2B5EF4-FFF2-40B4-BE49-F238E27FC236}">
                      <a16:creationId xmlns:a16="http://schemas.microsoft.com/office/drawing/2014/main" id="{6A571CDD-FFD1-B917-84E0-DE7473C026D0}"/>
                    </a:ext>
                  </a:extLst>
                </p:cNvPr>
                <p:cNvSpPr/>
                <p:nvPr/>
              </p:nvSpPr>
              <p:spPr>
                <a:xfrm>
                  <a:off x="0" y="-536341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3B86B"/>
                </a:solidFill>
              </p:spPr>
              <p:txBody>
                <a:bodyPr/>
                <a:lstStyle/>
                <a:p>
                  <a:endParaRPr lang="en-US" sz="3045"/>
                </a:p>
              </p:txBody>
            </p:sp>
            <p:sp>
              <p:nvSpPr>
                <p:cNvPr id="28" name="TextBox 29">
                  <a:extLst>
                    <a:ext uri="{FF2B5EF4-FFF2-40B4-BE49-F238E27FC236}">
                      <a16:creationId xmlns:a16="http://schemas.microsoft.com/office/drawing/2014/main" id="{5D7E7824-7AAB-7F5E-B59C-E915214A5CB0}"/>
                    </a:ext>
                  </a:extLst>
                </p:cNvPr>
                <p:cNvSpPr txBox="1"/>
                <p:nvPr/>
              </p:nvSpPr>
              <p:spPr>
                <a:xfrm>
                  <a:off x="76200" y="-85725"/>
                  <a:ext cx="660400" cy="822325"/>
                </a:xfrm>
                <a:prstGeom prst="rect">
                  <a:avLst/>
                </a:prstGeom>
              </p:spPr>
              <p:txBody>
                <a:bodyPr lIns="85944" tIns="85944" rIns="85944" bIns="85944" rtlCol="0" anchor="ctr"/>
                <a:lstStyle/>
                <a:p>
                  <a:pPr algn="ctr">
                    <a:lnSpc>
                      <a:spcPts val="12788"/>
                    </a:lnSpc>
                  </a:pPr>
                  <a:endParaRPr sz="3045"/>
                </a:p>
              </p:txBody>
            </p:sp>
          </p:grpSp>
          <p:sp>
            <p:nvSpPr>
              <p:cNvPr id="31" name="TextBox 55">
                <a:extLst>
                  <a:ext uri="{FF2B5EF4-FFF2-40B4-BE49-F238E27FC236}">
                    <a16:creationId xmlns:a16="http://schemas.microsoft.com/office/drawing/2014/main" id="{5E915ABC-AC15-5309-BECC-608F30BBAEEE}"/>
                  </a:ext>
                </a:extLst>
              </p:cNvPr>
              <p:cNvSpPr txBox="1"/>
              <p:nvPr/>
            </p:nvSpPr>
            <p:spPr>
              <a:xfrm>
                <a:off x="1173669" y="15730480"/>
                <a:ext cx="4677842" cy="91051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2788"/>
                  </a:lnSpc>
                </a:pPr>
                <a:r>
                  <a:rPr lang="en-US" sz="9136" b="1" dirty="0">
                    <a:solidFill>
                      <a:srgbClr val="0D1D52"/>
                    </a:solidFill>
                    <a:latin typeface="Poppins Semi-Bold"/>
                    <a:ea typeface="Poppins Semi-Bold"/>
                    <a:cs typeface="Poppins Semi-Bold"/>
                    <a:sym typeface="Poppins Semi-Bold"/>
                  </a:rPr>
                  <a:t>Methodology</a:t>
                </a:r>
              </a:p>
            </p:txBody>
          </p:sp>
        </p:grpSp>
        <p:graphicFrame>
          <p:nvGraphicFramePr>
            <p:cNvPr id="140" name="Diagram 139">
              <a:extLst>
                <a:ext uri="{FF2B5EF4-FFF2-40B4-BE49-F238E27FC236}">
                  <a16:creationId xmlns:a16="http://schemas.microsoft.com/office/drawing/2014/main" id="{44960704-4B49-6BBB-369A-440132A211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00210088"/>
                </p:ext>
              </p:extLst>
            </p:nvPr>
          </p:nvGraphicFramePr>
          <p:xfrm>
            <a:off x="18979264" y="-7839709"/>
            <a:ext cx="28527419" cy="298956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E05F32-0BD1-9AFD-7EC1-978201A26FCE}"/>
              </a:ext>
            </a:extLst>
          </p:cNvPr>
          <p:cNvGrpSpPr/>
          <p:nvPr/>
        </p:nvGrpSpPr>
        <p:grpSpPr>
          <a:xfrm>
            <a:off x="445622" y="7359163"/>
            <a:ext cx="14878193" cy="1540423"/>
            <a:chOff x="11466662" y="5806860"/>
            <a:chExt cx="8794259" cy="910519"/>
          </a:xfrm>
        </p:grpSpPr>
        <p:grpSp>
          <p:nvGrpSpPr>
            <p:cNvPr id="59" name="Group 30">
              <a:extLst>
                <a:ext uri="{FF2B5EF4-FFF2-40B4-BE49-F238E27FC236}">
                  <a16:creationId xmlns:a16="http://schemas.microsoft.com/office/drawing/2014/main" id="{D1174FC3-4E2F-CBD6-6473-0E4A81219B35}"/>
                </a:ext>
              </a:extLst>
            </p:cNvPr>
            <p:cNvGrpSpPr/>
            <p:nvPr/>
          </p:nvGrpSpPr>
          <p:grpSpPr>
            <a:xfrm>
              <a:off x="11466662" y="6170417"/>
              <a:ext cx="412074" cy="412074"/>
              <a:chOff x="0" y="0"/>
              <a:chExt cx="812800" cy="812800"/>
            </a:xfrm>
          </p:grpSpPr>
          <p:sp>
            <p:nvSpPr>
              <p:cNvPr id="60" name="Freeform 31">
                <a:extLst>
                  <a:ext uri="{FF2B5EF4-FFF2-40B4-BE49-F238E27FC236}">
                    <a16:creationId xmlns:a16="http://schemas.microsoft.com/office/drawing/2014/main" id="{1EF3A9BC-843B-B659-9CEB-C9C265AB0C1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  <p:txBody>
              <a:bodyPr/>
              <a:lstStyle/>
              <a:p>
                <a:endParaRPr lang="en-US" sz="3045"/>
              </a:p>
            </p:txBody>
          </p:sp>
          <p:sp>
            <p:nvSpPr>
              <p:cNvPr id="61" name="TextBox 32">
                <a:extLst>
                  <a:ext uri="{FF2B5EF4-FFF2-40B4-BE49-F238E27FC236}">
                    <a16:creationId xmlns:a16="http://schemas.microsoft.com/office/drawing/2014/main" id="{49FD8975-9136-28ED-2ED9-08F7AADCD7C6}"/>
                  </a:ext>
                </a:extLst>
              </p:cNvPr>
              <p:cNvSpPr txBox="1"/>
              <p:nvPr/>
            </p:nvSpPr>
            <p:spPr>
              <a:xfrm>
                <a:off x="76200" y="-85725"/>
                <a:ext cx="660400" cy="822325"/>
              </a:xfrm>
              <a:prstGeom prst="rect">
                <a:avLst/>
              </a:prstGeom>
            </p:spPr>
            <p:txBody>
              <a:bodyPr lIns="85944" tIns="85944" rIns="85944" bIns="85944" rtlCol="0" anchor="ctr"/>
              <a:lstStyle/>
              <a:p>
                <a:pPr algn="ctr">
                  <a:lnSpc>
                    <a:spcPts val="12788"/>
                  </a:lnSpc>
                </a:pPr>
                <a:endParaRPr sz="3045"/>
              </a:p>
            </p:txBody>
          </p:sp>
        </p:grpSp>
        <p:sp>
          <p:nvSpPr>
            <p:cNvPr id="62" name="TextBox 50">
              <a:extLst>
                <a:ext uri="{FF2B5EF4-FFF2-40B4-BE49-F238E27FC236}">
                  <a16:creationId xmlns:a16="http://schemas.microsoft.com/office/drawing/2014/main" id="{F73EE5F3-F53B-6651-9B08-D4FBA45D8B3F}"/>
                </a:ext>
              </a:extLst>
            </p:cNvPr>
            <p:cNvSpPr txBox="1"/>
            <p:nvPr/>
          </p:nvSpPr>
          <p:spPr>
            <a:xfrm>
              <a:off x="12087288" y="5806860"/>
              <a:ext cx="8173633" cy="9105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788"/>
                </a:lnSpc>
              </a:pPr>
              <a:r>
                <a:rPr lang="en-US" sz="9136" b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Results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780908E1-EAE8-4C4C-44AD-588CE0C66F3D}"/>
              </a:ext>
            </a:extLst>
          </p:cNvPr>
          <p:cNvSpPr txBox="1"/>
          <p:nvPr/>
        </p:nvSpPr>
        <p:spPr>
          <a:xfrm>
            <a:off x="24400148" y="9762250"/>
            <a:ext cx="7591363" cy="925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14" b="1" i="1" dirty="0">
                <a:solidFill>
                  <a:srgbClr val="0D1D52"/>
                </a:solidFill>
                <a:latin typeface="Poppins Semi-Bold"/>
              </a:rPr>
              <a:t>Dominant spectral peaks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F7104A1-CCDD-FFE5-8DBD-E7BDA22E82EB}"/>
              </a:ext>
            </a:extLst>
          </p:cNvPr>
          <p:cNvSpPr txBox="1"/>
          <p:nvPr/>
        </p:nvSpPr>
        <p:spPr>
          <a:xfrm>
            <a:off x="445622" y="20427374"/>
            <a:ext cx="13775784" cy="102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90" b="1" u="sng" dirty="0">
                <a:solidFill>
                  <a:srgbClr val="0D1D52"/>
                </a:solidFill>
                <a:latin typeface="Poppins Semi-Bold"/>
              </a:rPr>
              <a:t>Temporal Stability Separates Depth</a:t>
            </a:r>
            <a:endParaRPr sz="6090" b="1" u="sng" dirty="0">
              <a:solidFill>
                <a:srgbClr val="0D1D52"/>
              </a:solidFill>
              <a:latin typeface="Poppins Semi-Bold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688BA13-EEB8-57BD-8F20-42E7A01C2D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473" y="10165885"/>
            <a:ext cx="23057698" cy="1097187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2414F18E-8C76-CB2E-A8A2-D6241B12D88F}"/>
              </a:ext>
            </a:extLst>
          </p:cNvPr>
          <p:cNvSpPr txBox="1"/>
          <p:nvPr/>
        </p:nvSpPr>
        <p:spPr>
          <a:xfrm>
            <a:off x="33624814" y="20160505"/>
            <a:ext cx="17315113" cy="4258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14" b="1" dirty="0">
                <a:solidFill>
                  <a:srgbClr val="737373"/>
                </a:solidFill>
                <a:latin typeface="Poppins"/>
                <a:cs typeface="Poppins"/>
              </a:rPr>
              <a:t>Bandwidth separates source depth</a:t>
            </a:r>
          </a:p>
          <a:p>
            <a:pPr marL="773491" indent="-773491">
              <a:buFont typeface="Arial" panose="020B0604020202020204" pitchFamily="34" charset="0"/>
              <a:buChar char="•"/>
            </a:pPr>
            <a:r>
              <a:rPr lang="en-US" sz="5414" b="1" dirty="0">
                <a:solidFill>
                  <a:srgbClr val="737373"/>
                </a:solidFill>
                <a:latin typeface="Poppins"/>
                <a:cs typeface="Poppins"/>
              </a:rPr>
              <a:t>Surface motorboat: </a:t>
            </a:r>
            <a:r>
              <a:rPr lang="en-US" sz="5414" dirty="0">
                <a:solidFill>
                  <a:srgbClr val="737373"/>
                </a:solidFill>
                <a:latin typeface="Poppins"/>
                <a:cs typeface="Poppins"/>
              </a:rPr>
              <a:t>136 Hz</a:t>
            </a:r>
          </a:p>
          <a:p>
            <a:pPr marL="773491" indent="-773491">
              <a:buFont typeface="Arial" panose="020B0604020202020204" pitchFamily="34" charset="0"/>
              <a:buChar char="•"/>
            </a:pPr>
            <a:r>
              <a:rPr lang="en-US" sz="5414" b="1" dirty="0">
                <a:solidFill>
                  <a:srgbClr val="737373"/>
                </a:solidFill>
                <a:latin typeface="Poppins"/>
                <a:cs typeface="Poppins"/>
              </a:rPr>
              <a:t>Submerged DPVs: </a:t>
            </a:r>
            <a:r>
              <a:rPr lang="en-US" sz="5414" dirty="0">
                <a:solidFill>
                  <a:srgbClr val="737373"/>
                </a:solidFill>
                <a:latin typeface="Poppins"/>
                <a:cs typeface="Poppins"/>
              </a:rPr>
              <a:t>18–26 Hz</a:t>
            </a:r>
          </a:p>
          <a:p>
            <a:r>
              <a:rPr lang="en-US" sz="5414" i="1" dirty="0">
                <a:solidFill>
                  <a:srgbClr val="737373"/>
                </a:solidFill>
                <a:latin typeface="Poppins"/>
                <a:cs typeface="Poppins"/>
              </a:rPr>
              <a:t>Broad spectral distribution vs. narrow tonal bands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682919-90F2-B1EE-4D2F-C0E3FEF2B1D6}"/>
              </a:ext>
            </a:extLst>
          </p:cNvPr>
          <p:cNvSpPr txBox="1"/>
          <p:nvPr/>
        </p:nvSpPr>
        <p:spPr>
          <a:xfrm>
            <a:off x="36310793" y="-1517075"/>
            <a:ext cx="11075654" cy="925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30"/>
              </a:spcAft>
            </a:pPr>
            <a:r>
              <a:rPr lang="en-US" sz="5414" b="1" i="1" dirty="0">
                <a:solidFill>
                  <a:schemeClr val="tx2"/>
                </a:solidFill>
                <a:latin typeface="Poppins Semi-Bold"/>
                <a:cs typeface="Poppins SemiBold" panose="00000700000000000000" pitchFamily="2" charset="0"/>
              </a:rPr>
              <a:t>Bandwidth Distribution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B80D61-77D0-E7EC-A407-C8330BF95F8A}"/>
              </a:ext>
            </a:extLst>
          </p:cNvPr>
          <p:cNvSpPr txBox="1"/>
          <p:nvPr/>
        </p:nvSpPr>
        <p:spPr>
          <a:xfrm>
            <a:off x="266473" y="9011818"/>
            <a:ext cx="30997936" cy="1029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90" b="1" u="sng" dirty="0">
                <a:solidFill>
                  <a:srgbClr val="0D1D52"/>
                </a:solidFill>
                <a:latin typeface="Poppins Semi-Bold"/>
              </a:rPr>
              <a:t>Spectral Fingerprints of Vessel Depth</a:t>
            </a:r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7317F963-A003-9094-9C51-9E8EBA9937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24815" y="8878450"/>
            <a:ext cx="17315112" cy="1089678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2184C2C-A78B-8A4F-86F3-0B5283928425}"/>
              </a:ext>
            </a:extLst>
          </p:cNvPr>
          <p:cNvGrpSpPr/>
          <p:nvPr/>
        </p:nvGrpSpPr>
        <p:grpSpPr>
          <a:xfrm>
            <a:off x="23217198" y="21596249"/>
            <a:ext cx="9957264" cy="12998550"/>
            <a:chOff x="40971562" y="17028541"/>
            <a:chExt cx="9957264" cy="1635737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8611648-C432-B58D-7EFF-CF7FC96F2D45}"/>
                </a:ext>
              </a:extLst>
            </p:cNvPr>
            <p:cNvSpPr txBox="1"/>
            <p:nvPr/>
          </p:nvSpPr>
          <p:spPr>
            <a:xfrm>
              <a:off x="40971562" y="17028541"/>
              <a:ext cx="9957264" cy="925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Jain’s fairness</a:t>
              </a:r>
              <a:endParaRPr lang="en-US" sz="5414"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DA1DA73-4616-058C-4B1E-B6721F91B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71562" y="18035515"/>
              <a:ext cx="9676062" cy="15350405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9A7FE41-D7F0-8828-BC8F-7C46E4FA724B}"/>
              </a:ext>
            </a:extLst>
          </p:cNvPr>
          <p:cNvSpPr txBox="1"/>
          <p:nvPr/>
        </p:nvSpPr>
        <p:spPr>
          <a:xfrm>
            <a:off x="34140019" y="25610532"/>
            <a:ext cx="16799908" cy="3216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767" b="1" dirty="0">
                <a:solidFill>
                  <a:srgbClr val="737373"/>
                </a:solidFill>
                <a:latin typeface="Poppins Semi-Bold"/>
                <a:cs typeface="Poppins"/>
              </a:rPr>
              <a:t>Submerged DPV tonal bands persist across longer windows; Surface motorboat stability decreases.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AB074E-0901-1F7A-374D-5F56645B75A0}"/>
              </a:ext>
            </a:extLst>
          </p:cNvPr>
          <p:cNvGrpSpPr/>
          <p:nvPr/>
        </p:nvGrpSpPr>
        <p:grpSpPr>
          <a:xfrm>
            <a:off x="11449383" y="22089272"/>
            <a:ext cx="9907940" cy="13096721"/>
            <a:chOff x="29971751" y="17098669"/>
            <a:chExt cx="9907940" cy="16287251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A7B2409-87EE-8E41-70C1-5F0A5B99F0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71753" y="18076980"/>
              <a:ext cx="9907938" cy="1530894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EC6F32-08B8-D564-3A76-9F6DC6FAF546}"/>
                </a:ext>
              </a:extLst>
            </p:cNvPr>
            <p:cNvSpPr txBox="1"/>
            <p:nvPr/>
          </p:nvSpPr>
          <p:spPr>
            <a:xfrm>
              <a:off x="29971751" y="17098669"/>
              <a:ext cx="9907938" cy="11509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Shannon Entropy stability</a:t>
              </a:r>
              <a:endParaRPr lang="en-US" sz="5414"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8CA2EB-4144-5168-AD0E-EF822D9E561F}"/>
              </a:ext>
            </a:extLst>
          </p:cNvPr>
          <p:cNvGrpSpPr/>
          <p:nvPr/>
        </p:nvGrpSpPr>
        <p:grpSpPr>
          <a:xfrm>
            <a:off x="555507" y="21581441"/>
            <a:ext cx="9731772" cy="14565804"/>
            <a:chOff x="19148111" y="17046189"/>
            <a:chExt cx="9731772" cy="1661556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98937E3-C665-119C-E912-6D8A0AC4C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48111" y="18204780"/>
              <a:ext cx="9731772" cy="1545697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12FF787-A1D2-9349-E993-1DC732F9CC91}"/>
                </a:ext>
              </a:extLst>
            </p:cNvPr>
            <p:cNvSpPr txBox="1"/>
            <p:nvPr/>
          </p:nvSpPr>
          <p:spPr>
            <a:xfrm>
              <a:off x="19149016" y="17046189"/>
              <a:ext cx="9033096" cy="1158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Time-in-Band </a:t>
              </a:r>
              <a:r>
                <a:rPr lang="en-US" sz="6000" b="1" dirty="0">
                  <a:solidFill>
                    <a:srgbClr val="737373"/>
                  </a:solidFill>
                  <a:latin typeface="Poppins"/>
                  <a:cs typeface="Poppins"/>
                </a:rPr>
                <a:t>±</a:t>
              </a:r>
              <a:r>
                <a:rPr lang="en-US" sz="5414" b="1" dirty="0">
                  <a:solidFill>
                    <a:srgbClr val="737373"/>
                  </a:solidFill>
                  <a:latin typeface="Poppins"/>
                  <a:cs typeface="Poppins"/>
                </a:rPr>
                <a:t> 10Hz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51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25C2-FCB2-5302-E05E-A7DCCE0DB32B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0" name="Freeform 3">
            <a:extLst>
              <a:ext uri="{FF2B5EF4-FFF2-40B4-BE49-F238E27FC236}">
                <a16:creationId xmlns:a16="http://schemas.microsoft.com/office/drawing/2014/main" id="{8BDC2E50-8CE2-1F61-3E51-F5007FD15D8A}"/>
              </a:ext>
            </a:extLst>
          </p:cNvPr>
          <p:cNvSpPr>
            <a:spLocks/>
          </p:cNvSpPr>
          <p:nvPr/>
        </p:nvSpPr>
        <p:spPr>
          <a:xfrm>
            <a:off x="213084" y="4148937"/>
            <a:ext cx="50784397" cy="4447274"/>
          </a:xfrm>
          <a:custGeom>
            <a:avLst/>
            <a:gdLst/>
            <a:ahLst/>
            <a:cxnLst/>
            <a:rect l="l" t="t" r="r" b="b"/>
            <a:pathLst>
              <a:path w="5521276" h="2042110">
                <a:moveTo>
                  <a:pt x="9069" y="0"/>
                </a:moveTo>
                <a:lnTo>
                  <a:pt x="5512208" y="0"/>
                </a:lnTo>
                <a:cubicBezTo>
                  <a:pt x="5514613" y="0"/>
                  <a:pt x="5516919" y="955"/>
                  <a:pt x="5518620" y="2656"/>
                </a:cubicBezTo>
                <a:cubicBezTo>
                  <a:pt x="5520321" y="4357"/>
                  <a:pt x="5521276" y="6663"/>
                  <a:pt x="5521276" y="9069"/>
                </a:cubicBezTo>
                <a:lnTo>
                  <a:pt x="5521276" y="2033042"/>
                </a:lnTo>
                <a:cubicBezTo>
                  <a:pt x="5521276" y="2035447"/>
                  <a:pt x="5520321" y="2037753"/>
                  <a:pt x="5518620" y="2039454"/>
                </a:cubicBezTo>
                <a:cubicBezTo>
                  <a:pt x="5516919" y="2041155"/>
                  <a:pt x="5514613" y="2042110"/>
                  <a:pt x="5512208" y="2042110"/>
                </a:cubicBezTo>
                <a:lnTo>
                  <a:pt x="9069" y="2042110"/>
                </a:lnTo>
                <a:cubicBezTo>
                  <a:pt x="6663" y="2042110"/>
                  <a:pt x="4357" y="2041155"/>
                  <a:pt x="2656" y="2039454"/>
                </a:cubicBezTo>
                <a:cubicBezTo>
                  <a:pt x="955" y="2037753"/>
                  <a:pt x="0" y="2035447"/>
                  <a:pt x="0" y="2033042"/>
                </a:cubicBezTo>
                <a:lnTo>
                  <a:pt x="0" y="9069"/>
                </a:lnTo>
                <a:cubicBezTo>
                  <a:pt x="0" y="6663"/>
                  <a:pt x="955" y="4357"/>
                  <a:pt x="2656" y="2656"/>
                </a:cubicBezTo>
                <a:cubicBezTo>
                  <a:pt x="4357" y="955"/>
                  <a:pt x="6663" y="0"/>
                  <a:pt x="9069" y="0"/>
                </a:cubicBezTo>
                <a:close/>
              </a:path>
            </a:pathLst>
          </a:custGeom>
          <a:solidFill>
            <a:srgbClr val="EEF0F4"/>
          </a:solidFill>
        </p:spPr>
        <p:txBody>
          <a:bodyPr/>
          <a:lstStyle/>
          <a:p>
            <a:endParaRPr lang="en-US" sz="3045" dirty="0"/>
          </a:p>
        </p:txBody>
      </p:sp>
      <p:sp>
        <p:nvSpPr>
          <p:cNvPr id="56" name="TextBox 7">
            <a:extLst>
              <a:ext uri="{FF2B5EF4-FFF2-40B4-BE49-F238E27FC236}">
                <a16:creationId xmlns:a16="http://schemas.microsoft.com/office/drawing/2014/main" id="{C56C4EC8-8F39-579E-828F-526422FA46F4}"/>
              </a:ext>
            </a:extLst>
          </p:cNvPr>
          <p:cNvSpPr txBox="1"/>
          <p:nvPr/>
        </p:nvSpPr>
        <p:spPr>
          <a:xfrm>
            <a:off x="3504296" y="0"/>
            <a:ext cx="31690111" cy="43150514"/>
          </a:xfrm>
          <a:prstGeom prst="rect">
            <a:avLst/>
          </a:prstGeom>
        </p:spPr>
        <p:txBody>
          <a:bodyPr lIns="42811" tIns="42811" rIns="42811" bIns="42811" rtlCol="0" anchor="ctr"/>
          <a:lstStyle/>
          <a:p>
            <a:pPr algn="ctr">
              <a:lnSpc>
                <a:spcPts val="6725"/>
              </a:lnSpc>
            </a:pPr>
            <a:endParaRPr sz="3045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65028448-C8D9-7754-41A5-558AE0A6FD9F}"/>
              </a:ext>
            </a:extLst>
          </p:cNvPr>
          <p:cNvGrpSpPr>
            <a:grpSpLocks/>
          </p:cNvGrpSpPr>
          <p:nvPr/>
        </p:nvGrpSpPr>
        <p:grpSpPr>
          <a:xfrm>
            <a:off x="10779" y="-18419"/>
            <a:ext cx="51206400" cy="3881945"/>
            <a:chOff x="0" y="-47625"/>
            <a:chExt cx="7689780" cy="709576"/>
          </a:xfrm>
          <a:solidFill>
            <a:srgbClr val="0D1D52"/>
          </a:solidFill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39BA35B4-E21B-9C2D-B61B-05B8FAE9772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7689780" cy="661951"/>
            </a:xfrm>
            <a:custGeom>
              <a:avLst/>
              <a:gdLst/>
              <a:ahLst/>
              <a:cxnLst/>
              <a:rect l="l" t="t" r="r" b="b"/>
              <a:pathLst>
                <a:path w="7689780" h="661951">
                  <a:moveTo>
                    <a:pt x="0" y="0"/>
                  </a:moveTo>
                  <a:lnTo>
                    <a:pt x="7689780" y="0"/>
                  </a:lnTo>
                  <a:lnTo>
                    <a:pt x="7689780" y="661951"/>
                  </a:lnTo>
                  <a:lnTo>
                    <a:pt x="0" y="66195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606DE0C7-6D53-BD5C-5E9B-69B80FCF61F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47625"/>
              <a:ext cx="7689780" cy="475212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19BB1F32-181E-EE94-ED87-A7C4E956FDE2}"/>
              </a:ext>
            </a:extLst>
          </p:cNvPr>
          <p:cNvGrpSpPr>
            <a:grpSpLocks/>
          </p:cNvGrpSpPr>
          <p:nvPr/>
        </p:nvGrpSpPr>
        <p:grpSpPr>
          <a:xfrm>
            <a:off x="36934832" y="3177726"/>
            <a:ext cx="14145193" cy="1024300"/>
            <a:chOff x="0" y="0"/>
            <a:chExt cx="4794764" cy="147506"/>
          </a:xfrm>
          <a:solidFill>
            <a:srgbClr val="FEBD4C"/>
          </a:solidFill>
        </p:grpSpPr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5F50F6AD-97F7-1FF3-D5C3-EC638BCE251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4794764" cy="147506"/>
            </a:xfrm>
            <a:custGeom>
              <a:avLst/>
              <a:gdLst/>
              <a:ahLst/>
              <a:cxnLst/>
              <a:rect l="l" t="t" r="r" b="b"/>
              <a:pathLst>
                <a:path w="4794764" h="147506">
                  <a:moveTo>
                    <a:pt x="1450" y="0"/>
                  </a:moveTo>
                  <a:lnTo>
                    <a:pt x="4793314" y="0"/>
                  </a:lnTo>
                  <a:cubicBezTo>
                    <a:pt x="4793698" y="0"/>
                    <a:pt x="4794067" y="153"/>
                    <a:pt x="4794340" y="425"/>
                  </a:cubicBezTo>
                  <a:cubicBezTo>
                    <a:pt x="4794612" y="697"/>
                    <a:pt x="4794764" y="1066"/>
                    <a:pt x="4794764" y="1450"/>
                  </a:cubicBezTo>
                  <a:lnTo>
                    <a:pt x="4794764" y="146056"/>
                  </a:lnTo>
                  <a:cubicBezTo>
                    <a:pt x="4794764" y="146857"/>
                    <a:pt x="4794115" y="147506"/>
                    <a:pt x="4793314" y="147506"/>
                  </a:cubicBezTo>
                  <a:lnTo>
                    <a:pt x="1450" y="147506"/>
                  </a:lnTo>
                  <a:cubicBezTo>
                    <a:pt x="649" y="147506"/>
                    <a:pt x="0" y="146857"/>
                    <a:pt x="0" y="146056"/>
                  </a:cubicBezTo>
                  <a:lnTo>
                    <a:pt x="0" y="1450"/>
                  </a:lnTo>
                  <a:cubicBezTo>
                    <a:pt x="0" y="649"/>
                    <a:pt x="649" y="0"/>
                    <a:pt x="145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3045"/>
            </a:p>
          </p:txBody>
        </p:sp>
        <p:sp>
          <p:nvSpPr>
            <p:cNvPr id="9" name="TextBox 23">
              <a:extLst>
                <a:ext uri="{FF2B5EF4-FFF2-40B4-BE49-F238E27FC236}">
                  <a16:creationId xmlns:a16="http://schemas.microsoft.com/office/drawing/2014/main" id="{9A095EA4-7F69-991E-F9B1-3EAB2F80C08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-47625"/>
              <a:ext cx="4794764" cy="195131"/>
            </a:xfrm>
            <a:prstGeom prst="rect">
              <a:avLst/>
            </a:prstGeom>
            <a:grpFill/>
          </p:spPr>
          <p:txBody>
            <a:bodyPr lIns="42811" tIns="42811" rIns="42811" bIns="42811" rtlCol="0" anchor="ctr"/>
            <a:lstStyle/>
            <a:p>
              <a:pPr algn="ctr">
                <a:lnSpc>
                  <a:spcPts val="6725"/>
                </a:lnSpc>
              </a:pPr>
              <a:endParaRPr sz="3045"/>
            </a:p>
          </p:txBody>
        </p:sp>
      </p:grpSp>
      <p:sp>
        <p:nvSpPr>
          <p:cNvPr id="10" name="TextBox 47">
            <a:extLst>
              <a:ext uri="{FF2B5EF4-FFF2-40B4-BE49-F238E27FC236}">
                <a16:creationId xmlns:a16="http://schemas.microsoft.com/office/drawing/2014/main" id="{C76D472E-2EA2-5E2E-DB5E-1093F08FC3EB}"/>
              </a:ext>
            </a:extLst>
          </p:cNvPr>
          <p:cNvSpPr txBox="1"/>
          <p:nvPr/>
        </p:nvSpPr>
        <p:spPr>
          <a:xfrm>
            <a:off x="462913" y="369887"/>
            <a:ext cx="46861549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241"/>
              </a:lnSpc>
            </a:pPr>
            <a:r>
              <a:rPr lang="en-US" sz="13534" spc="406" dirty="0">
                <a:solidFill>
                  <a:srgbClr val="FFFFFF"/>
                </a:solidFill>
                <a:latin typeface="Neue Einstellung Medium"/>
                <a:ea typeface="Neue Einstellung Medium"/>
                <a:cs typeface="Neue Einstellung Medium"/>
                <a:sym typeface="Neue Einstellung Medium"/>
              </a:rPr>
              <a:t>Conclusion and Future Work</a:t>
            </a:r>
          </a:p>
        </p:txBody>
      </p:sp>
      <p:sp>
        <p:nvSpPr>
          <p:cNvPr id="40" name="Freeform 3">
            <a:extLst>
              <a:ext uri="{FF2B5EF4-FFF2-40B4-BE49-F238E27FC236}">
                <a16:creationId xmlns:a16="http://schemas.microsoft.com/office/drawing/2014/main" id="{0186E710-C265-DEF1-E9E0-F45E10939C56}"/>
              </a:ext>
            </a:extLst>
          </p:cNvPr>
          <p:cNvSpPr>
            <a:spLocks/>
          </p:cNvSpPr>
          <p:nvPr/>
        </p:nvSpPr>
        <p:spPr>
          <a:xfrm>
            <a:off x="347063" y="10164467"/>
            <a:ext cx="51004095" cy="4447274"/>
          </a:xfrm>
          <a:custGeom>
            <a:avLst/>
            <a:gdLst/>
            <a:ahLst/>
            <a:cxnLst/>
            <a:rect l="l" t="t" r="r" b="b"/>
            <a:pathLst>
              <a:path w="5521276" h="2042110">
                <a:moveTo>
                  <a:pt x="9069" y="0"/>
                </a:moveTo>
                <a:lnTo>
                  <a:pt x="5512208" y="0"/>
                </a:lnTo>
                <a:cubicBezTo>
                  <a:pt x="5514613" y="0"/>
                  <a:pt x="5516919" y="955"/>
                  <a:pt x="5518620" y="2656"/>
                </a:cubicBezTo>
                <a:cubicBezTo>
                  <a:pt x="5520321" y="4357"/>
                  <a:pt x="5521276" y="6663"/>
                  <a:pt x="5521276" y="9069"/>
                </a:cubicBezTo>
                <a:lnTo>
                  <a:pt x="5521276" y="2033042"/>
                </a:lnTo>
                <a:cubicBezTo>
                  <a:pt x="5521276" y="2035447"/>
                  <a:pt x="5520321" y="2037753"/>
                  <a:pt x="5518620" y="2039454"/>
                </a:cubicBezTo>
                <a:cubicBezTo>
                  <a:pt x="5516919" y="2041155"/>
                  <a:pt x="5514613" y="2042110"/>
                  <a:pt x="5512208" y="2042110"/>
                </a:cubicBezTo>
                <a:lnTo>
                  <a:pt x="9069" y="2042110"/>
                </a:lnTo>
                <a:cubicBezTo>
                  <a:pt x="6663" y="2042110"/>
                  <a:pt x="4357" y="2041155"/>
                  <a:pt x="2656" y="2039454"/>
                </a:cubicBezTo>
                <a:cubicBezTo>
                  <a:pt x="955" y="2037753"/>
                  <a:pt x="0" y="2035447"/>
                  <a:pt x="0" y="2033042"/>
                </a:cubicBezTo>
                <a:lnTo>
                  <a:pt x="0" y="9069"/>
                </a:lnTo>
                <a:cubicBezTo>
                  <a:pt x="0" y="6663"/>
                  <a:pt x="955" y="4357"/>
                  <a:pt x="2656" y="2656"/>
                </a:cubicBezTo>
                <a:cubicBezTo>
                  <a:pt x="4357" y="955"/>
                  <a:pt x="6663" y="0"/>
                  <a:pt x="9069" y="0"/>
                </a:cubicBezTo>
                <a:close/>
              </a:path>
            </a:pathLst>
          </a:custGeom>
          <a:solidFill>
            <a:srgbClr val="EEF0F4"/>
          </a:solidFill>
        </p:spPr>
        <p:txBody>
          <a:bodyPr/>
          <a:lstStyle/>
          <a:p>
            <a:endParaRPr lang="en-US" sz="3045" dirty="0"/>
          </a:p>
        </p:txBody>
      </p:sp>
      <p:sp>
        <p:nvSpPr>
          <p:cNvPr id="41" name="TextBox 4">
            <a:extLst>
              <a:ext uri="{FF2B5EF4-FFF2-40B4-BE49-F238E27FC236}">
                <a16:creationId xmlns:a16="http://schemas.microsoft.com/office/drawing/2014/main" id="{7224D1DF-09FA-1D86-A194-B3F4857E6C93}"/>
              </a:ext>
            </a:extLst>
          </p:cNvPr>
          <p:cNvSpPr txBox="1">
            <a:spLocks/>
          </p:cNvSpPr>
          <p:nvPr/>
        </p:nvSpPr>
        <p:spPr>
          <a:xfrm>
            <a:off x="-1291812" y="7103537"/>
            <a:ext cx="50662635" cy="16433507"/>
          </a:xfrm>
          <a:prstGeom prst="rect">
            <a:avLst/>
          </a:prstGeom>
        </p:spPr>
        <p:txBody>
          <a:bodyPr lIns="42811" tIns="42811" rIns="42811" bIns="42811" rtlCol="0" anchor="ctr"/>
          <a:lstStyle/>
          <a:p>
            <a:pPr algn="ctr">
              <a:lnSpc>
                <a:spcPts val="6725"/>
              </a:lnSpc>
            </a:pPr>
            <a:endParaRPr sz="3045"/>
          </a:p>
        </p:txBody>
      </p:sp>
      <p:sp>
        <p:nvSpPr>
          <p:cNvPr id="71" name="TextBox 52">
            <a:extLst>
              <a:ext uri="{FF2B5EF4-FFF2-40B4-BE49-F238E27FC236}">
                <a16:creationId xmlns:a16="http://schemas.microsoft.com/office/drawing/2014/main" id="{2BE6D0B2-9938-536C-E8E1-AAA3E2012DDB}"/>
              </a:ext>
            </a:extLst>
          </p:cNvPr>
          <p:cNvSpPr txBox="1"/>
          <p:nvPr/>
        </p:nvSpPr>
        <p:spPr>
          <a:xfrm>
            <a:off x="347063" y="4317172"/>
            <a:ext cx="49545299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8800" b="1" dirty="0">
                <a:solidFill>
                  <a:srgbClr val="0D1D52"/>
                </a:solidFill>
                <a:latin typeface="Poppins Semi-Bold"/>
              </a:rPr>
              <a:t>Takeaway</a:t>
            </a:r>
          </a:p>
          <a:p>
            <a:pPr fontAlgn="base"/>
            <a:r>
              <a:rPr lang="en-US" sz="6600" dirty="0">
                <a:solidFill>
                  <a:srgbClr val="737373"/>
                </a:solidFill>
                <a:latin typeface="Poppins"/>
                <a:cs typeface="Poppins"/>
              </a:rPr>
              <a:t>Spectral bandwidth and temporal persistence provide complementary, physics-informed cues for distinguishing surface and submerged vessels.</a:t>
            </a:r>
          </a:p>
        </p:txBody>
      </p:sp>
      <p:sp>
        <p:nvSpPr>
          <p:cNvPr id="74" name="TextBox 70">
            <a:extLst>
              <a:ext uri="{FF2B5EF4-FFF2-40B4-BE49-F238E27FC236}">
                <a16:creationId xmlns:a16="http://schemas.microsoft.com/office/drawing/2014/main" id="{D393B579-60E4-87C0-0946-8F06E3205CF4}"/>
              </a:ext>
            </a:extLst>
          </p:cNvPr>
          <p:cNvSpPr txBox="1"/>
          <p:nvPr/>
        </p:nvSpPr>
        <p:spPr>
          <a:xfrm>
            <a:off x="532830" y="10223214"/>
            <a:ext cx="50396424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base"/>
            <a:r>
              <a:rPr lang="en-US" sz="8800" b="1" dirty="0">
                <a:solidFill>
                  <a:srgbClr val="0D1D52"/>
                </a:solidFill>
                <a:latin typeface="Poppins Semi-Bold"/>
              </a:rPr>
              <a:t>Next steps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737373"/>
                </a:solidFill>
                <a:latin typeface="Poppins"/>
                <a:cs typeface="Poppins"/>
              </a:rPr>
              <a:t>Validate across more vessel types, operating conditions, ranges, and environments.</a:t>
            </a:r>
          </a:p>
          <a:p>
            <a:pPr marL="685800" indent="-685800" fontAlgn="base">
              <a:buFont typeface="Arial" panose="020B0604020202020204" pitchFamily="34" charset="0"/>
              <a:buChar char="•"/>
            </a:pPr>
            <a:r>
              <a:rPr lang="en-US" sz="6600" dirty="0">
                <a:solidFill>
                  <a:srgbClr val="737373"/>
                </a:solidFill>
                <a:latin typeface="Poppins"/>
                <a:cs typeface="Poppins"/>
              </a:rPr>
              <a:t>Integrate the features into an ML classifier and real-time detector.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E424E9-A504-D8EA-6D98-2987DA8ECD2F}"/>
              </a:ext>
            </a:extLst>
          </p:cNvPr>
          <p:cNvGrpSpPr/>
          <p:nvPr/>
        </p:nvGrpSpPr>
        <p:grpSpPr>
          <a:xfrm>
            <a:off x="347063" y="29685876"/>
            <a:ext cx="24333308" cy="3987153"/>
            <a:chOff x="1128271" y="27041488"/>
            <a:chExt cx="24333308" cy="3987153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1E48588-AE21-EFB1-5C5F-357F8884AA8B}"/>
                </a:ext>
              </a:extLst>
            </p:cNvPr>
            <p:cNvSpPr/>
            <p:nvPr/>
          </p:nvSpPr>
          <p:spPr>
            <a:xfrm>
              <a:off x="1128271" y="27197211"/>
              <a:ext cx="24333308" cy="3831430"/>
            </a:xfrm>
            <a:prstGeom prst="rect">
              <a:avLst/>
            </a:prstGeom>
            <a:solidFill>
              <a:srgbClr val="D3E3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45"/>
            </a:p>
          </p:txBody>
        </p:sp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ABCF6D4B-7C00-5273-12FE-B345297B8063}"/>
                </a:ext>
              </a:extLst>
            </p:cNvPr>
            <p:cNvSpPr txBox="1"/>
            <p:nvPr/>
          </p:nvSpPr>
          <p:spPr>
            <a:xfrm>
              <a:off x="1496918" y="27041488"/>
              <a:ext cx="23359225" cy="14830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2788"/>
                </a:lnSpc>
              </a:pPr>
              <a:r>
                <a:rPr lang="en-US" sz="7444" b="1" i="1" dirty="0">
                  <a:solidFill>
                    <a:srgbClr val="0D1D52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Authors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C30783B-FCC0-B96B-7764-850FA056A0D5}"/>
                </a:ext>
              </a:extLst>
            </p:cNvPr>
            <p:cNvSpPr txBox="1"/>
            <p:nvPr/>
          </p:nvSpPr>
          <p:spPr>
            <a:xfrm>
              <a:off x="1314038" y="28524586"/>
              <a:ext cx="23095990" cy="227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4737" b="1" dirty="0">
                  <a:solidFill>
                    <a:srgbClr val="737373"/>
                  </a:solidFill>
                  <a:latin typeface="Poppins"/>
                  <a:cs typeface="Poppins"/>
                </a:rPr>
                <a:t>Roy Michael</a:t>
              </a:r>
              <a:r>
                <a:rPr lang="en-US" sz="4737" dirty="0">
                  <a:solidFill>
                    <a:srgbClr val="737373"/>
                  </a:solidFill>
                  <a:latin typeface="Poppins"/>
                  <a:cs typeface="Poppins"/>
                </a:rPr>
                <a:t> - </a:t>
              </a:r>
              <a:r>
                <a:rPr sz="4737" dirty="0">
                  <a:solidFill>
                    <a:srgbClr val="737373"/>
                  </a:solidFill>
                  <a:latin typeface="Poppins"/>
                  <a:cs typeface="Poppins"/>
                </a:rPr>
                <a:t>Department of Marine Technologies, Haifa University</a:t>
              </a:r>
              <a:endParaRPr lang="en-US" sz="4737" dirty="0">
                <a:solidFill>
                  <a:srgbClr val="737373"/>
                </a:solidFill>
                <a:latin typeface="Poppins"/>
                <a:cs typeface="Poppins"/>
              </a:endParaRPr>
            </a:p>
            <a:p>
              <a:endParaRPr lang="en-US" sz="4737" dirty="0">
                <a:solidFill>
                  <a:srgbClr val="737373"/>
                </a:solidFill>
                <a:latin typeface="Poppins"/>
                <a:cs typeface="Poppins"/>
              </a:endParaRPr>
            </a:p>
            <a:p>
              <a:r>
                <a:rPr lang="en-US" sz="4737" b="1" dirty="0">
                  <a:solidFill>
                    <a:srgbClr val="737373"/>
                  </a:solidFill>
                  <a:latin typeface="Poppins"/>
                  <a:cs typeface="Poppins"/>
                </a:rPr>
                <a:t>Prof. Roee Diamant</a:t>
              </a:r>
              <a:r>
                <a:rPr lang="en-US" sz="4737" dirty="0">
                  <a:solidFill>
                    <a:srgbClr val="737373"/>
                  </a:solidFill>
                  <a:latin typeface="Poppins"/>
                  <a:cs typeface="Poppins"/>
                </a:rPr>
                <a:t> - Department of Marine Technologies, Haifa University</a:t>
              </a:r>
              <a:endParaRPr sz="4737" dirty="0">
                <a:solidFill>
                  <a:srgbClr val="737373"/>
                </a:solidFill>
                <a:latin typeface="Poppins"/>
                <a:cs typeface="Poppin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63B743E-57C9-7327-90F1-D382493405F6}"/>
              </a:ext>
            </a:extLst>
          </p:cNvPr>
          <p:cNvSpPr txBox="1"/>
          <p:nvPr/>
        </p:nvSpPr>
        <p:spPr>
          <a:xfrm>
            <a:off x="2291712" y="21008403"/>
            <a:ext cx="37880927" cy="1133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767" b="1" dirty="0">
                <a:solidFill>
                  <a:srgbClr val="737373"/>
                </a:solidFill>
                <a:latin typeface="Poppins Semi-Bold"/>
                <a:cs typeface="Poppins"/>
              </a:rPr>
              <a:t>Submerged DPV tonal bands persist across longer windows; Surface motorboat stability decreases.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B6322D4-F5FC-0E55-CAD4-D7428E616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63" y="34486681"/>
            <a:ext cx="31012526" cy="320049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4FD6A25-929F-FC20-E288-33ED47B5D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8898" y="32751791"/>
            <a:ext cx="11560439" cy="528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0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ff23c-68b8-4ad8-a6f0-ffe85b956f92">
      <Terms xmlns="http://schemas.microsoft.com/office/infopath/2007/PartnerControls"/>
    </lcf76f155ced4ddcb4097134ff3c332f>
    <Size xmlns="366ff23c-68b8-4ad8-a6f0-ffe85b956f92" xsi:nil="true"/>
    <TaxCatchAll xmlns="ee347680-3277-4f02-8197-a596dc09f6c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FBB1CA5B52B840B0EA7D6F7B6C204C" ma:contentTypeVersion="22" ma:contentTypeDescription="Create a new document." ma:contentTypeScope="" ma:versionID="ed2b06ac119a6c8319114f9f4fa72c4e">
  <xsd:schema xmlns:xsd="http://www.w3.org/2001/XMLSchema" xmlns:xs="http://www.w3.org/2001/XMLSchema" xmlns:p="http://schemas.microsoft.com/office/2006/metadata/properties" xmlns:ns2="366ff23c-68b8-4ad8-a6f0-ffe85b956f92" xmlns:ns3="ee347680-3277-4f02-8197-a596dc09f6cb" targetNamespace="http://schemas.microsoft.com/office/2006/metadata/properties" ma:root="true" ma:fieldsID="2e5abf7ae9e78a3b5bebe70b54ff6eb8" ns2:_="" ns3:_="">
    <xsd:import namespace="366ff23c-68b8-4ad8-a6f0-ffe85b956f92"/>
    <xsd:import namespace="ee347680-3277-4f02-8197-a596dc09f6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Siz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ff23c-68b8-4ad8-a6f0-ffe85b956f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Size" ma:index="20" nillable="true" ma:displayName="Size" ma:internalName="Size">
      <xsd:simpleType>
        <xsd:restriction base="dms:Number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6d51dc5d-6cba-4748-b546-1c911b976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47680-3277-4f02-8197-a596dc09f6c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11fd385-1916-4391-8fea-99ea66202781}" ma:internalName="TaxCatchAll" ma:showField="CatchAllData" ma:web="ee347680-3277-4f02-8197-a596dc09f6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F6F4E9-F06E-4216-9E57-C9DD7A23E9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4EC294-F82B-4370-969E-F01216E43FC5}">
  <ds:schemaRefs>
    <ds:schemaRef ds:uri="http://schemas.microsoft.com/office/2006/metadata/properties"/>
    <ds:schemaRef ds:uri="http://schemas.microsoft.com/office/2006/documentManagement/types"/>
    <ds:schemaRef ds:uri="ee347680-3277-4f02-8197-a596dc09f6cb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66ff23c-68b8-4ad8-a6f0-ffe85b956f92"/>
  </ds:schemaRefs>
</ds:datastoreItem>
</file>

<file path=customXml/itemProps3.xml><?xml version="1.0" encoding="utf-8"?>
<ds:datastoreItem xmlns:ds="http://schemas.openxmlformats.org/officeDocument/2006/customXml" ds:itemID="{2BE57F0F-C0CD-4805-AF50-9B703C20E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ff23c-68b8-4ad8-a6f0-ffe85b956f92"/>
    <ds:schemaRef ds:uri="ee347680-3277-4f02-8197-a596dc09f6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9597</TotalTime>
  <Words>331</Words>
  <Application>Microsoft Office PowerPoint</Application>
  <PresentationFormat>Custom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Neue Einstellung Medium</vt:lpstr>
      <vt:lpstr>Poppins</vt:lpstr>
      <vt:lpstr>Poppins Italics</vt:lpstr>
      <vt:lpstr>Poppins Semi-Bold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רועי מיכאל</dc:creator>
  <cp:lastModifiedBy>רועי מיכאל</cp:lastModifiedBy>
  <cp:revision>87</cp:revision>
  <dcterms:created xsi:type="dcterms:W3CDTF">2026-09-20T10:23:34Z</dcterms:created>
  <dcterms:modified xsi:type="dcterms:W3CDTF">2026-10-15T14:55:31Z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0x01010067FBB1CA5B52B840B0EA7D6F7B6C204C</vt:lpwstr>
  </property>
</Properties>
</file>