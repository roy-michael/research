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3CA0DA-D741-40E3-81FC-008E5FCDD9D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F8E"/>
    <a:srgbClr val="00B29F"/>
    <a:srgbClr val="00B23B"/>
    <a:srgbClr val="D3E3EF"/>
    <a:srgbClr val="00A993"/>
    <a:srgbClr val="00B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740" autoAdjust="0"/>
    <p:restoredTop sz="86441" autoAdjust="0"/>
  </p:normalViewPr>
  <p:slideViewPr>
    <p:cSldViewPr snapToGrid="0">
      <p:cViewPr>
        <p:scale>
          <a:sx n="33" d="100"/>
          <a:sy n="33" d="100"/>
        </p:scale>
        <p:origin x="1138" y="-50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04384-910E-4E12-A7CC-CF8A590B0B70}" type="doc">
      <dgm:prSet loTypeId="urn:microsoft.com/office/officeart/2005/8/layout/chevronAccent+Icon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6DFD3D5-B82E-473B-A7AA-7825F9EDDDC9}">
      <dgm:prSet custT="1"/>
      <dgm:spPr/>
      <dgm:t>
        <a:bodyPr/>
        <a:lstStyle/>
        <a:p>
          <a:pPr algn="l"/>
          <a:r>
            <a:rPr lang="en-US" sz="3200" b="1" dirty="0"/>
            <a:t>Signal Ingestion </a:t>
          </a:r>
        </a:p>
      </dgm:t>
    </dgm:pt>
    <dgm:pt modelId="{0F69CF1D-533A-41BB-944D-6F719645DC9B}" type="parTrans" cxnId="{B162334E-5C84-477E-A4D2-E253D854DDD3}">
      <dgm:prSet/>
      <dgm:spPr/>
      <dgm:t>
        <a:bodyPr/>
        <a:lstStyle/>
        <a:p>
          <a:endParaRPr lang="en-US"/>
        </a:p>
      </dgm:t>
    </dgm:pt>
    <dgm:pt modelId="{131A03F6-3957-4F57-B548-B48C1ED9CCF7}" type="sibTrans" cxnId="{B162334E-5C84-477E-A4D2-E253D854DDD3}">
      <dgm:prSet/>
      <dgm:spPr/>
      <dgm:t>
        <a:bodyPr/>
        <a:lstStyle/>
        <a:p>
          <a:endParaRPr lang="en-US"/>
        </a:p>
      </dgm:t>
    </dgm:pt>
    <dgm:pt modelId="{212582AE-B612-4F83-9FA4-5D731E45A87C}">
      <dgm:prSet custT="1"/>
      <dgm:spPr/>
      <dgm:t>
        <a:bodyPr/>
        <a:lstStyle/>
        <a:p>
          <a:pPr algn="l"/>
          <a:r>
            <a:rPr lang="en-US" sz="3200" b="1" dirty="0"/>
            <a:t>Estimation Matrix</a:t>
          </a:r>
        </a:p>
      </dgm:t>
    </dgm:pt>
    <dgm:pt modelId="{B037EBDF-5096-496B-A117-3DB7165EB0F5}" type="parTrans" cxnId="{A97436E4-0A65-4024-B856-3D832504DB8A}">
      <dgm:prSet/>
      <dgm:spPr/>
      <dgm:t>
        <a:bodyPr/>
        <a:lstStyle/>
        <a:p>
          <a:endParaRPr lang="en-US"/>
        </a:p>
      </dgm:t>
    </dgm:pt>
    <dgm:pt modelId="{A340B067-88E4-4002-BD35-420A78510667}" type="sibTrans" cxnId="{A97436E4-0A65-4024-B856-3D832504DB8A}">
      <dgm:prSet/>
      <dgm:spPr/>
      <dgm:t>
        <a:bodyPr/>
        <a:lstStyle/>
        <a:p>
          <a:endParaRPr lang="en-US"/>
        </a:p>
      </dgm:t>
    </dgm:pt>
    <dgm:pt modelId="{73D5061B-6698-41CF-BCE4-C80D7316D945}">
      <dgm:prSet custT="1"/>
      <dgm:spPr/>
      <dgm:t>
        <a:bodyPr/>
        <a:lstStyle/>
        <a:p>
          <a:pPr algn="l" rtl="0" eaLnBrk="1" latinLnBrk="0"/>
          <a:r>
            <a:rPr lang="en-US" sz="3200" b="1" dirty="0"/>
            <a:t>Feature Extraction</a:t>
          </a:r>
        </a:p>
      </dgm:t>
    </dgm:pt>
    <dgm:pt modelId="{5AFAC292-1D16-4051-9B3A-0FB67B747EED}" type="parTrans" cxnId="{BC8B9AC9-5936-4C01-B2DD-43FA9B074158}">
      <dgm:prSet/>
      <dgm:spPr/>
      <dgm:t>
        <a:bodyPr/>
        <a:lstStyle/>
        <a:p>
          <a:endParaRPr lang="en-US"/>
        </a:p>
      </dgm:t>
    </dgm:pt>
    <dgm:pt modelId="{A779D731-85EB-4F95-82AB-B02C1F293861}" type="sibTrans" cxnId="{BC8B9AC9-5936-4C01-B2DD-43FA9B074158}">
      <dgm:prSet/>
      <dgm:spPr/>
      <dgm:t>
        <a:bodyPr/>
        <a:lstStyle/>
        <a:p>
          <a:endParaRPr lang="en-US"/>
        </a:p>
      </dgm:t>
    </dgm:pt>
    <dgm:pt modelId="{BF09043C-4E04-4743-B4CF-39115AD2A2EC}">
      <dgm:prSet custT="1"/>
      <dgm:spPr/>
      <dgm:t>
        <a:bodyPr/>
        <a:lstStyle/>
        <a:p>
          <a:pPr algn="l"/>
          <a:r>
            <a:rPr lang="en-US" sz="3200" b="1" dirty="0"/>
            <a:t>Classification</a:t>
          </a:r>
        </a:p>
      </dgm:t>
    </dgm:pt>
    <dgm:pt modelId="{8DF51FBC-A76C-4D3B-8305-52B1DD7B2240}" type="parTrans" cxnId="{312303F7-4BCF-4AD3-936C-5ED2C4825859}">
      <dgm:prSet/>
      <dgm:spPr/>
      <dgm:t>
        <a:bodyPr/>
        <a:lstStyle/>
        <a:p>
          <a:endParaRPr lang="en-US"/>
        </a:p>
      </dgm:t>
    </dgm:pt>
    <dgm:pt modelId="{9C89353F-8CC3-45E8-A71C-E7642D657571}" type="sibTrans" cxnId="{312303F7-4BCF-4AD3-936C-5ED2C4825859}">
      <dgm:prSet/>
      <dgm:spPr/>
      <dgm:t>
        <a:bodyPr/>
        <a:lstStyle/>
        <a:p>
          <a:endParaRPr lang="en-US"/>
        </a:p>
      </dgm:t>
    </dgm:pt>
    <dgm:pt modelId="{CE4D7BDD-DC4E-4A5F-A7F9-8EEC0DD66EF1}" type="pres">
      <dgm:prSet presAssocID="{62404384-910E-4E12-A7CC-CF8A590B0B70}" presName="Name0" presStyleCnt="0">
        <dgm:presLayoutVars>
          <dgm:dir/>
          <dgm:resizeHandles val="exact"/>
        </dgm:presLayoutVars>
      </dgm:prSet>
      <dgm:spPr/>
    </dgm:pt>
    <dgm:pt modelId="{093FFC7F-19FE-4DF4-83F4-5F893580BB98}" type="pres">
      <dgm:prSet presAssocID="{26DFD3D5-B82E-473B-A7AA-7825F9EDDDC9}" presName="composite" presStyleCnt="0"/>
      <dgm:spPr/>
    </dgm:pt>
    <dgm:pt modelId="{64D3BD77-2E8D-4ACB-B037-B68BB870413E}" type="pres">
      <dgm:prSet presAssocID="{26DFD3D5-B82E-473B-A7AA-7825F9EDDDC9}" presName="bgChev" presStyleLbl="node1" presStyleIdx="0" presStyleCnt="4"/>
      <dgm:spPr/>
    </dgm:pt>
    <dgm:pt modelId="{B23ABE36-295D-4ED2-A1C3-936B461D7F13}" type="pres">
      <dgm:prSet presAssocID="{26DFD3D5-B82E-473B-A7AA-7825F9EDDDC9}" presName="txNode" presStyleLbl="fgAcc1" presStyleIdx="0" presStyleCnt="4">
        <dgm:presLayoutVars>
          <dgm:bulletEnabled val="1"/>
        </dgm:presLayoutVars>
      </dgm:prSet>
      <dgm:spPr/>
    </dgm:pt>
    <dgm:pt modelId="{6E7F21C4-9FED-4317-A3B5-1B60758A1E38}" type="pres">
      <dgm:prSet presAssocID="{131A03F6-3957-4F57-B548-B48C1ED9CCF7}" presName="compositeSpace" presStyleCnt="0"/>
      <dgm:spPr/>
    </dgm:pt>
    <dgm:pt modelId="{E9612FB9-C2E7-48E7-B37E-74ABE95CBFBF}" type="pres">
      <dgm:prSet presAssocID="{212582AE-B612-4F83-9FA4-5D731E45A87C}" presName="composite" presStyleCnt="0"/>
      <dgm:spPr/>
    </dgm:pt>
    <dgm:pt modelId="{B26F2705-56C7-47CC-B74C-CAC4E56B2D4A}" type="pres">
      <dgm:prSet presAssocID="{212582AE-B612-4F83-9FA4-5D731E45A87C}" presName="bgChev" presStyleLbl="node1" presStyleIdx="1" presStyleCnt="4"/>
      <dgm:spPr/>
    </dgm:pt>
    <dgm:pt modelId="{CCE706E9-86D1-4F51-9C4C-BFAD3EE1B0E3}" type="pres">
      <dgm:prSet presAssocID="{212582AE-B612-4F83-9FA4-5D731E45A87C}" presName="txNode" presStyleLbl="fgAcc1" presStyleIdx="1" presStyleCnt="4">
        <dgm:presLayoutVars>
          <dgm:bulletEnabled val="1"/>
        </dgm:presLayoutVars>
      </dgm:prSet>
      <dgm:spPr/>
    </dgm:pt>
    <dgm:pt modelId="{53835B33-A5D5-47C4-AFE4-1F575BC2417D}" type="pres">
      <dgm:prSet presAssocID="{A340B067-88E4-4002-BD35-420A78510667}" presName="compositeSpace" presStyleCnt="0"/>
      <dgm:spPr/>
    </dgm:pt>
    <dgm:pt modelId="{4710D575-1A6B-4C4E-8068-DB93D0A73BBE}" type="pres">
      <dgm:prSet presAssocID="{73D5061B-6698-41CF-BCE4-C80D7316D945}" presName="composite" presStyleCnt="0"/>
      <dgm:spPr/>
    </dgm:pt>
    <dgm:pt modelId="{99DE828F-6864-41E4-A5C4-05E8046630B5}" type="pres">
      <dgm:prSet presAssocID="{73D5061B-6698-41CF-BCE4-C80D7316D945}" presName="bgChev" presStyleLbl="node1" presStyleIdx="2" presStyleCnt="4"/>
      <dgm:spPr/>
    </dgm:pt>
    <dgm:pt modelId="{9A579A99-7A25-402D-BE69-F98C11EEABFA}" type="pres">
      <dgm:prSet presAssocID="{73D5061B-6698-41CF-BCE4-C80D7316D945}" presName="txNode" presStyleLbl="fgAcc1" presStyleIdx="2" presStyleCnt="4">
        <dgm:presLayoutVars>
          <dgm:bulletEnabled val="1"/>
        </dgm:presLayoutVars>
      </dgm:prSet>
      <dgm:spPr/>
    </dgm:pt>
    <dgm:pt modelId="{D82A2208-4DDD-4F84-9A5C-51EA437D9EB6}" type="pres">
      <dgm:prSet presAssocID="{A779D731-85EB-4F95-82AB-B02C1F293861}" presName="compositeSpace" presStyleCnt="0"/>
      <dgm:spPr/>
    </dgm:pt>
    <dgm:pt modelId="{D6DDDCCD-249E-4620-A437-21A7E114492A}" type="pres">
      <dgm:prSet presAssocID="{BF09043C-4E04-4743-B4CF-39115AD2A2EC}" presName="composite" presStyleCnt="0"/>
      <dgm:spPr/>
    </dgm:pt>
    <dgm:pt modelId="{22060C5F-2C50-4568-B6A1-B342590C2F68}" type="pres">
      <dgm:prSet presAssocID="{BF09043C-4E04-4743-B4CF-39115AD2A2EC}" presName="bgChev" presStyleLbl="node1" presStyleIdx="3" presStyleCnt="4"/>
      <dgm:spPr/>
    </dgm:pt>
    <dgm:pt modelId="{F911EE14-0BFD-4600-A0CF-830EA524F342}" type="pres">
      <dgm:prSet presAssocID="{BF09043C-4E04-4743-B4CF-39115AD2A2EC}" presName="txNode" presStyleLbl="fgAcc1" presStyleIdx="3" presStyleCnt="4" custLinFactNeighborX="-7299" custLinFactNeighborY="2082">
        <dgm:presLayoutVars>
          <dgm:bulletEnabled val="1"/>
        </dgm:presLayoutVars>
      </dgm:prSet>
      <dgm:spPr/>
    </dgm:pt>
  </dgm:ptLst>
  <dgm:cxnLst>
    <dgm:cxn modelId="{E9FC1401-DAF8-404A-B8F0-E741EB1D57C0}" type="presOf" srcId="{BF09043C-4E04-4743-B4CF-39115AD2A2EC}" destId="{F911EE14-0BFD-4600-A0CF-830EA524F342}" srcOrd="0" destOrd="0" presId="urn:microsoft.com/office/officeart/2005/8/layout/chevronAccent+Icon"/>
    <dgm:cxn modelId="{3E63A15E-CD61-4652-9D8E-CC3930E7A0B5}" type="presOf" srcId="{212582AE-B612-4F83-9FA4-5D731E45A87C}" destId="{CCE706E9-86D1-4F51-9C4C-BFAD3EE1B0E3}" srcOrd="0" destOrd="0" presId="urn:microsoft.com/office/officeart/2005/8/layout/chevronAccent+Icon"/>
    <dgm:cxn modelId="{B162334E-5C84-477E-A4D2-E253D854DDD3}" srcId="{62404384-910E-4E12-A7CC-CF8A590B0B70}" destId="{26DFD3D5-B82E-473B-A7AA-7825F9EDDDC9}" srcOrd="0" destOrd="0" parTransId="{0F69CF1D-533A-41BB-944D-6F719645DC9B}" sibTransId="{131A03F6-3957-4F57-B548-B48C1ED9CCF7}"/>
    <dgm:cxn modelId="{795CA48D-168C-4DB8-81A3-1195F7540114}" type="presOf" srcId="{26DFD3D5-B82E-473B-A7AA-7825F9EDDDC9}" destId="{B23ABE36-295D-4ED2-A1C3-936B461D7F13}" srcOrd="0" destOrd="0" presId="urn:microsoft.com/office/officeart/2005/8/layout/chevronAccent+Icon"/>
    <dgm:cxn modelId="{59A1F09A-5330-4F93-9090-7F614CD74059}" type="presOf" srcId="{73D5061B-6698-41CF-BCE4-C80D7316D945}" destId="{9A579A99-7A25-402D-BE69-F98C11EEABFA}" srcOrd="0" destOrd="0" presId="urn:microsoft.com/office/officeart/2005/8/layout/chevronAccent+Icon"/>
    <dgm:cxn modelId="{BC8B9AC9-5936-4C01-B2DD-43FA9B074158}" srcId="{62404384-910E-4E12-A7CC-CF8A590B0B70}" destId="{73D5061B-6698-41CF-BCE4-C80D7316D945}" srcOrd="2" destOrd="0" parTransId="{5AFAC292-1D16-4051-9B3A-0FB67B747EED}" sibTransId="{A779D731-85EB-4F95-82AB-B02C1F293861}"/>
    <dgm:cxn modelId="{A97436E4-0A65-4024-B856-3D832504DB8A}" srcId="{62404384-910E-4E12-A7CC-CF8A590B0B70}" destId="{212582AE-B612-4F83-9FA4-5D731E45A87C}" srcOrd="1" destOrd="0" parTransId="{B037EBDF-5096-496B-A117-3DB7165EB0F5}" sibTransId="{A340B067-88E4-4002-BD35-420A78510667}"/>
    <dgm:cxn modelId="{91A9EAF0-EBD4-48DE-94CD-EA815B4E81B1}" type="presOf" srcId="{62404384-910E-4E12-A7CC-CF8A590B0B70}" destId="{CE4D7BDD-DC4E-4A5F-A7F9-8EEC0DD66EF1}" srcOrd="0" destOrd="0" presId="urn:microsoft.com/office/officeart/2005/8/layout/chevronAccent+Icon"/>
    <dgm:cxn modelId="{312303F7-4BCF-4AD3-936C-5ED2C4825859}" srcId="{62404384-910E-4E12-A7CC-CF8A590B0B70}" destId="{BF09043C-4E04-4743-B4CF-39115AD2A2EC}" srcOrd="3" destOrd="0" parTransId="{8DF51FBC-A76C-4D3B-8305-52B1DD7B2240}" sibTransId="{9C89353F-8CC3-45E8-A71C-E7642D657571}"/>
    <dgm:cxn modelId="{C5680033-C149-430E-BF3A-8D5C2E9BB060}" type="presParOf" srcId="{CE4D7BDD-DC4E-4A5F-A7F9-8EEC0DD66EF1}" destId="{093FFC7F-19FE-4DF4-83F4-5F893580BB98}" srcOrd="0" destOrd="0" presId="urn:microsoft.com/office/officeart/2005/8/layout/chevronAccent+Icon"/>
    <dgm:cxn modelId="{BEC18BEA-6D8C-4F5E-816E-9945C7623899}" type="presParOf" srcId="{093FFC7F-19FE-4DF4-83F4-5F893580BB98}" destId="{64D3BD77-2E8D-4ACB-B037-B68BB870413E}" srcOrd="0" destOrd="0" presId="urn:microsoft.com/office/officeart/2005/8/layout/chevronAccent+Icon"/>
    <dgm:cxn modelId="{801BB7E7-0111-4DE0-AE2E-965EF14B327B}" type="presParOf" srcId="{093FFC7F-19FE-4DF4-83F4-5F893580BB98}" destId="{B23ABE36-295D-4ED2-A1C3-936B461D7F13}" srcOrd="1" destOrd="0" presId="urn:microsoft.com/office/officeart/2005/8/layout/chevronAccent+Icon"/>
    <dgm:cxn modelId="{6FDBD790-34AA-4C91-872A-703E45F87BF4}" type="presParOf" srcId="{CE4D7BDD-DC4E-4A5F-A7F9-8EEC0DD66EF1}" destId="{6E7F21C4-9FED-4317-A3B5-1B60758A1E38}" srcOrd="1" destOrd="0" presId="urn:microsoft.com/office/officeart/2005/8/layout/chevronAccent+Icon"/>
    <dgm:cxn modelId="{422147B9-1A54-4554-85FB-46C1AC9F20E8}" type="presParOf" srcId="{CE4D7BDD-DC4E-4A5F-A7F9-8EEC0DD66EF1}" destId="{E9612FB9-C2E7-48E7-B37E-74ABE95CBFBF}" srcOrd="2" destOrd="0" presId="urn:microsoft.com/office/officeart/2005/8/layout/chevronAccent+Icon"/>
    <dgm:cxn modelId="{0B7017C1-677A-4E40-A17C-C404567220B6}" type="presParOf" srcId="{E9612FB9-C2E7-48E7-B37E-74ABE95CBFBF}" destId="{B26F2705-56C7-47CC-B74C-CAC4E56B2D4A}" srcOrd="0" destOrd="0" presId="urn:microsoft.com/office/officeart/2005/8/layout/chevronAccent+Icon"/>
    <dgm:cxn modelId="{1EFFC9E9-F785-4AF7-B155-6CB81461C3DC}" type="presParOf" srcId="{E9612FB9-C2E7-48E7-B37E-74ABE95CBFBF}" destId="{CCE706E9-86D1-4F51-9C4C-BFAD3EE1B0E3}" srcOrd="1" destOrd="0" presId="urn:microsoft.com/office/officeart/2005/8/layout/chevronAccent+Icon"/>
    <dgm:cxn modelId="{CE78A018-6CD7-4075-8947-637067823A59}" type="presParOf" srcId="{CE4D7BDD-DC4E-4A5F-A7F9-8EEC0DD66EF1}" destId="{53835B33-A5D5-47C4-AFE4-1F575BC2417D}" srcOrd="3" destOrd="0" presId="urn:microsoft.com/office/officeart/2005/8/layout/chevronAccent+Icon"/>
    <dgm:cxn modelId="{6AFBFC50-331E-43B1-A8F6-44EB56E84D68}" type="presParOf" srcId="{CE4D7BDD-DC4E-4A5F-A7F9-8EEC0DD66EF1}" destId="{4710D575-1A6B-4C4E-8068-DB93D0A73BBE}" srcOrd="4" destOrd="0" presId="urn:microsoft.com/office/officeart/2005/8/layout/chevronAccent+Icon"/>
    <dgm:cxn modelId="{3E70E8CD-149E-460D-B6AC-1FD69EDEC714}" type="presParOf" srcId="{4710D575-1A6B-4C4E-8068-DB93D0A73BBE}" destId="{99DE828F-6864-41E4-A5C4-05E8046630B5}" srcOrd="0" destOrd="0" presId="urn:microsoft.com/office/officeart/2005/8/layout/chevronAccent+Icon"/>
    <dgm:cxn modelId="{541339B9-F80F-4B69-8CDD-C411897B129B}" type="presParOf" srcId="{4710D575-1A6B-4C4E-8068-DB93D0A73BBE}" destId="{9A579A99-7A25-402D-BE69-F98C11EEABFA}" srcOrd="1" destOrd="0" presId="urn:microsoft.com/office/officeart/2005/8/layout/chevronAccent+Icon"/>
    <dgm:cxn modelId="{DE131353-2A81-4F4A-9031-9D69261383B0}" type="presParOf" srcId="{CE4D7BDD-DC4E-4A5F-A7F9-8EEC0DD66EF1}" destId="{D82A2208-4DDD-4F84-9A5C-51EA437D9EB6}" srcOrd="5" destOrd="0" presId="urn:microsoft.com/office/officeart/2005/8/layout/chevronAccent+Icon"/>
    <dgm:cxn modelId="{FF9FAFBF-27E7-4CF2-9604-72E942B560FB}" type="presParOf" srcId="{CE4D7BDD-DC4E-4A5F-A7F9-8EEC0DD66EF1}" destId="{D6DDDCCD-249E-4620-A437-21A7E114492A}" srcOrd="6" destOrd="0" presId="urn:microsoft.com/office/officeart/2005/8/layout/chevronAccent+Icon"/>
    <dgm:cxn modelId="{165B2C16-7D2D-4349-9089-1FE171AF7536}" type="presParOf" srcId="{D6DDDCCD-249E-4620-A437-21A7E114492A}" destId="{22060C5F-2C50-4568-B6A1-B342590C2F68}" srcOrd="0" destOrd="0" presId="urn:microsoft.com/office/officeart/2005/8/layout/chevronAccent+Icon"/>
    <dgm:cxn modelId="{ADE14273-2D0B-4690-8D21-509408151D88}" type="presParOf" srcId="{D6DDDCCD-249E-4620-A437-21A7E114492A}" destId="{F911EE14-0BFD-4600-A0CF-830EA524F34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3BD77-2E8D-4ACB-B037-B68BB870413E}">
      <dsp:nvSpPr>
        <dsp:cNvPr id="0" name=""/>
        <dsp:cNvSpPr/>
      </dsp:nvSpPr>
      <dsp:spPr>
        <a:xfrm>
          <a:off x="788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ABE36-295D-4ED2-A1C3-936B461D7F13}">
      <dsp:nvSpPr>
        <dsp:cNvPr id="0" name=""/>
        <dsp:cNvSpPr/>
      </dsp:nvSpPr>
      <dsp:spPr>
        <a:xfrm>
          <a:off x="997877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Signal Ingestion </a:t>
          </a:r>
        </a:p>
      </dsp:txBody>
      <dsp:txXfrm>
        <a:off x="1039282" y="394821"/>
        <a:ext cx="3052156" cy="1330854"/>
      </dsp:txXfrm>
    </dsp:sp>
    <dsp:sp modelId="{B26F2705-56C7-47CC-B74C-CAC4E56B2D4A}">
      <dsp:nvSpPr>
        <dsp:cNvPr id="0" name=""/>
        <dsp:cNvSpPr/>
      </dsp:nvSpPr>
      <dsp:spPr>
        <a:xfrm>
          <a:off x="424834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706E9-86D1-4F51-9C4C-BFAD3EE1B0E3}">
      <dsp:nvSpPr>
        <dsp:cNvPr id="0" name=""/>
        <dsp:cNvSpPr/>
      </dsp:nvSpPr>
      <dsp:spPr>
        <a:xfrm>
          <a:off x="5238331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Estimation Matrix</a:t>
          </a:r>
        </a:p>
      </dsp:txBody>
      <dsp:txXfrm>
        <a:off x="5279736" y="394821"/>
        <a:ext cx="3052156" cy="1330854"/>
      </dsp:txXfrm>
    </dsp:sp>
    <dsp:sp modelId="{99DE828F-6864-41E4-A5C4-05E8046630B5}">
      <dsp:nvSpPr>
        <dsp:cNvPr id="0" name=""/>
        <dsp:cNvSpPr/>
      </dsp:nvSpPr>
      <dsp:spPr>
        <a:xfrm>
          <a:off x="848879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79A99-7A25-402D-BE69-F98C11EEABFA}">
      <dsp:nvSpPr>
        <dsp:cNvPr id="0" name=""/>
        <dsp:cNvSpPr/>
      </dsp:nvSpPr>
      <dsp:spPr>
        <a:xfrm>
          <a:off x="9478786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Feature Extraction</a:t>
          </a:r>
        </a:p>
      </dsp:txBody>
      <dsp:txXfrm>
        <a:off x="9520191" y="394821"/>
        <a:ext cx="3052156" cy="1330854"/>
      </dsp:txXfrm>
    </dsp:sp>
    <dsp:sp modelId="{22060C5F-2C50-4568-B6A1-B342590C2F68}">
      <dsp:nvSpPr>
        <dsp:cNvPr id="0" name=""/>
        <dsp:cNvSpPr/>
      </dsp:nvSpPr>
      <dsp:spPr>
        <a:xfrm>
          <a:off x="1272925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EE14-0BFD-4600-A0CF-830EA524F342}">
      <dsp:nvSpPr>
        <dsp:cNvPr id="0" name=""/>
        <dsp:cNvSpPr/>
      </dsp:nvSpPr>
      <dsp:spPr>
        <a:xfrm>
          <a:off x="13490420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Classification</a:t>
          </a:r>
        </a:p>
      </dsp:txBody>
      <dsp:txXfrm>
        <a:off x="13531825" y="394821"/>
        <a:ext cx="3052156" cy="1330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0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0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1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8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0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7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52A70-1682-4967-8B8E-ED0BCE20DE0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6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11.png"/><Relationship Id="rId7" Type="http://schemas.openxmlformats.org/officeDocument/2006/relationships/image" Target="../media/image1.png"/><Relationship Id="rId1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5.png"/><Relationship Id="rId19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4.pn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137" name="Group 5">
            <a:extLst>
              <a:ext uri="{FF2B5EF4-FFF2-40B4-BE49-F238E27FC236}">
                <a16:creationId xmlns:a16="http://schemas.microsoft.com/office/drawing/2014/main" id="{99D4F269-618D-7823-F612-F7DED153A966}"/>
              </a:ext>
            </a:extLst>
          </p:cNvPr>
          <p:cNvGrpSpPr/>
          <p:nvPr/>
        </p:nvGrpSpPr>
        <p:grpSpPr>
          <a:xfrm>
            <a:off x="330284" y="4701086"/>
            <a:ext cx="10905415" cy="9012909"/>
            <a:chOff x="-50609" y="-47625"/>
            <a:chExt cx="1961378" cy="3944774"/>
          </a:xfrm>
        </p:grpSpPr>
        <p:sp>
          <p:nvSpPr>
            <p:cNvPr id="138" name="Freeform 6">
              <a:extLst>
                <a:ext uri="{FF2B5EF4-FFF2-40B4-BE49-F238E27FC236}">
                  <a16:creationId xmlns:a16="http://schemas.microsoft.com/office/drawing/2014/main" id="{73ADDBB2-B3DF-100B-56D9-B2CBCBFD366B}"/>
                </a:ext>
              </a:extLst>
            </p:cNvPr>
            <p:cNvSpPr/>
            <p:nvPr/>
          </p:nvSpPr>
          <p:spPr>
            <a:xfrm>
              <a:off x="-50609" y="40805"/>
              <a:ext cx="1910769" cy="3856344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TextBox 7">
              <a:extLst>
                <a:ext uri="{FF2B5EF4-FFF2-40B4-BE49-F238E27FC236}">
                  <a16:creationId xmlns:a16="http://schemas.microsoft.com/office/drawing/2014/main" id="{3315F425-6642-2ABE-61E4-CAC619970C50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56" name="TextBox 7">
            <a:extLst>
              <a:ext uri="{FF2B5EF4-FFF2-40B4-BE49-F238E27FC236}">
                <a16:creationId xmlns:a16="http://schemas.microsoft.com/office/drawing/2014/main" id="{BB906342-2859-2F66-EF0A-27B113A92096}"/>
              </a:ext>
            </a:extLst>
          </p:cNvPr>
          <p:cNvSpPr txBox="1"/>
          <p:nvPr/>
        </p:nvSpPr>
        <p:spPr>
          <a:xfrm>
            <a:off x="11205479" y="5288063"/>
            <a:ext cx="18731512" cy="25505571"/>
          </a:xfrm>
          <a:prstGeom prst="rect">
            <a:avLst/>
          </a:prstGeom>
        </p:spPr>
        <p:txBody>
          <a:bodyPr lIns="25305" tIns="25305" rIns="25305" bIns="25305" rtlCol="0" anchor="ctr"/>
          <a:lstStyle/>
          <a:p>
            <a:pPr algn="ctr">
              <a:lnSpc>
                <a:spcPts val="3975"/>
              </a:lnSpc>
            </a:pPr>
            <a:endParaRPr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428BD4E-8759-D484-75C7-DB293592FA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" y="116569"/>
            <a:ext cx="30267275" cy="3684651"/>
            <a:chOff x="0" y="0"/>
            <a:chExt cx="7689780" cy="661951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18894A4-30B9-72FD-12EA-1754AEF274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E2EE8963-70B6-67CE-AF6A-2633748FC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709576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F47DDF8A-FE7C-22AB-249E-515267B640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1906280" y="3513833"/>
            <a:ext cx="8360995" cy="605447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71FF1953-9D62-3148-1AC0-A1CE1B414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D2349127-8113-FBC8-CCDB-A5F4D33F7A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D32542E1-CFE3-5E9D-088E-76BDF151BE0E}"/>
              </a:ext>
            </a:extLst>
          </p:cNvPr>
          <p:cNvSpPr txBox="1"/>
          <p:nvPr/>
        </p:nvSpPr>
        <p:spPr>
          <a:xfrm>
            <a:off x="761597" y="577608"/>
            <a:ext cx="2769910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240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Physics-Informed Machine Learning Vessel Depth Classification</a:t>
            </a: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7F6AA164-033A-585B-BE6A-CCC6CD0FAE06}"/>
              </a:ext>
            </a:extLst>
          </p:cNvPr>
          <p:cNvSpPr txBox="1"/>
          <p:nvPr/>
        </p:nvSpPr>
        <p:spPr>
          <a:xfrm>
            <a:off x="520905" y="4119281"/>
            <a:ext cx="177763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4400" i="1" dirty="0">
                <a:solidFill>
                  <a:srgbClr val="52525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Roy Michael - Department of Marine Technologies, Haifa University</a:t>
            </a:r>
          </a:p>
        </p:txBody>
      </p:sp>
      <p:grpSp>
        <p:nvGrpSpPr>
          <p:cNvPr id="19" name="Group 5">
            <a:extLst>
              <a:ext uri="{FF2B5EF4-FFF2-40B4-BE49-F238E27FC236}">
                <a16:creationId xmlns:a16="http://schemas.microsoft.com/office/drawing/2014/main" id="{D03F68F9-7643-1483-EAD3-7F36AEEEDBCA}"/>
              </a:ext>
            </a:extLst>
          </p:cNvPr>
          <p:cNvGrpSpPr/>
          <p:nvPr/>
        </p:nvGrpSpPr>
        <p:grpSpPr>
          <a:xfrm>
            <a:off x="328351" y="13835434"/>
            <a:ext cx="10624025" cy="25820105"/>
            <a:chOff x="0" y="0"/>
            <a:chExt cx="1910769" cy="3897149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FCBB05C1-7651-EC28-8CF3-BBBC1ADA11C2}"/>
                </a:ext>
              </a:extLst>
            </p:cNvPr>
            <p:cNvSpPr/>
            <p:nvPr/>
          </p:nvSpPr>
          <p:spPr>
            <a:xfrm>
              <a:off x="0" y="0"/>
              <a:ext cx="1910769" cy="3897149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69A7AC6B-7D17-1BD9-9726-0ACB3AFAE178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EBAE3F6-FF86-36C7-8511-5B15551F0036}"/>
              </a:ext>
            </a:extLst>
          </p:cNvPr>
          <p:cNvGrpSpPr/>
          <p:nvPr/>
        </p:nvGrpSpPr>
        <p:grpSpPr>
          <a:xfrm>
            <a:off x="671553" y="4831801"/>
            <a:ext cx="5710068" cy="938719"/>
            <a:chOff x="671553" y="5327101"/>
            <a:chExt cx="5710068" cy="938719"/>
          </a:xfrm>
        </p:grpSpPr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B653E9D8-9DF4-53C0-780D-CCE39FF3F8E3}"/>
                </a:ext>
              </a:extLst>
            </p:cNvPr>
            <p:cNvGrpSpPr/>
            <p:nvPr/>
          </p:nvGrpSpPr>
          <p:grpSpPr>
            <a:xfrm>
              <a:off x="671553" y="5631471"/>
              <a:ext cx="412074" cy="412074"/>
              <a:chOff x="0" y="0"/>
              <a:chExt cx="812800" cy="812800"/>
            </a:xfrm>
          </p:grpSpPr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052F2C4B-4C8C-D535-BF8A-9F31558DE28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F20BDD5A-C08C-AED3-787C-CE8EF08485A4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29" name="TextBox 48">
              <a:extLst>
                <a:ext uri="{FF2B5EF4-FFF2-40B4-BE49-F238E27FC236}">
                  <a16:creationId xmlns:a16="http://schemas.microsoft.com/office/drawing/2014/main" id="{B875FFF8-52FE-5CCB-1BAD-1ED51CC73271}"/>
                </a:ext>
              </a:extLst>
            </p:cNvPr>
            <p:cNvSpPr txBox="1"/>
            <p:nvPr/>
          </p:nvSpPr>
          <p:spPr>
            <a:xfrm>
              <a:off x="1262654" y="5327101"/>
              <a:ext cx="5118967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Background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7BD74-2724-F33C-FB2D-7416646D22B9}"/>
              </a:ext>
            </a:extLst>
          </p:cNvPr>
          <p:cNvGrpSpPr/>
          <p:nvPr/>
        </p:nvGrpSpPr>
        <p:grpSpPr>
          <a:xfrm>
            <a:off x="11133336" y="4826759"/>
            <a:ext cx="5295953" cy="938719"/>
            <a:chOff x="555558" y="15730480"/>
            <a:chExt cx="5295953" cy="938719"/>
          </a:xfrm>
        </p:grpSpPr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061BD95B-ECC9-AF8B-ED7F-CA41B946E251}"/>
                </a:ext>
              </a:extLst>
            </p:cNvPr>
            <p:cNvGrpSpPr/>
            <p:nvPr/>
          </p:nvGrpSpPr>
          <p:grpSpPr>
            <a:xfrm>
              <a:off x="555558" y="16094037"/>
              <a:ext cx="412074" cy="412074"/>
              <a:chOff x="0" y="0"/>
              <a:chExt cx="812800" cy="812800"/>
            </a:xfrm>
          </p:grpSpPr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C8CF8B68-EF91-96F0-B825-CDB2079A674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9">
                <a:extLst>
                  <a:ext uri="{FF2B5EF4-FFF2-40B4-BE49-F238E27FC236}">
                    <a16:creationId xmlns:a16="http://schemas.microsoft.com/office/drawing/2014/main" id="{AEA0AF5F-B066-DEBA-81BF-AC2F3EDE1AE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31" name="TextBox 55">
              <a:extLst>
                <a:ext uri="{FF2B5EF4-FFF2-40B4-BE49-F238E27FC236}">
                  <a16:creationId xmlns:a16="http://schemas.microsoft.com/office/drawing/2014/main" id="{D2950F06-2ABD-9371-1208-BF8C9B360542}"/>
                </a:ext>
              </a:extLst>
            </p:cNvPr>
            <p:cNvSpPr txBox="1"/>
            <p:nvPr/>
          </p:nvSpPr>
          <p:spPr>
            <a:xfrm>
              <a:off x="1173669" y="15730480"/>
              <a:ext cx="4677842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Methodology</a:t>
              </a:r>
            </a:p>
          </p:txBody>
        </p:sp>
      </p:grpSp>
      <p:graphicFrame>
        <p:nvGraphicFramePr>
          <p:cNvPr id="140" name="Diagram 139">
            <a:extLst>
              <a:ext uri="{FF2B5EF4-FFF2-40B4-BE49-F238E27FC236}">
                <a16:creationId xmlns:a16="http://schemas.microsoft.com/office/drawing/2014/main" id="{E8336AEC-76BD-8BB3-F773-DB9EEBE78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509561"/>
              </p:ext>
            </p:extLst>
          </p:nvPr>
        </p:nvGraphicFramePr>
        <p:xfrm>
          <a:off x="11147266" y="5842783"/>
          <a:ext cx="16862096" cy="1767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TextBox 49">
            <a:extLst>
              <a:ext uri="{FF2B5EF4-FFF2-40B4-BE49-F238E27FC236}">
                <a16:creationId xmlns:a16="http://schemas.microsoft.com/office/drawing/2014/main" id="{D6D7E775-4564-4BB9-4ABB-ED76A6526E99}"/>
              </a:ext>
            </a:extLst>
          </p:cNvPr>
          <p:cNvSpPr txBox="1"/>
          <p:nvPr/>
        </p:nvSpPr>
        <p:spPr>
          <a:xfrm>
            <a:off x="761595" y="5745884"/>
            <a:ext cx="1001328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Passive Acoustic Monitoring can distinguish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and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sources using the effect of wave coupling on mechanical tonal.</a:t>
            </a: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7C8694B2-873E-BCF5-27A2-F010AA0C6E57}"/>
              </a:ext>
            </a:extLst>
          </p:cNvPr>
          <p:cNvGrpSpPr/>
          <p:nvPr/>
        </p:nvGrpSpPr>
        <p:grpSpPr>
          <a:xfrm>
            <a:off x="22017756" y="33340412"/>
            <a:ext cx="353790" cy="412074"/>
            <a:chOff x="0" y="0"/>
            <a:chExt cx="812800" cy="812800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D9EE583C-1E8F-6F33-B1F6-C33C49220F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B86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EDEDBECF-55BF-4AAF-0DC6-037E243DBC2A}"/>
                </a:ext>
              </a:extLst>
            </p:cNvPr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59"/>
                </a:lnSpc>
              </a:pPr>
              <a:endParaRPr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824A2F6-2157-BED3-C292-3D9F88C2D357}"/>
              </a:ext>
            </a:extLst>
          </p:cNvPr>
          <p:cNvGrpSpPr/>
          <p:nvPr/>
        </p:nvGrpSpPr>
        <p:grpSpPr>
          <a:xfrm>
            <a:off x="11171968" y="7689454"/>
            <a:ext cx="8794259" cy="938719"/>
            <a:chOff x="11466662" y="5806860"/>
            <a:chExt cx="8794259" cy="938719"/>
          </a:xfrm>
        </p:grpSpPr>
        <p:grpSp>
          <p:nvGrpSpPr>
            <p:cNvPr id="59" name="Group 30">
              <a:extLst>
                <a:ext uri="{FF2B5EF4-FFF2-40B4-BE49-F238E27FC236}">
                  <a16:creationId xmlns:a16="http://schemas.microsoft.com/office/drawing/2014/main" id="{A40B761F-A63D-1A4D-771E-23F7983A4FE0}"/>
                </a:ext>
              </a:extLst>
            </p:cNvPr>
            <p:cNvGrpSpPr/>
            <p:nvPr/>
          </p:nvGrpSpPr>
          <p:grpSpPr>
            <a:xfrm>
              <a:off x="11466662" y="6170417"/>
              <a:ext cx="412074" cy="412074"/>
              <a:chOff x="0" y="0"/>
              <a:chExt cx="812800" cy="812800"/>
            </a:xfrm>
          </p:grpSpPr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938DDA56-3AE3-079C-A19D-6226559A7D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32">
                <a:extLst>
                  <a:ext uri="{FF2B5EF4-FFF2-40B4-BE49-F238E27FC236}">
                    <a16:creationId xmlns:a16="http://schemas.microsoft.com/office/drawing/2014/main" id="{8B3C9DE1-5449-9A4B-8835-9928A2D6230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62" name="TextBox 50">
              <a:extLst>
                <a:ext uri="{FF2B5EF4-FFF2-40B4-BE49-F238E27FC236}">
                  <a16:creationId xmlns:a16="http://schemas.microsoft.com/office/drawing/2014/main" id="{7618DE81-CD67-AC1F-15F9-9E61562F92CF}"/>
                </a:ext>
              </a:extLst>
            </p:cNvPr>
            <p:cNvSpPr txBox="1"/>
            <p:nvPr/>
          </p:nvSpPr>
          <p:spPr>
            <a:xfrm>
              <a:off x="12087288" y="5806860"/>
              <a:ext cx="8173633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Results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6730DC6-28D5-B4B3-13E8-4C4244311EF4}"/>
              </a:ext>
            </a:extLst>
          </p:cNvPr>
          <p:cNvGrpSpPr/>
          <p:nvPr/>
        </p:nvGrpSpPr>
        <p:grpSpPr>
          <a:xfrm>
            <a:off x="178005" y="29932927"/>
            <a:ext cx="29959706" cy="9722607"/>
            <a:chOff x="178005" y="28961377"/>
            <a:chExt cx="29959706" cy="9722607"/>
          </a:xfrm>
        </p:grpSpPr>
        <p:grpSp>
          <p:nvGrpSpPr>
            <p:cNvPr id="39" name="Group 2">
              <a:extLst>
                <a:ext uri="{FF2B5EF4-FFF2-40B4-BE49-F238E27FC236}">
                  <a16:creationId xmlns:a16="http://schemas.microsoft.com/office/drawing/2014/main" id="{F112B443-E0FE-6E45-9DEF-35E0A736858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8005" y="28961377"/>
              <a:ext cx="29959706" cy="9722607"/>
              <a:chOff x="0" y="-47625"/>
              <a:chExt cx="5523828" cy="2091677"/>
            </a:xfrm>
          </p:grpSpPr>
          <p:sp>
            <p:nvSpPr>
              <p:cNvPr id="40" name="Freeform 3">
                <a:extLst>
                  <a:ext uri="{FF2B5EF4-FFF2-40B4-BE49-F238E27FC236}">
                    <a16:creationId xmlns:a16="http://schemas.microsoft.com/office/drawing/2014/main" id="{D9C28C58-4DE3-3A62-B62A-BD8251316A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11540" y="347923"/>
                <a:ext cx="3512288" cy="1696129"/>
              </a:xfrm>
              <a:custGeom>
                <a:avLst/>
                <a:gdLst/>
                <a:ahLst/>
                <a:cxnLst/>
                <a:rect l="l" t="t" r="r" b="b"/>
                <a:pathLst>
                  <a:path w="5521276" h="2042110">
                    <a:moveTo>
                      <a:pt x="9069" y="0"/>
                    </a:moveTo>
                    <a:lnTo>
                      <a:pt x="5512208" y="0"/>
                    </a:lnTo>
                    <a:cubicBezTo>
                      <a:pt x="5514613" y="0"/>
                      <a:pt x="5516919" y="955"/>
                      <a:pt x="5518620" y="2656"/>
                    </a:cubicBezTo>
                    <a:cubicBezTo>
                      <a:pt x="5520321" y="4357"/>
                      <a:pt x="5521276" y="6663"/>
                      <a:pt x="5521276" y="9069"/>
                    </a:cubicBezTo>
                    <a:lnTo>
                      <a:pt x="5521276" y="2033042"/>
                    </a:lnTo>
                    <a:cubicBezTo>
                      <a:pt x="5521276" y="2035447"/>
                      <a:pt x="5520321" y="2037753"/>
                      <a:pt x="5518620" y="2039454"/>
                    </a:cubicBezTo>
                    <a:cubicBezTo>
                      <a:pt x="5516919" y="2041155"/>
                      <a:pt x="5514613" y="2042110"/>
                      <a:pt x="5512208" y="2042110"/>
                    </a:cubicBezTo>
                    <a:lnTo>
                      <a:pt x="9069" y="2042110"/>
                    </a:lnTo>
                    <a:cubicBezTo>
                      <a:pt x="6663" y="2042110"/>
                      <a:pt x="4357" y="2041155"/>
                      <a:pt x="2656" y="2039454"/>
                    </a:cubicBezTo>
                    <a:cubicBezTo>
                      <a:pt x="955" y="2037753"/>
                      <a:pt x="0" y="2035447"/>
                      <a:pt x="0" y="2033042"/>
                    </a:cubicBezTo>
                    <a:lnTo>
                      <a:pt x="0" y="9069"/>
                    </a:lnTo>
                    <a:cubicBezTo>
                      <a:pt x="0" y="6663"/>
                      <a:pt x="955" y="4357"/>
                      <a:pt x="2656" y="2656"/>
                    </a:cubicBezTo>
                    <a:cubicBezTo>
                      <a:pt x="4357" y="955"/>
                      <a:pt x="6663" y="0"/>
                      <a:pt x="9069" y="0"/>
                    </a:cubicBezTo>
                    <a:close/>
                  </a:path>
                </a:pathLst>
              </a:custGeom>
              <a:solidFill>
                <a:srgbClr val="EEF0F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TextBox 4">
                <a:extLst>
                  <a:ext uri="{FF2B5EF4-FFF2-40B4-BE49-F238E27FC236}">
                    <a16:creationId xmlns:a16="http://schemas.microsoft.com/office/drawing/2014/main" id="{61DB7902-2A2C-3315-2F0C-63AA3B5675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47625"/>
                <a:ext cx="5521276" cy="2089735"/>
              </a:xfrm>
              <a:prstGeom prst="rect">
                <a:avLst/>
              </a:prstGeom>
            </p:spPr>
            <p:txBody>
              <a:bodyPr lIns="25305" tIns="25305" rIns="25305" bIns="25305" rtlCol="0" anchor="ctr"/>
              <a:lstStyle/>
              <a:p>
                <a:pPr algn="ctr">
                  <a:lnSpc>
                    <a:spcPts val="3975"/>
                  </a:lnSpc>
                </a:pPr>
                <a:endParaRPr/>
              </a:p>
            </p:txBody>
          </p:sp>
        </p:grpSp>
        <p:sp>
          <p:nvSpPr>
            <p:cNvPr id="51" name="TextBox 57">
              <a:extLst>
                <a:ext uri="{FF2B5EF4-FFF2-40B4-BE49-F238E27FC236}">
                  <a16:creationId xmlns:a16="http://schemas.microsoft.com/office/drawing/2014/main" id="{4393B921-3847-9F77-3646-4B178E8D48F3}"/>
                </a:ext>
              </a:extLst>
            </p:cNvPr>
            <p:cNvSpPr txBox="1"/>
            <p:nvPr/>
          </p:nvSpPr>
          <p:spPr>
            <a:xfrm>
              <a:off x="11221858" y="35833335"/>
              <a:ext cx="8029578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References</a:t>
              </a:r>
            </a:p>
          </p:txBody>
        </p:sp>
        <p:sp>
          <p:nvSpPr>
            <p:cNvPr id="54" name="TextBox 70">
              <a:extLst>
                <a:ext uri="{FF2B5EF4-FFF2-40B4-BE49-F238E27FC236}">
                  <a16:creationId xmlns:a16="http://schemas.microsoft.com/office/drawing/2014/main" id="{0DF760C2-608F-9400-21C2-838B3E0DD26D}"/>
                </a:ext>
              </a:extLst>
            </p:cNvPr>
            <p:cNvSpPr txBox="1"/>
            <p:nvPr/>
          </p:nvSpPr>
          <p:spPr>
            <a:xfrm>
              <a:off x="23474811" y="30671866"/>
              <a:ext cx="6512599" cy="31290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>
                <a:lnSpc>
                  <a:spcPts val="7559"/>
                </a:lnSpc>
              </a:pPr>
              <a:r>
                <a:rPr lang="en-US" sz="4400" b="1" dirty="0">
                  <a:solidFill>
                    <a:srgbClr val="0D1D52"/>
                  </a:solidFill>
                  <a:latin typeface="Poppins Semi-Bold"/>
                  <a:sym typeface="Poppins Semi-Bold"/>
                </a:rPr>
                <a:t>Acknowledgements</a:t>
              </a:r>
              <a:endParaRPr lang="en-US" sz="4400" b="1" dirty="0">
                <a:solidFill>
                  <a:srgbClr val="0D1D52"/>
                </a:solidFill>
                <a:latin typeface="Poppins Semi-Bold"/>
              </a:endParaRPr>
            </a:p>
            <a:p>
              <a:r>
                <a:rPr sz="2800" dirty="0">
                  <a:solidFill>
                    <a:srgbClr val="737373"/>
                  </a:solidFill>
                  <a:latin typeface="Poppins"/>
                  <a:cs typeface="Poppins"/>
                </a:rPr>
                <a:t>This work was developed within the Department of Marine Technologies, Haifa University, as part of ongoing research on physics-informed passive acoustic sensing.</a:t>
              </a:r>
            </a:p>
          </p:txBody>
        </p:sp>
        <p:sp>
          <p:nvSpPr>
            <p:cNvPr id="55" name="TextBox 71">
              <a:extLst>
                <a:ext uri="{FF2B5EF4-FFF2-40B4-BE49-F238E27FC236}">
                  <a16:creationId xmlns:a16="http://schemas.microsoft.com/office/drawing/2014/main" id="{5D3B2871-AC08-18B3-8720-68CAF135694C}"/>
                </a:ext>
              </a:extLst>
            </p:cNvPr>
            <p:cNvSpPr txBox="1"/>
            <p:nvPr/>
          </p:nvSpPr>
          <p:spPr>
            <a:xfrm>
              <a:off x="11235699" y="36667341"/>
              <a:ext cx="18160008" cy="19389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[1] M. Stojanovic, IEEE J. Oceanic Engineering, 21(2), 125–136, 1996.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[2] J. C. </a:t>
              </a:r>
              <a:r>
                <a:rPr dirty="0" err="1">
                  <a:solidFill>
                    <a:srgbClr val="737373"/>
                  </a:solidFill>
                  <a:latin typeface="Poppins"/>
                  <a:cs typeface="Poppins"/>
                </a:rPr>
                <a:t>Preisig</a:t>
              </a:r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, IEEE Communications Magazine, 45(12), 110–117, 2007.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[3] A. B. Carlson, P. B. Crilly, J. C. Rutledge, Communication Systems, 4th ed., McGraw-Hill, 2001.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[4] F. G. Bass, I. M. Fuks, Wave Scattering from Statistically Rough Surfaces, Pergamon, 1979.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[5] W. I. Roderick, PhD dissertation, Yale University, 1979.</a:t>
              </a:r>
              <a:endParaRPr lang="en-US" dirty="0">
                <a:solidFill>
                  <a:srgbClr val="737373"/>
                </a:solidFill>
                <a:latin typeface="Poppins"/>
                <a:cs typeface="Poppins"/>
              </a:endParaRPr>
            </a:p>
            <a:p>
              <a:pPr algn="just"/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[6] L. Vincent and P. </a:t>
              </a:r>
              <a:r>
                <a:rPr lang="en-US" dirty="0" err="1">
                  <a:solidFill>
                    <a:srgbClr val="737373"/>
                  </a:solidFill>
                  <a:latin typeface="Poppins"/>
                  <a:cs typeface="Poppins"/>
                </a:rPr>
                <a:t>Soille</a:t>
              </a:r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, "Watersheds in digital spaces: an efficient algorithm based on immersion simulations," IEEE Transactions on Pattern Analysis and Machine Intelligence, 1991.</a:t>
              </a:r>
              <a:endParaRPr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  <p:grpSp>
          <p:nvGrpSpPr>
            <p:cNvPr id="67" name="Group 36">
              <a:extLst>
                <a:ext uri="{FF2B5EF4-FFF2-40B4-BE49-F238E27FC236}">
                  <a16:creationId xmlns:a16="http://schemas.microsoft.com/office/drawing/2014/main" id="{2345A97E-7218-56C3-4ADF-0384C88233B4}"/>
                </a:ext>
              </a:extLst>
            </p:cNvPr>
            <p:cNvGrpSpPr/>
            <p:nvPr/>
          </p:nvGrpSpPr>
          <p:grpSpPr>
            <a:xfrm>
              <a:off x="1615820" y="29970258"/>
              <a:ext cx="10066832" cy="1394893"/>
              <a:chOff x="76200" y="-85725"/>
              <a:chExt cx="19856439" cy="2751372"/>
            </a:xfrm>
          </p:grpSpPr>
          <p:sp>
            <p:nvSpPr>
              <p:cNvPr id="68" name="Freeform 37">
                <a:extLst>
                  <a:ext uri="{FF2B5EF4-FFF2-40B4-BE49-F238E27FC236}">
                    <a16:creationId xmlns:a16="http://schemas.microsoft.com/office/drawing/2014/main" id="{AEF31F4D-6F98-24B5-2762-B94EB264D4E5}"/>
                  </a:ext>
                </a:extLst>
              </p:cNvPr>
              <p:cNvSpPr/>
              <p:nvPr/>
            </p:nvSpPr>
            <p:spPr>
              <a:xfrm>
                <a:off x="19119839" y="185284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38">
                <a:extLst>
                  <a:ext uri="{FF2B5EF4-FFF2-40B4-BE49-F238E27FC236}">
                    <a16:creationId xmlns:a16="http://schemas.microsoft.com/office/drawing/2014/main" id="{7642D246-51C2-6F11-9724-2564FBEB894A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70" name="TextBox 51">
              <a:extLst>
                <a:ext uri="{FF2B5EF4-FFF2-40B4-BE49-F238E27FC236}">
                  <a16:creationId xmlns:a16="http://schemas.microsoft.com/office/drawing/2014/main" id="{C1CCE83E-0AE8-16CB-288F-9423BC37C40F}"/>
                </a:ext>
              </a:extLst>
            </p:cNvPr>
            <p:cNvSpPr txBox="1"/>
            <p:nvPr/>
          </p:nvSpPr>
          <p:spPr>
            <a:xfrm>
              <a:off x="11827656" y="30720390"/>
              <a:ext cx="10080000" cy="888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Conclusion and future work</a:t>
              </a:r>
            </a:p>
          </p:txBody>
        </p:sp>
        <p:sp>
          <p:nvSpPr>
            <p:cNvPr id="71" name="TextBox 52">
              <a:extLst>
                <a:ext uri="{FF2B5EF4-FFF2-40B4-BE49-F238E27FC236}">
                  <a16:creationId xmlns:a16="http://schemas.microsoft.com/office/drawing/2014/main" id="{0053FEAC-28F1-5D40-7374-99541D18574D}"/>
                </a:ext>
              </a:extLst>
            </p:cNvPr>
            <p:cNvSpPr txBox="1"/>
            <p:nvPr/>
          </p:nvSpPr>
          <p:spPr>
            <a:xfrm>
              <a:off x="11318138" y="31601367"/>
              <a:ext cx="11990584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Takeaway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Spectral bandwidth and temporal persistence provide complementary, physics-informed cues for distinguishing surface and submerged vessels.</a:t>
              </a:r>
            </a:p>
          </p:txBody>
        </p:sp>
        <p:sp>
          <p:nvSpPr>
            <p:cNvPr id="74" name="TextBox 70">
              <a:extLst>
                <a:ext uri="{FF2B5EF4-FFF2-40B4-BE49-F238E27FC236}">
                  <a16:creationId xmlns:a16="http://schemas.microsoft.com/office/drawing/2014/main" id="{2D5DA9F0-39DB-45B7-1AD8-21A97D1BE75F}"/>
                </a:ext>
              </a:extLst>
            </p:cNvPr>
            <p:cNvSpPr txBox="1"/>
            <p:nvPr/>
          </p:nvSpPr>
          <p:spPr>
            <a:xfrm>
              <a:off x="11292653" y="33755803"/>
              <a:ext cx="11420263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Next steps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Validate across more vessel types, operating conditions, ranges, and environments; then integrate the features into an ML classifier and real-time detector.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71F10B5-D1DA-8F1B-E914-5C67634801D9}"/>
                </a:ext>
              </a:extLst>
            </p:cNvPr>
            <p:cNvGrpSpPr/>
            <p:nvPr/>
          </p:nvGrpSpPr>
          <p:grpSpPr>
            <a:xfrm>
              <a:off x="23308721" y="33944316"/>
              <a:ext cx="6828990" cy="3893133"/>
              <a:chOff x="22348070" y="33878740"/>
              <a:chExt cx="7965805" cy="389313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3AF8559-BB1E-D2E7-82A1-7A4708543215}"/>
                  </a:ext>
                </a:extLst>
              </p:cNvPr>
              <p:cNvSpPr/>
              <p:nvPr/>
            </p:nvSpPr>
            <p:spPr>
              <a:xfrm>
                <a:off x="22348070" y="33961080"/>
                <a:ext cx="7965805" cy="3810793"/>
              </a:xfrm>
              <a:prstGeom prst="rect">
                <a:avLst/>
              </a:prstGeom>
              <a:solidFill>
                <a:srgbClr val="D3E3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58">
                <a:extLst>
                  <a:ext uri="{FF2B5EF4-FFF2-40B4-BE49-F238E27FC236}">
                    <a16:creationId xmlns:a16="http://schemas.microsoft.com/office/drawing/2014/main" id="{0E0E6B5B-4BD5-DED9-1191-FEC38A8CBABD}"/>
                  </a:ext>
                </a:extLst>
              </p:cNvPr>
              <p:cNvSpPr txBox="1"/>
              <p:nvPr/>
            </p:nvSpPr>
            <p:spPr>
              <a:xfrm>
                <a:off x="22626697" y="33878740"/>
                <a:ext cx="7646927" cy="8887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7559"/>
                  </a:lnSpc>
                </a:pPr>
                <a:r>
                  <a:rPr lang="en-US" sz="4400" b="1" i="1" dirty="0">
                    <a:solidFill>
                      <a:srgbClr val="0D1D52"/>
                    </a:solidFill>
                    <a:latin typeface="Poppins Semi-Bold"/>
                    <a:ea typeface="Poppins Semi-Bold"/>
                    <a:cs typeface="Poppins Semi-Bold"/>
                    <a:sym typeface="Poppins Semi-Bold"/>
                  </a:rPr>
                  <a:t>Authors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10CCB4E-9AD9-91A0-4D03-93C6DBD55E25}"/>
                  </a:ext>
                </a:extLst>
              </p:cNvPr>
              <p:cNvSpPr txBox="1"/>
              <p:nvPr/>
            </p:nvSpPr>
            <p:spPr>
              <a:xfrm>
                <a:off x="22626696" y="34663330"/>
                <a:ext cx="7560754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Roy Michael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</a:t>
                </a:r>
                <a:r>
                  <a:rPr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Department of Marine Technologies, Haifa University</a:t>
                </a:r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Roee Diamant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Department of Marine Technologies, Haifa University</a:t>
                </a:r>
                <a:endParaRPr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</p:txBody>
          </p:sp>
        </p:grpSp>
      </p:grpSp>
      <p:sp>
        <p:nvSpPr>
          <p:cNvPr id="107" name="TextBox 106"/>
          <p:cNvSpPr txBox="1"/>
          <p:nvPr/>
        </p:nvSpPr>
        <p:spPr>
          <a:xfrm>
            <a:off x="11171968" y="9264896"/>
            <a:ext cx="448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Dominant spectral peaks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64330" y="14100571"/>
            <a:ext cx="5989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Spectrogram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 </a:t>
            </a:r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tructure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4217627" y="20112186"/>
            <a:ext cx="5885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Jain’s fairness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339373" y="19487354"/>
            <a:ext cx="8142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Temporal Stability Separates Depth</a:t>
            </a:r>
            <a:endParaRPr sz="3600" b="1" u="sng" dirty="0">
              <a:solidFill>
                <a:srgbClr val="0D1D52"/>
              </a:solidFill>
              <a:latin typeface="Poppins Semi-Bold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E9404D-8F1E-A2AA-C805-21D8C59A93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23533" y="14742984"/>
            <a:ext cx="9886085" cy="423365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BA5328B-9B9F-BB04-7607-DFDBD973F8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2653" y="9864789"/>
            <a:ext cx="9886745" cy="399893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1BEE1CE-AE78-191D-3455-41D354B1F998}"/>
              </a:ext>
            </a:extLst>
          </p:cNvPr>
          <p:cNvSpPr txBox="1"/>
          <p:nvPr/>
        </p:nvSpPr>
        <p:spPr>
          <a:xfrm>
            <a:off x="21582557" y="16416368"/>
            <a:ext cx="83544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Bandwidth separates source depth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 motorboat: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136 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 DPVs: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18–26 Hz</a:t>
            </a:r>
          </a:p>
          <a:p>
            <a:r>
              <a:rPr lang="en-US" sz="3200" i="1" dirty="0">
                <a:solidFill>
                  <a:srgbClr val="737373"/>
                </a:solidFill>
                <a:latin typeface="Poppins"/>
                <a:cs typeface="Poppins"/>
              </a:rPr>
              <a:t>Broad spectral distribution vs. narrow tonal bands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F94C75-AA02-BB1D-682C-BFFA2F8523B1}"/>
              </a:ext>
            </a:extLst>
          </p:cNvPr>
          <p:cNvSpPr txBox="1"/>
          <p:nvPr/>
        </p:nvSpPr>
        <p:spPr>
          <a:xfrm>
            <a:off x="21462722" y="9150172"/>
            <a:ext cx="6546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 i="1" dirty="0">
                <a:solidFill>
                  <a:schemeClr val="tx2"/>
                </a:solidFill>
                <a:latin typeface="Poppins Semi-Bold"/>
                <a:cs typeface="Poppins SemiBold" panose="00000700000000000000" pitchFamily="2" charset="0"/>
              </a:rPr>
              <a:t>Bandwidth Distribution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4D8C9D-F20E-1690-4A77-7E0B56733C3D}"/>
              </a:ext>
            </a:extLst>
          </p:cNvPr>
          <p:cNvSpPr txBox="1"/>
          <p:nvPr/>
        </p:nvSpPr>
        <p:spPr>
          <a:xfrm>
            <a:off x="11205479" y="8587760"/>
            <a:ext cx="18322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Spectral Fingerprints of Vessel Depth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36B7AD5C-8191-BFF2-4DCF-64C949BBC7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62721" y="9816770"/>
            <a:ext cx="8474269" cy="612685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AD83AEE0-06BD-0121-295F-F38E645919D5}"/>
              </a:ext>
            </a:extLst>
          </p:cNvPr>
          <p:cNvGrpSpPr/>
          <p:nvPr/>
        </p:nvGrpSpPr>
        <p:grpSpPr>
          <a:xfrm>
            <a:off x="638861" y="13902127"/>
            <a:ext cx="6055989" cy="913776"/>
            <a:chOff x="666069" y="15134928"/>
            <a:chExt cx="6055989" cy="913776"/>
          </a:xfrm>
        </p:grpSpPr>
        <p:grpSp>
          <p:nvGrpSpPr>
            <p:cNvPr id="123" name="Group 24">
              <a:extLst>
                <a:ext uri="{FF2B5EF4-FFF2-40B4-BE49-F238E27FC236}">
                  <a16:creationId xmlns:a16="http://schemas.microsoft.com/office/drawing/2014/main" id="{E3936F24-3693-2867-7C4A-EB9CBAA1D234}"/>
                </a:ext>
              </a:extLst>
            </p:cNvPr>
            <p:cNvGrpSpPr/>
            <p:nvPr/>
          </p:nvGrpSpPr>
          <p:grpSpPr>
            <a:xfrm>
              <a:off x="666069" y="15385779"/>
              <a:ext cx="412074" cy="412074"/>
              <a:chOff x="0" y="0"/>
              <a:chExt cx="812800" cy="812800"/>
            </a:xfrm>
          </p:grpSpPr>
          <p:sp>
            <p:nvSpPr>
              <p:cNvPr id="124" name="Freeform 25">
                <a:extLst>
                  <a:ext uri="{FF2B5EF4-FFF2-40B4-BE49-F238E27FC236}">
                    <a16:creationId xmlns:a16="http://schemas.microsoft.com/office/drawing/2014/main" id="{A6DA49F6-0BD4-DBEC-DFBA-A970B80F83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26">
                <a:extLst>
                  <a:ext uri="{FF2B5EF4-FFF2-40B4-BE49-F238E27FC236}">
                    <a16:creationId xmlns:a16="http://schemas.microsoft.com/office/drawing/2014/main" id="{237E4A24-2DFC-1547-58CE-38642480FBA8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126" name="TextBox 48">
              <a:extLst>
                <a:ext uri="{FF2B5EF4-FFF2-40B4-BE49-F238E27FC236}">
                  <a16:creationId xmlns:a16="http://schemas.microsoft.com/office/drawing/2014/main" id="{0A98A987-AD53-FFA7-6812-4CF6C52E4913}"/>
                </a:ext>
              </a:extLst>
            </p:cNvPr>
            <p:cNvSpPr txBox="1"/>
            <p:nvPr/>
          </p:nvSpPr>
          <p:spPr>
            <a:xfrm>
              <a:off x="1214887" y="15134928"/>
              <a:ext cx="5507171" cy="913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chemeClr val="tx2"/>
                  </a:solidFill>
                  <a:latin typeface="Poppins Semi-Bold"/>
                  <a:cs typeface="Poppins"/>
                </a:rPr>
                <a:t>Physical Model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/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Surface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overlapping paths cause fading and Doppler spread. </a:t>
                </a:r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Submerged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the surface contribution is a delayed echo.</a:t>
                </a:r>
                <a:endParaRPr lang="en-US" sz="3200" b="1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marL="514350" indent="-514350">
                  <a:lnSpc>
                    <a:spcPct val="200000"/>
                  </a:lnSpc>
                  <a:buAutoNum type="arabicPeriod"/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Surface-source geometry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𝑟𝑒𝑐</m:t>
                                      </m:r>
                                    </m:sub>
                                  </m:sSub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𝑠𝑟𝑐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2. Heave-driven FM source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unc>
                                <m:func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	The resulting tonal is broader and less stable.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3. Underwater two-path channel</a:t>
                </a:r>
                <a:endParaRPr lang="en-US" sz="3200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4. Surface-source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func>
                                        <m:func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FM carrier × dynamic multipath envelope → bandwidth expansion, fading, and reduced persistence.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5. Underwater-source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≈0⇒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Stable direct tonal + delayed additive surface echo.</a:t>
                </a:r>
              </a:p>
              <a:p>
                <a:endParaRPr lang="en-US" sz="3200" b="1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4000" b="1" dirty="0">
                    <a:solidFill>
                      <a:srgbClr val="737373"/>
                    </a:solidFill>
                    <a:latin typeface="Poppins Semi-Bold"/>
                    <a:cs typeface="Poppins"/>
                  </a:rPr>
                  <a:t>The model predicts broader, less persistent energy for the surface motorboat and narrow, stable tonal bands for submerged DPVs.</a:t>
                </a:r>
              </a:p>
            </p:txBody>
          </p:sp>
        </mc:Choice>
        <mc:Fallback xmlns=""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  <a:blipFill>
                <a:blip r:embed="rId13"/>
                <a:stretch>
                  <a:fillRect l="-3104" t="-689" r="-730" b="-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Picture 128">
            <a:extLst>
              <a:ext uri="{FF2B5EF4-FFF2-40B4-BE49-F238E27FC236}">
                <a16:creationId xmlns:a16="http://schemas.microsoft.com/office/drawing/2014/main" id="{25BE8EB9-6923-66AD-C5E1-0C46CF74DF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43" y="14745579"/>
            <a:ext cx="10655233" cy="6041725"/>
          </a:xfrm>
          <a:prstGeom prst="rect">
            <a:avLst/>
          </a:prstGeom>
        </p:spPr>
      </p:pic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39479EC-FA44-60D4-B0A8-93D913B0A7D6}"/>
              </a:ext>
            </a:extLst>
          </p:cNvPr>
          <p:cNvGrpSpPr/>
          <p:nvPr/>
        </p:nvGrpSpPr>
        <p:grpSpPr>
          <a:xfrm>
            <a:off x="737395" y="7294131"/>
            <a:ext cx="9821270" cy="6228688"/>
            <a:chOff x="577570" y="8526301"/>
            <a:chExt cx="9821270" cy="6228688"/>
          </a:xfrm>
        </p:grpSpPr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F157696C-674D-88A7-7058-CD97764BF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70" y="12010371"/>
              <a:ext cx="9821270" cy="2744618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3E7FEA9-DB71-EF30-4C30-96FE9412A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1128" y="8545454"/>
              <a:ext cx="4657712" cy="3286157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33671137-6238-33EE-0CF0-5259601A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7570" y="8526301"/>
              <a:ext cx="4997344" cy="3333887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416E4D9-A921-6A7A-0543-69F2C3CFBE5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38" y="20644401"/>
            <a:ext cx="5752293" cy="91363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3A5B51B-C199-FDBF-75AE-4FE5D05C8DE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818" y="20731901"/>
            <a:ext cx="5856422" cy="90488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C63ABA-8952-9D7F-DF68-C0FDC3A0C9E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7627" y="20707393"/>
            <a:ext cx="5719364" cy="90733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32EBD84-C309-02BD-3EAF-B0EA08A85F87}"/>
              </a:ext>
            </a:extLst>
          </p:cNvPr>
          <p:cNvSpPr txBox="1"/>
          <p:nvPr/>
        </p:nvSpPr>
        <p:spPr>
          <a:xfrm>
            <a:off x="11321274" y="30445062"/>
            <a:ext cx="187819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solidFill>
                  <a:srgbClr val="737373"/>
                </a:solidFill>
                <a:latin typeface="Poppins Semi-Bold"/>
                <a:cs typeface="Poppins"/>
              </a:rPr>
              <a:t>Submerged DPV tonal bands persist across longer windows; Surface motorboat stability decreases.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F81A47-B816-E504-25E9-B3138967668B}"/>
              </a:ext>
            </a:extLst>
          </p:cNvPr>
          <p:cNvSpPr txBox="1"/>
          <p:nvPr/>
        </p:nvSpPr>
        <p:spPr>
          <a:xfrm>
            <a:off x="17715817" y="20153637"/>
            <a:ext cx="3866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Entropy stability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6F5BD1-5762-7064-9AB1-97B86E8816AE}"/>
              </a:ext>
            </a:extLst>
          </p:cNvPr>
          <p:cNvSpPr txBox="1"/>
          <p:nvPr/>
        </p:nvSpPr>
        <p:spPr>
          <a:xfrm>
            <a:off x="11318673" y="20122617"/>
            <a:ext cx="3524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Time-in-Band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8EEFDA-E0E4-D3B3-86BF-C36ABFD752A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51" y="40592876"/>
            <a:ext cx="13945958" cy="15403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93D5751-D245-510F-08B1-A8F6FB30042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350" y="39860238"/>
            <a:ext cx="7273924" cy="293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1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ff23c-68b8-4ad8-a6f0-ffe85b956f92">
      <Terms xmlns="http://schemas.microsoft.com/office/infopath/2007/PartnerControls"/>
    </lcf76f155ced4ddcb4097134ff3c332f>
    <Size xmlns="366ff23c-68b8-4ad8-a6f0-ffe85b956f92" xsi:nil="true"/>
    <TaxCatchAll xmlns="ee347680-3277-4f02-8197-a596dc09f6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FBB1CA5B52B840B0EA7D6F7B6C204C" ma:contentTypeVersion="22" ma:contentTypeDescription="Create a new document." ma:contentTypeScope="" ma:versionID="ed2b06ac119a6c8319114f9f4fa72c4e">
  <xsd:schema xmlns:xsd="http://www.w3.org/2001/XMLSchema" xmlns:xs="http://www.w3.org/2001/XMLSchema" xmlns:p="http://schemas.microsoft.com/office/2006/metadata/properties" xmlns:ns2="366ff23c-68b8-4ad8-a6f0-ffe85b956f92" xmlns:ns3="ee347680-3277-4f02-8197-a596dc09f6cb" targetNamespace="http://schemas.microsoft.com/office/2006/metadata/properties" ma:root="true" ma:fieldsID="2e5abf7ae9e78a3b5bebe70b54ff6eb8" ns2:_="" ns3:_="">
    <xsd:import namespace="366ff23c-68b8-4ad8-a6f0-ffe85b956f92"/>
    <xsd:import namespace="ee347680-3277-4f02-8197-a596dc09f6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Siz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ff23c-68b8-4ad8-a6f0-ffe85b956f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ize" ma:index="20" nillable="true" ma:displayName="Size" ma:internalName="Size">
      <xsd:simpleType>
        <xsd:restriction base="dms:Number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6d51dc5d-6cba-4748-b546-1c911b976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47680-3277-4f02-8197-a596dc09f6c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11fd385-1916-4391-8fea-99ea66202781}" ma:internalName="TaxCatchAll" ma:showField="CatchAllData" ma:web="ee347680-3277-4f02-8197-a596dc09f6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F6F4E9-F06E-4216-9E57-C9DD7A23E9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4EC294-F82B-4370-969E-F01216E43FC5}">
  <ds:schemaRefs>
    <ds:schemaRef ds:uri="http://schemas.microsoft.com/office/2006/metadata/properties"/>
    <ds:schemaRef ds:uri="http://schemas.microsoft.com/office/2006/documentManagement/types"/>
    <ds:schemaRef ds:uri="ee347680-3277-4f02-8197-a596dc09f6cb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66ff23c-68b8-4ad8-a6f0-ffe85b956f92"/>
  </ds:schemaRefs>
</ds:datastoreItem>
</file>

<file path=customXml/itemProps3.xml><?xml version="1.0" encoding="utf-8"?>
<ds:datastoreItem xmlns:ds="http://schemas.openxmlformats.org/officeDocument/2006/customXml" ds:itemID="{2BE57F0F-C0CD-4805-AF50-9B703C20E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ff23c-68b8-4ad8-a6f0-ffe85b956f92"/>
    <ds:schemaRef ds:uri="ee347680-3277-4f02-8197-a596dc09f6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9169</TotalTime>
  <Words>505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Neue Einstellung Medium</vt:lpstr>
      <vt:lpstr>Poppins</vt:lpstr>
      <vt:lpstr>Poppins Italics</vt:lpstr>
      <vt:lpstr>Poppins Semi-Bold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74</cp:revision>
  <dcterms:created xsi:type="dcterms:W3CDTF">2026-09-20T10:23:34Z</dcterms:created>
  <dcterms:modified xsi:type="dcterms:W3CDTF">2026-10-05T05:54:18Z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0x01010067FBB1CA5B52B840B0EA7D6F7B6C204C</vt:lpwstr>
  </property>
</Properties>
</file>