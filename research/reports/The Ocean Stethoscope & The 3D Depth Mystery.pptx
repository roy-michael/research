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334" autoAdjust="0"/>
  </p:normalViewPr>
  <p:slideViewPr>
    <p:cSldViewPr snapToGrid="0">
      <p:cViewPr>
        <p:scale>
          <a:sx n="50" d="100"/>
          <a:sy n="50" d="100"/>
        </p:scale>
        <p:origin x="2832" y="684"/>
      </p:cViewPr>
      <p:guideLst>
        <p:guide orient="horz" pos="391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DD461-E24B-499B-A69E-4787B9A784A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170D5-981F-49E5-9B0F-C6DE866B6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29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We’ve all been there: sitting on our private island, putting a hydrophone in the ocean and listening to the ambient noises. </a:t>
            </a:r>
          </a:p>
          <a:p>
            <a:r>
              <a:rPr lang="en-US" dirty="0"/>
              <a:t>when suddenly, you hear a </a:t>
            </a:r>
            <a:r>
              <a:rPr lang="en-US" u="sng" dirty="0"/>
              <a:t>distant</a:t>
            </a:r>
            <a:r>
              <a:rPr lang="en-US" dirty="0"/>
              <a:t> noise, and you're not sure if it's your </a:t>
            </a:r>
            <a:r>
              <a:rPr lang="en-US" u="sng" dirty="0"/>
              <a:t>new yacht </a:t>
            </a:r>
            <a:r>
              <a:rPr lang="en-US" dirty="0"/>
              <a:t>being delivered or </a:t>
            </a:r>
            <a:r>
              <a:rPr lang="en-US" baseline="0" dirty="0">
                <a:solidFill>
                  <a:srgbClr val="FFC000"/>
                </a:solidFill>
              </a:rPr>
              <a:t>James Bond </a:t>
            </a:r>
            <a:r>
              <a:rPr lang="en-US" u="sng" baseline="0" dirty="0">
                <a:solidFill>
                  <a:srgbClr val="FFC000"/>
                </a:solidFill>
              </a:rPr>
              <a:t>arriving underwater </a:t>
            </a:r>
            <a:r>
              <a:rPr lang="en-US" baseline="0" dirty="0">
                <a:solidFill>
                  <a:srgbClr val="FFC000"/>
                </a:solidFill>
              </a:rPr>
              <a:t>to challenge your security system.</a:t>
            </a:r>
          </a:p>
          <a:p>
            <a:endParaRPr lang="en-US" baseline="0" dirty="0">
              <a:solidFill>
                <a:srgbClr val="FFC000"/>
              </a:solidFill>
            </a:endParaRPr>
          </a:p>
          <a:p>
            <a:r>
              <a:rPr lang="en-US" dirty="0"/>
              <a:t>Hi everyone, my name is Roy and I am from the Acoustics and Navigation Lab at Haifa University, and I decided to tackle this issue before </a:t>
            </a:r>
            <a:r>
              <a:rPr lang="en-US" u="sng" dirty="0"/>
              <a:t>finally</a:t>
            </a:r>
            <a:r>
              <a:rPr lang="en-US" dirty="0"/>
              <a:t> buying my first island. </a:t>
            </a:r>
          </a:p>
          <a:p>
            <a:endParaRPr lang="en-US" dirty="0"/>
          </a:p>
          <a:p>
            <a:r>
              <a:rPr lang="en-US" dirty="0"/>
              <a:t>Jokes aside, the only way we can truly “see” underwater, is using </a:t>
            </a:r>
            <a:r>
              <a:rPr lang="en-US" u="sng" dirty="0"/>
              <a:t>sound</a:t>
            </a:r>
            <a:r>
              <a:rPr lang="en-US" dirty="0"/>
              <a:t> which can travel thousands of meters. </a:t>
            </a:r>
          </a:p>
          <a:p>
            <a:r>
              <a:rPr lang="en-US" dirty="0"/>
              <a:t>What I wanted to know was: can sound help me understand not only </a:t>
            </a:r>
            <a:r>
              <a:rPr lang="en-US" u="sng" dirty="0"/>
              <a:t>where</a:t>
            </a:r>
            <a:r>
              <a:rPr lang="en-US" dirty="0"/>
              <a:t> vessels are but also </a:t>
            </a:r>
            <a:r>
              <a:rPr lang="en-US" u="sng" dirty="0"/>
              <a:t>how</a:t>
            </a:r>
            <a:r>
              <a:rPr lang="en-US" dirty="0"/>
              <a:t> </a:t>
            </a:r>
            <a:r>
              <a:rPr lang="en-US" u="sng" dirty="0"/>
              <a:t>deep</a:t>
            </a:r>
            <a:r>
              <a:rPr lang="en-US" dirty="0"/>
              <a:t> they are. </a:t>
            </a:r>
          </a:p>
          <a:p>
            <a:endParaRPr lang="en-US" dirty="0"/>
          </a:p>
          <a:p>
            <a:r>
              <a:rPr lang="en-US" dirty="0"/>
              <a:t>This research focuses on determining whether a sound source is coming from </a:t>
            </a:r>
            <a:r>
              <a:rPr lang="en-US" u="sng" dirty="0"/>
              <a:t>above or under </a:t>
            </a:r>
            <a:r>
              <a:rPr lang="en-US" dirty="0"/>
              <a:t>water. We did this using a </a:t>
            </a:r>
            <a:r>
              <a:rPr lang="en-US" u="sng" dirty="0"/>
              <a:t>physics-based model </a:t>
            </a:r>
            <a:r>
              <a:rPr lang="en-US" dirty="0"/>
              <a:t>of sound propagation.</a:t>
            </a:r>
          </a:p>
          <a:p>
            <a:endParaRPr lang="en-US" dirty="0"/>
          </a:p>
          <a:p>
            <a:r>
              <a:rPr lang="en-US" dirty="0"/>
              <a:t>Once we have clear features of the sound sources, we can use Machine Learning to build a “</a:t>
            </a:r>
            <a:r>
              <a:rPr lang="en-US" u="sng" dirty="0"/>
              <a:t>detector</a:t>
            </a:r>
            <a:r>
              <a:rPr lang="en-US" dirty="0"/>
              <a:t>” and create a </a:t>
            </a:r>
            <a:r>
              <a:rPr lang="en-US" u="sng" dirty="0"/>
              <a:t>robust tool </a:t>
            </a:r>
            <a:r>
              <a:rPr lang="en-US" dirty="0"/>
              <a:t>to address this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170D5-981F-49E5-9B0F-C6DE866B67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51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So, how do we tell vessels apart? 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The secret lies in how the ocean surface alters sound signals, causing surface vessels to behave differently from underwater ones.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You can think about it this way: </a:t>
            </a:r>
          </a:p>
          <a:p>
            <a:pPr rtl="0"/>
            <a:r>
              <a:rPr lang="en-US" dirty="0"/>
              <a:t>Sounds from a boat on the water are like singing while riding a </a:t>
            </a:r>
            <a:br>
              <a:rPr lang="en-US" dirty="0"/>
            </a:br>
            <a:r>
              <a:rPr lang="en-US" u="none" baseline="0" dirty="0"/>
              <a:t>roller-coaster</a:t>
            </a:r>
            <a:r>
              <a:rPr lang="en-US" dirty="0"/>
              <a:t>, the noises go up and down and echo from around you. 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An underwater vessel in this case will be like singing in a professional studio: it produces a pure and steady tonal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170D5-981F-49E5-9B0F-C6DE866B67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98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Well, we took a few boats and underwater scooters and through them in the water and analyzed the data.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indeed, we found specific features for each vessel type: 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surface vessels had a broad bandwidth with significant variances.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other hand - the submerged vessels showed a narrow bandwidth, maintaining stability in various conditions.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that we have clear features, we can feed them into a machine learning model.</a:t>
            </a:r>
          </a:p>
          <a:p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model will separate vessels over and under water and give us a 3D view of ocean traffic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can finally buy my island!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170D5-981F-49E5-9B0F-C6DE866B67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37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58C1-94F6-DC1E-15DD-BA7CEC05C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FDB48-FCDA-5F4C-5A5C-B2A60E25F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C7B8-80D9-D809-1DD9-AEBCD3838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B4A20-93C7-9D41-3DF8-A410A670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3E3E0-0C16-F72A-2364-6E2637E8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4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66A9-3D28-6442-65F3-70F71E60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9F4F2-F39D-05BD-F982-951A4786A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DC3A4-93AF-8541-2C1B-67A742C1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B7C14-8F35-49DF-6036-C677AA31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0C7C1-47DE-81F9-9F00-17C3E185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1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3E9F-DA5A-CB0D-ED87-67213B820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B7266-BC2E-796F-DAE9-C5F7302D6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AB6C-6DB6-A60D-CB30-C63652D7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4314-55F4-6F2E-4B94-450F52AF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A2292-7A82-201F-6EAE-4EE79B8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4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EA08-0A99-BEF4-0BC6-42DCC4BB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B4801-4473-1A48-2F16-6FC7EE2CD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837AD-0729-8426-9ACF-1F9D94CAF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909F5-4B54-67B9-FFF7-783CD912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55CAB-7315-A2DA-3F5D-5D288BB2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DD678-C1C3-B06B-7ADA-63F0CC92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1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BA43-93B3-3CB1-2A73-AE73BD43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9D216-ECCD-2142-B2B8-4FA5BF0EA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641F1-1CBC-A995-F0B4-63A35A4E1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A81C9-D65B-A6F2-F86F-7B93C4B2E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F3A069-CEC0-3C32-B55D-73AC427E1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C4F6F-F55C-17CD-EBAB-041BF8E0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41F36-BD94-45EA-C8B3-7B24DADA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C3506-CD6E-9A39-1C0B-FD644ACEF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2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1A9C-182C-89B8-CCD6-686EE36B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404E43-48FE-12CD-5CEE-618BAA62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822D9-E75C-A029-750C-C169DA6B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C6616-C426-C156-DA44-4DF16DB1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3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83D22-0567-C7E3-2A7A-6E27DA212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0D84C-70E4-1061-5EE5-0CCA5A063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058AF-254C-B979-AE31-BDCB8676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0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5E0A-04E5-2868-A02B-FC28D513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624AE-38F9-2020-A911-35D28DD5A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3FC31-EAD0-E617-1596-EA67A0EB0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C3D23-EFF9-F5FE-CA67-BB7DB30E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86392-7658-8658-4470-8161A889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D281-673E-4231-972E-DCB0F006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7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F000-BA60-38F7-46F7-E898C8745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52A2D-8021-8E78-5AF9-75021D6796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1D80B-914C-A3A8-B8A7-6FC81CF6E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5F11E-E019-8146-CD60-3C5F5B5E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4EFC1-53B3-7E04-8DD8-F5B9F08B9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15991-913F-12CF-58C5-23B380BC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5ECC-991F-88FD-7994-0B040D75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C21F5-3B61-9B6D-F401-E3D4EF222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529ED-4B55-B64D-00EF-420953F1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775D7-254E-8913-FDE9-CD779A82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CB8E1-6F84-113F-6567-653219344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2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135292-4AB9-3A00-85AE-E5E310174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31C84-F4BB-A1CE-1C1D-5B1669BA3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F91E8-EA8D-BD54-1FE5-04BB39AA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901AA-519B-D753-EAD9-3124AF98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DC79E-B1C2-F458-6DC1-C0A9E5FC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7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D7B9E-0750-BAE2-BC20-0F7962D3F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A57CF-DD68-945A-2C1A-A4ADD58B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DA306-85C5-E829-F223-A8DAA68AF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EE111-23CF-4DE9-BD87-6D2BFCBD3E3F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98F4E-8A74-02DA-2037-40B2919FD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7D32D-6A3C-D8F8-739A-7DE20C98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80D01-08D1-450E-9D09-5F7EB3899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1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295DD3E-527D-A39B-6F2B-AD59DB8B7CB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B3CB08-B090-16E4-93B5-5E02C1B2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2" y="108669"/>
            <a:ext cx="12138993" cy="11499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Physics Informed Machine Learning Vessel Depth Classification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A974B-A54D-3D7C-7C32-CDF938F72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3684" y="1001315"/>
            <a:ext cx="6875330" cy="589166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The Acoustic Environment:</a:t>
            </a:r>
            <a:r>
              <a:rPr lang="en-US" sz="3000" dirty="0">
                <a:solidFill>
                  <a:srgbClr val="FFFFFF"/>
                </a:solidFill>
              </a:rPr>
              <a:t> Sound is the primary medium for marine sensing.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The Core Challenge:</a:t>
            </a:r>
            <a:r>
              <a:rPr lang="en-US" sz="3000" dirty="0">
                <a:solidFill>
                  <a:srgbClr val="FFFFFF"/>
                </a:solidFill>
              </a:rPr>
              <a:t> Distinguishing whether an acoustic source is floating or operating underwater using a passive hydrophone.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The Approach:</a:t>
            </a:r>
            <a:r>
              <a:rPr lang="en-US" sz="3000" dirty="0">
                <a:solidFill>
                  <a:srgbClr val="FFFFFF"/>
                </a:solidFill>
              </a:rPr>
              <a:t> Leveraging physics-informed machine learning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59B051E-68AC-5883-C79E-0AC01CC2EB2B}"/>
              </a:ext>
            </a:extLst>
          </p:cNvPr>
          <p:cNvSpPr txBox="1">
            <a:spLocks/>
          </p:cNvSpPr>
          <p:nvPr/>
        </p:nvSpPr>
        <p:spPr>
          <a:xfrm>
            <a:off x="135070" y="1165775"/>
            <a:ext cx="2983270" cy="968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FFFF"/>
                </a:solidFill>
              </a:rPr>
              <a:t>Roy </a:t>
            </a:r>
            <a:r>
              <a:rPr lang="en-US" sz="3700" dirty="0">
                <a:solidFill>
                  <a:srgbClr val="FFFFFF"/>
                </a:solidFill>
              </a:rPr>
              <a:t>Michael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463F30-2637-7431-AFFA-E505D7AF9E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70" y="6290041"/>
            <a:ext cx="4506529" cy="4977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1407DF-0CB8-5EBB-E641-382FDFF0F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768" y="4644210"/>
            <a:ext cx="3284419" cy="132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87C570-A99D-2786-C739-38B3A5EBA4F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8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40B3DD-537B-8798-3EC9-C404B84F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6" y="704849"/>
            <a:ext cx="5155261" cy="255037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The Physical Model</a:t>
            </a:r>
            <a:r>
              <a:rPr lang="en-US" dirty="0">
                <a:solidFill>
                  <a:srgbClr val="FFFFFF"/>
                </a:solidFill>
              </a:rPr>
              <a:t> (or Why Waves Make Surface Vessels Sing Off-Key)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19792-FCC5-4818-19BB-E4ECC146B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0037" y="352418"/>
            <a:ext cx="6827187" cy="615316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Surface Alteration: </a:t>
            </a:r>
            <a:r>
              <a:rPr lang="en-US" sz="3000" dirty="0">
                <a:solidFill>
                  <a:srgbClr val="FFFFFF"/>
                </a:solidFill>
              </a:rPr>
              <a:t>Surface wave motion alters source frequencies and creates interfering reflections.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Surface Signal Behavior: </a:t>
            </a:r>
            <a:r>
              <a:rPr lang="en-US" sz="3000" dirty="0">
                <a:solidFill>
                  <a:srgbClr val="FFFFFF"/>
                </a:solidFill>
              </a:rPr>
              <a:t>Broader spectral distributions, Doppler expansion, signal fading, and reduced persistency.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Submerged Signal Behavior: </a:t>
            </a:r>
            <a:r>
              <a:rPr lang="en-US" sz="3000" dirty="0">
                <a:solidFill>
                  <a:srgbClr val="FFFFFF"/>
                </a:solidFill>
              </a:rPr>
              <a:t>Stable direct tonal band accompanied by a cleaner, delayed surface echo.</a:t>
            </a:r>
          </a:p>
        </p:txBody>
      </p:sp>
    </p:spTree>
    <p:extLst>
      <p:ext uri="{BB962C8B-B14F-4D97-AF65-F5344CB8AC3E}">
        <p14:creationId xmlns:p14="http://schemas.microsoft.com/office/powerpoint/2010/main" val="129871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F11678-C3E6-5F02-47B5-60DC3438AAC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4C4CB8-AEE9-497D-A30B-BA9F7C512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" y="381000"/>
            <a:ext cx="4343418" cy="2347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From Raw Sound to Smart AI Classification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69798-D95C-3C92-BE44-3988D48A1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76750" y="319088"/>
            <a:ext cx="7715230" cy="629644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Spectral Bandwidth Separation:</a:t>
            </a:r>
            <a:r>
              <a:rPr lang="en-US" sz="3000" dirty="0">
                <a:solidFill>
                  <a:srgbClr val="FFFFFF"/>
                </a:solidFill>
              </a:rPr>
              <a:t> Surface vessels average </a:t>
            </a:r>
            <a:r>
              <a:rPr lang="en-US" sz="3000" b="1" dirty="0">
                <a:solidFill>
                  <a:srgbClr val="FFFFFF"/>
                </a:solidFill>
              </a:rPr>
              <a:t>136 Hz</a:t>
            </a:r>
            <a:r>
              <a:rPr lang="en-US" sz="3000" dirty="0">
                <a:solidFill>
                  <a:srgbClr val="FFFFFF"/>
                </a:solidFill>
              </a:rPr>
              <a:t> in bandwidth, submerged vessels maintain narrow bands of </a:t>
            </a:r>
            <a:r>
              <a:rPr lang="en-US" sz="3000" b="1" dirty="0">
                <a:solidFill>
                  <a:srgbClr val="FFFFFF"/>
                </a:solidFill>
              </a:rPr>
              <a:t>18–26 Hz</a:t>
            </a:r>
            <a:r>
              <a:rPr lang="en-US" sz="3000" dirty="0">
                <a:solidFill>
                  <a:srgbClr val="FFFFFF"/>
                </a:solidFill>
              </a:rPr>
              <a:t>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</a:pPr>
            <a:r>
              <a:rPr lang="en-US" sz="3000" b="1" dirty="0">
                <a:solidFill>
                  <a:srgbClr val="FFFFFF"/>
                </a:solidFill>
              </a:rPr>
              <a:t>Temporal Persistence Metrics:</a:t>
            </a:r>
            <a:r>
              <a:rPr lang="en-US" sz="3000" dirty="0">
                <a:solidFill>
                  <a:srgbClr val="FFFFFF"/>
                </a:solidFill>
              </a:rPr>
              <a:t> Clear differences in persistency measured over varying conditions.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Takeaway &amp; Impact:</a:t>
            </a:r>
            <a:r>
              <a:rPr lang="en-US" sz="3000" dirty="0">
                <a:solidFill>
                  <a:srgbClr val="FFFFFF"/>
                </a:solidFill>
              </a:rPr>
              <a:t> Robust features were extracted, allowing for real-time ML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77174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566</Words>
  <Application>Microsoft Office PowerPoint</Application>
  <PresentationFormat>Widescreen</PresentationFormat>
  <Paragraphs>46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Physics Informed Machine Learning Vessel Depth Classification</vt:lpstr>
      <vt:lpstr>The Physical Model (or Why Waves Make Surface Vessels Sing Off-Key)</vt:lpstr>
      <vt:lpstr>From Raw Sound to Smart AI Classification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רועי מיכאל</dc:creator>
  <cp:lastModifiedBy>רועי מיכאל</cp:lastModifiedBy>
  <cp:revision>31</cp:revision>
  <dcterms:created xsi:type="dcterms:W3CDTF">2026-10-16T06:43:51Z</dcterms:created>
  <dcterms:modified xsi:type="dcterms:W3CDTF">2026-10-16T17:24:30Z</dcterms:modified>
</cp:coreProperties>
</file>