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30267275" cy="427942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7F3CA0DA-D741-40E3-81FC-008E5FCDD9D4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6F8E"/>
    <a:srgbClr val="00B29F"/>
    <a:srgbClr val="00B23B"/>
    <a:srgbClr val="D3E3EF"/>
    <a:srgbClr val="00A993"/>
    <a:srgbClr val="00B5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73" autoAdjust="0"/>
    <p:restoredTop sz="94713" autoAdjust="0"/>
  </p:normalViewPr>
  <p:slideViewPr>
    <p:cSldViewPr snapToGrid="0">
      <p:cViewPr>
        <p:scale>
          <a:sx n="33" d="100"/>
          <a:sy n="33" d="100"/>
        </p:scale>
        <p:origin x="1046" y="-42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2404384-910E-4E12-A7CC-CF8A590B0B70}" type="doc">
      <dgm:prSet loTypeId="urn:microsoft.com/office/officeart/2005/8/layout/chevronAccent+Icon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6DFD3D5-B82E-473B-A7AA-7825F9EDDDC9}">
      <dgm:prSet custT="1"/>
      <dgm:spPr/>
      <dgm:t>
        <a:bodyPr/>
        <a:lstStyle/>
        <a:p>
          <a:pPr algn="l"/>
          <a:r>
            <a:rPr lang="en-US" sz="1700" b="1" dirty="0"/>
            <a:t>Signal Ingestion </a:t>
          </a:r>
        </a:p>
      </dgm:t>
    </dgm:pt>
    <dgm:pt modelId="{0F69CF1D-533A-41BB-944D-6F719645DC9B}" type="parTrans" cxnId="{B162334E-5C84-477E-A4D2-E253D854DDD3}">
      <dgm:prSet/>
      <dgm:spPr/>
      <dgm:t>
        <a:bodyPr/>
        <a:lstStyle/>
        <a:p>
          <a:endParaRPr lang="en-US"/>
        </a:p>
      </dgm:t>
    </dgm:pt>
    <dgm:pt modelId="{131A03F6-3957-4F57-B548-B48C1ED9CCF7}" type="sibTrans" cxnId="{B162334E-5C84-477E-A4D2-E253D854DDD3}">
      <dgm:prSet/>
      <dgm:spPr/>
      <dgm:t>
        <a:bodyPr/>
        <a:lstStyle/>
        <a:p>
          <a:endParaRPr lang="en-US"/>
        </a:p>
      </dgm:t>
    </dgm:pt>
    <dgm:pt modelId="{212582AE-B612-4F83-9FA4-5D731E45A87C}">
      <dgm:prSet custT="1"/>
      <dgm:spPr/>
      <dgm:t>
        <a:bodyPr/>
        <a:lstStyle/>
        <a:p>
          <a:pPr algn="l"/>
          <a:r>
            <a:rPr lang="en-US" sz="1700" b="1" dirty="0"/>
            <a:t>Estimation Matrix</a:t>
          </a:r>
        </a:p>
      </dgm:t>
    </dgm:pt>
    <dgm:pt modelId="{B037EBDF-5096-496B-A117-3DB7165EB0F5}" type="parTrans" cxnId="{A97436E4-0A65-4024-B856-3D832504DB8A}">
      <dgm:prSet/>
      <dgm:spPr/>
      <dgm:t>
        <a:bodyPr/>
        <a:lstStyle/>
        <a:p>
          <a:endParaRPr lang="en-US"/>
        </a:p>
      </dgm:t>
    </dgm:pt>
    <dgm:pt modelId="{A340B067-88E4-4002-BD35-420A78510667}" type="sibTrans" cxnId="{A97436E4-0A65-4024-B856-3D832504DB8A}">
      <dgm:prSet/>
      <dgm:spPr/>
      <dgm:t>
        <a:bodyPr/>
        <a:lstStyle/>
        <a:p>
          <a:endParaRPr lang="en-US"/>
        </a:p>
      </dgm:t>
    </dgm:pt>
    <dgm:pt modelId="{73D5061B-6698-41CF-BCE4-C80D7316D945}">
      <dgm:prSet custT="1"/>
      <dgm:spPr/>
      <dgm:t>
        <a:bodyPr/>
        <a:lstStyle/>
        <a:p>
          <a:pPr marL="254000" marR="0" lvl="0" indent="-127000" algn="l" defTabSz="127000" rtl="0" eaLnBrk="1" fontAlgn="auto" latinLnBrk="0" hangingPunct="1">
            <a:lnSpc>
              <a:spcPct val="100000"/>
            </a:lnSpc>
            <a:spcBef>
              <a:spcPts val="300"/>
            </a:spcBef>
            <a:spcAft>
              <a:spcPts val="300"/>
            </a:spcAft>
            <a:buClrTx/>
            <a:buSzTx/>
            <a:buFontTx/>
            <a:buBlip>
              <a:blip xmlns:r="http://schemas.openxmlformats.org/officeDocument/2006/relationships" r:embed="rId1"/>
            </a:buBlip>
            <a:tabLst/>
            <a:defRPr/>
          </a:pPr>
          <a:r>
            <a:rPr kumimoji="0" lang="en-US" sz="1700" b="1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Segoe UI"/>
              <a:cs typeface="Segoe UI"/>
            </a:rPr>
            <a:t>Feature Extraction</a:t>
          </a:r>
        </a:p>
      </dgm:t>
    </dgm:pt>
    <dgm:pt modelId="{5AFAC292-1D16-4051-9B3A-0FB67B747EED}" type="parTrans" cxnId="{BC8B9AC9-5936-4C01-B2DD-43FA9B074158}">
      <dgm:prSet/>
      <dgm:spPr/>
      <dgm:t>
        <a:bodyPr/>
        <a:lstStyle/>
        <a:p>
          <a:endParaRPr lang="en-US"/>
        </a:p>
      </dgm:t>
    </dgm:pt>
    <dgm:pt modelId="{A779D731-85EB-4F95-82AB-B02C1F293861}" type="sibTrans" cxnId="{BC8B9AC9-5936-4C01-B2DD-43FA9B074158}">
      <dgm:prSet/>
      <dgm:spPr/>
      <dgm:t>
        <a:bodyPr/>
        <a:lstStyle/>
        <a:p>
          <a:endParaRPr lang="en-US"/>
        </a:p>
      </dgm:t>
    </dgm:pt>
    <dgm:pt modelId="{BF09043C-4E04-4743-B4CF-39115AD2A2EC}">
      <dgm:prSet custT="1"/>
      <dgm:spPr/>
      <dgm:t>
        <a:bodyPr/>
        <a:lstStyle/>
        <a:p>
          <a:pPr algn="l"/>
          <a:r>
            <a:rPr lang="en-US" sz="1700" b="1" dirty="0"/>
            <a:t>Classification</a:t>
          </a:r>
        </a:p>
      </dgm:t>
    </dgm:pt>
    <dgm:pt modelId="{8DF51FBC-A76C-4D3B-8305-52B1DD7B2240}" type="parTrans" cxnId="{312303F7-4BCF-4AD3-936C-5ED2C4825859}">
      <dgm:prSet/>
      <dgm:spPr/>
      <dgm:t>
        <a:bodyPr/>
        <a:lstStyle/>
        <a:p>
          <a:endParaRPr lang="en-US"/>
        </a:p>
      </dgm:t>
    </dgm:pt>
    <dgm:pt modelId="{9C89353F-8CC3-45E8-A71C-E7642D657571}" type="sibTrans" cxnId="{312303F7-4BCF-4AD3-936C-5ED2C4825859}">
      <dgm:prSet/>
      <dgm:spPr/>
      <dgm:t>
        <a:bodyPr/>
        <a:lstStyle/>
        <a:p>
          <a:endParaRPr lang="en-US"/>
        </a:p>
      </dgm:t>
    </dgm:pt>
    <dgm:pt modelId="{CE4D7BDD-DC4E-4A5F-A7F9-8EEC0DD66EF1}" type="pres">
      <dgm:prSet presAssocID="{62404384-910E-4E12-A7CC-CF8A590B0B70}" presName="Name0" presStyleCnt="0">
        <dgm:presLayoutVars>
          <dgm:dir/>
          <dgm:resizeHandles val="exact"/>
        </dgm:presLayoutVars>
      </dgm:prSet>
      <dgm:spPr/>
    </dgm:pt>
    <dgm:pt modelId="{093FFC7F-19FE-4DF4-83F4-5F893580BB98}" type="pres">
      <dgm:prSet presAssocID="{26DFD3D5-B82E-473B-A7AA-7825F9EDDDC9}" presName="composite" presStyleCnt="0"/>
      <dgm:spPr/>
    </dgm:pt>
    <dgm:pt modelId="{64D3BD77-2E8D-4ACB-B037-B68BB870413E}" type="pres">
      <dgm:prSet presAssocID="{26DFD3D5-B82E-473B-A7AA-7825F9EDDDC9}" presName="bgChev" presStyleLbl="node1" presStyleIdx="0" presStyleCnt="4"/>
      <dgm:spPr/>
    </dgm:pt>
    <dgm:pt modelId="{B23ABE36-295D-4ED2-A1C3-936B461D7F13}" type="pres">
      <dgm:prSet presAssocID="{26DFD3D5-B82E-473B-A7AA-7825F9EDDDC9}" presName="txNode" presStyleLbl="fgAcc1" presStyleIdx="0" presStyleCnt="4">
        <dgm:presLayoutVars>
          <dgm:bulletEnabled val="1"/>
        </dgm:presLayoutVars>
      </dgm:prSet>
      <dgm:spPr/>
    </dgm:pt>
    <dgm:pt modelId="{6E7F21C4-9FED-4317-A3B5-1B60758A1E38}" type="pres">
      <dgm:prSet presAssocID="{131A03F6-3957-4F57-B548-B48C1ED9CCF7}" presName="compositeSpace" presStyleCnt="0"/>
      <dgm:spPr/>
    </dgm:pt>
    <dgm:pt modelId="{E9612FB9-C2E7-48E7-B37E-74ABE95CBFBF}" type="pres">
      <dgm:prSet presAssocID="{212582AE-B612-4F83-9FA4-5D731E45A87C}" presName="composite" presStyleCnt="0"/>
      <dgm:spPr/>
    </dgm:pt>
    <dgm:pt modelId="{B26F2705-56C7-47CC-B74C-CAC4E56B2D4A}" type="pres">
      <dgm:prSet presAssocID="{212582AE-B612-4F83-9FA4-5D731E45A87C}" presName="bgChev" presStyleLbl="node1" presStyleIdx="1" presStyleCnt="4"/>
      <dgm:spPr/>
    </dgm:pt>
    <dgm:pt modelId="{CCE706E9-86D1-4F51-9C4C-BFAD3EE1B0E3}" type="pres">
      <dgm:prSet presAssocID="{212582AE-B612-4F83-9FA4-5D731E45A87C}" presName="txNode" presStyleLbl="fgAcc1" presStyleIdx="1" presStyleCnt="4">
        <dgm:presLayoutVars>
          <dgm:bulletEnabled val="1"/>
        </dgm:presLayoutVars>
      </dgm:prSet>
      <dgm:spPr/>
    </dgm:pt>
    <dgm:pt modelId="{53835B33-A5D5-47C4-AFE4-1F575BC2417D}" type="pres">
      <dgm:prSet presAssocID="{A340B067-88E4-4002-BD35-420A78510667}" presName="compositeSpace" presStyleCnt="0"/>
      <dgm:spPr/>
    </dgm:pt>
    <dgm:pt modelId="{4710D575-1A6B-4C4E-8068-DB93D0A73BBE}" type="pres">
      <dgm:prSet presAssocID="{73D5061B-6698-41CF-BCE4-C80D7316D945}" presName="composite" presStyleCnt="0"/>
      <dgm:spPr/>
    </dgm:pt>
    <dgm:pt modelId="{99DE828F-6864-41E4-A5C4-05E8046630B5}" type="pres">
      <dgm:prSet presAssocID="{73D5061B-6698-41CF-BCE4-C80D7316D945}" presName="bgChev" presStyleLbl="node1" presStyleIdx="2" presStyleCnt="4"/>
      <dgm:spPr/>
    </dgm:pt>
    <dgm:pt modelId="{9A579A99-7A25-402D-BE69-F98C11EEABFA}" type="pres">
      <dgm:prSet presAssocID="{73D5061B-6698-41CF-BCE4-C80D7316D945}" presName="txNode" presStyleLbl="fgAcc1" presStyleIdx="2" presStyleCnt="4">
        <dgm:presLayoutVars>
          <dgm:bulletEnabled val="1"/>
        </dgm:presLayoutVars>
      </dgm:prSet>
      <dgm:spPr/>
    </dgm:pt>
    <dgm:pt modelId="{D82A2208-4DDD-4F84-9A5C-51EA437D9EB6}" type="pres">
      <dgm:prSet presAssocID="{A779D731-85EB-4F95-82AB-B02C1F293861}" presName="compositeSpace" presStyleCnt="0"/>
      <dgm:spPr/>
    </dgm:pt>
    <dgm:pt modelId="{D6DDDCCD-249E-4620-A437-21A7E114492A}" type="pres">
      <dgm:prSet presAssocID="{BF09043C-4E04-4743-B4CF-39115AD2A2EC}" presName="composite" presStyleCnt="0"/>
      <dgm:spPr/>
    </dgm:pt>
    <dgm:pt modelId="{22060C5F-2C50-4568-B6A1-B342590C2F68}" type="pres">
      <dgm:prSet presAssocID="{BF09043C-4E04-4743-B4CF-39115AD2A2EC}" presName="bgChev" presStyleLbl="node1" presStyleIdx="3" presStyleCnt="4"/>
      <dgm:spPr/>
    </dgm:pt>
    <dgm:pt modelId="{F911EE14-0BFD-4600-A0CF-830EA524F342}" type="pres">
      <dgm:prSet presAssocID="{BF09043C-4E04-4743-B4CF-39115AD2A2EC}" presName="txNode" presStyleLbl="fgAcc1" presStyleIdx="3" presStyleCnt="4">
        <dgm:presLayoutVars>
          <dgm:bulletEnabled val="1"/>
        </dgm:presLayoutVars>
      </dgm:prSet>
      <dgm:spPr/>
    </dgm:pt>
  </dgm:ptLst>
  <dgm:cxnLst>
    <dgm:cxn modelId="{E9FC1401-DAF8-404A-B8F0-E741EB1D57C0}" type="presOf" srcId="{BF09043C-4E04-4743-B4CF-39115AD2A2EC}" destId="{F911EE14-0BFD-4600-A0CF-830EA524F342}" srcOrd="0" destOrd="0" presId="urn:microsoft.com/office/officeart/2005/8/layout/chevronAccent+Icon"/>
    <dgm:cxn modelId="{3E63A15E-CD61-4652-9D8E-CC3930E7A0B5}" type="presOf" srcId="{212582AE-B612-4F83-9FA4-5D731E45A87C}" destId="{CCE706E9-86D1-4F51-9C4C-BFAD3EE1B0E3}" srcOrd="0" destOrd="0" presId="urn:microsoft.com/office/officeart/2005/8/layout/chevronAccent+Icon"/>
    <dgm:cxn modelId="{B162334E-5C84-477E-A4D2-E253D854DDD3}" srcId="{62404384-910E-4E12-A7CC-CF8A590B0B70}" destId="{26DFD3D5-B82E-473B-A7AA-7825F9EDDDC9}" srcOrd="0" destOrd="0" parTransId="{0F69CF1D-533A-41BB-944D-6F719645DC9B}" sibTransId="{131A03F6-3957-4F57-B548-B48C1ED9CCF7}"/>
    <dgm:cxn modelId="{795CA48D-168C-4DB8-81A3-1195F7540114}" type="presOf" srcId="{26DFD3D5-B82E-473B-A7AA-7825F9EDDDC9}" destId="{B23ABE36-295D-4ED2-A1C3-936B461D7F13}" srcOrd="0" destOrd="0" presId="urn:microsoft.com/office/officeart/2005/8/layout/chevronAccent+Icon"/>
    <dgm:cxn modelId="{59A1F09A-5330-4F93-9090-7F614CD74059}" type="presOf" srcId="{73D5061B-6698-41CF-BCE4-C80D7316D945}" destId="{9A579A99-7A25-402D-BE69-F98C11EEABFA}" srcOrd="0" destOrd="0" presId="urn:microsoft.com/office/officeart/2005/8/layout/chevronAccent+Icon"/>
    <dgm:cxn modelId="{BC8B9AC9-5936-4C01-B2DD-43FA9B074158}" srcId="{62404384-910E-4E12-A7CC-CF8A590B0B70}" destId="{73D5061B-6698-41CF-BCE4-C80D7316D945}" srcOrd="2" destOrd="0" parTransId="{5AFAC292-1D16-4051-9B3A-0FB67B747EED}" sibTransId="{A779D731-85EB-4F95-82AB-B02C1F293861}"/>
    <dgm:cxn modelId="{A97436E4-0A65-4024-B856-3D832504DB8A}" srcId="{62404384-910E-4E12-A7CC-CF8A590B0B70}" destId="{212582AE-B612-4F83-9FA4-5D731E45A87C}" srcOrd="1" destOrd="0" parTransId="{B037EBDF-5096-496B-A117-3DB7165EB0F5}" sibTransId="{A340B067-88E4-4002-BD35-420A78510667}"/>
    <dgm:cxn modelId="{91A9EAF0-EBD4-48DE-94CD-EA815B4E81B1}" type="presOf" srcId="{62404384-910E-4E12-A7CC-CF8A590B0B70}" destId="{CE4D7BDD-DC4E-4A5F-A7F9-8EEC0DD66EF1}" srcOrd="0" destOrd="0" presId="urn:microsoft.com/office/officeart/2005/8/layout/chevronAccent+Icon"/>
    <dgm:cxn modelId="{312303F7-4BCF-4AD3-936C-5ED2C4825859}" srcId="{62404384-910E-4E12-A7CC-CF8A590B0B70}" destId="{BF09043C-4E04-4743-B4CF-39115AD2A2EC}" srcOrd="3" destOrd="0" parTransId="{8DF51FBC-A76C-4D3B-8305-52B1DD7B2240}" sibTransId="{9C89353F-8CC3-45E8-A71C-E7642D657571}"/>
    <dgm:cxn modelId="{C5680033-C149-430E-BF3A-8D5C2E9BB060}" type="presParOf" srcId="{CE4D7BDD-DC4E-4A5F-A7F9-8EEC0DD66EF1}" destId="{093FFC7F-19FE-4DF4-83F4-5F893580BB98}" srcOrd="0" destOrd="0" presId="urn:microsoft.com/office/officeart/2005/8/layout/chevronAccent+Icon"/>
    <dgm:cxn modelId="{BEC18BEA-6D8C-4F5E-816E-9945C7623899}" type="presParOf" srcId="{093FFC7F-19FE-4DF4-83F4-5F893580BB98}" destId="{64D3BD77-2E8D-4ACB-B037-B68BB870413E}" srcOrd="0" destOrd="0" presId="urn:microsoft.com/office/officeart/2005/8/layout/chevronAccent+Icon"/>
    <dgm:cxn modelId="{801BB7E7-0111-4DE0-AE2E-965EF14B327B}" type="presParOf" srcId="{093FFC7F-19FE-4DF4-83F4-5F893580BB98}" destId="{B23ABE36-295D-4ED2-A1C3-936B461D7F13}" srcOrd="1" destOrd="0" presId="urn:microsoft.com/office/officeart/2005/8/layout/chevronAccent+Icon"/>
    <dgm:cxn modelId="{6FDBD790-34AA-4C91-872A-703E45F87BF4}" type="presParOf" srcId="{CE4D7BDD-DC4E-4A5F-A7F9-8EEC0DD66EF1}" destId="{6E7F21C4-9FED-4317-A3B5-1B60758A1E38}" srcOrd="1" destOrd="0" presId="urn:microsoft.com/office/officeart/2005/8/layout/chevronAccent+Icon"/>
    <dgm:cxn modelId="{422147B9-1A54-4554-85FB-46C1AC9F20E8}" type="presParOf" srcId="{CE4D7BDD-DC4E-4A5F-A7F9-8EEC0DD66EF1}" destId="{E9612FB9-C2E7-48E7-B37E-74ABE95CBFBF}" srcOrd="2" destOrd="0" presId="urn:microsoft.com/office/officeart/2005/8/layout/chevronAccent+Icon"/>
    <dgm:cxn modelId="{0B7017C1-677A-4E40-A17C-C404567220B6}" type="presParOf" srcId="{E9612FB9-C2E7-48E7-B37E-74ABE95CBFBF}" destId="{B26F2705-56C7-47CC-B74C-CAC4E56B2D4A}" srcOrd="0" destOrd="0" presId="urn:microsoft.com/office/officeart/2005/8/layout/chevronAccent+Icon"/>
    <dgm:cxn modelId="{1EFFC9E9-F785-4AF7-B155-6CB81461C3DC}" type="presParOf" srcId="{E9612FB9-C2E7-48E7-B37E-74ABE95CBFBF}" destId="{CCE706E9-86D1-4F51-9C4C-BFAD3EE1B0E3}" srcOrd="1" destOrd="0" presId="urn:microsoft.com/office/officeart/2005/8/layout/chevronAccent+Icon"/>
    <dgm:cxn modelId="{CE78A018-6CD7-4075-8947-637067823A59}" type="presParOf" srcId="{CE4D7BDD-DC4E-4A5F-A7F9-8EEC0DD66EF1}" destId="{53835B33-A5D5-47C4-AFE4-1F575BC2417D}" srcOrd="3" destOrd="0" presId="urn:microsoft.com/office/officeart/2005/8/layout/chevronAccent+Icon"/>
    <dgm:cxn modelId="{6AFBFC50-331E-43B1-A8F6-44EB56E84D68}" type="presParOf" srcId="{CE4D7BDD-DC4E-4A5F-A7F9-8EEC0DD66EF1}" destId="{4710D575-1A6B-4C4E-8068-DB93D0A73BBE}" srcOrd="4" destOrd="0" presId="urn:microsoft.com/office/officeart/2005/8/layout/chevronAccent+Icon"/>
    <dgm:cxn modelId="{3E70E8CD-149E-460D-B6AC-1FD69EDEC714}" type="presParOf" srcId="{4710D575-1A6B-4C4E-8068-DB93D0A73BBE}" destId="{99DE828F-6864-41E4-A5C4-05E8046630B5}" srcOrd="0" destOrd="0" presId="urn:microsoft.com/office/officeart/2005/8/layout/chevronAccent+Icon"/>
    <dgm:cxn modelId="{541339B9-F80F-4B69-8CDD-C411897B129B}" type="presParOf" srcId="{4710D575-1A6B-4C4E-8068-DB93D0A73BBE}" destId="{9A579A99-7A25-402D-BE69-F98C11EEABFA}" srcOrd="1" destOrd="0" presId="urn:microsoft.com/office/officeart/2005/8/layout/chevronAccent+Icon"/>
    <dgm:cxn modelId="{DE131353-2A81-4F4A-9031-9D69261383B0}" type="presParOf" srcId="{CE4D7BDD-DC4E-4A5F-A7F9-8EEC0DD66EF1}" destId="{D82A2208-4DDD-4F84-9A5C-51EA437D9EB6}" srcOrd="5" destOrd="0" presId="urn:microsoft.com/office/officeart/2005/8/layout/chevronAccent+Icon"/>
    <dgm:cxn modelId="{FF9FAFBF-27E7-4CF2-9604-72E942B560FB}" type="presParOf" srcId="{CE4D7BDD-DC4E-4A5F-A7F9-8EEC0DD66EF1}" destId="{D6DDDCCD-249E-4620-A437-21A7E114492A}" srcOrd="6" destOrd="0" presId="urn:microsoft.com/office/officeart/2005/8/layout/chevronAccent+Icon"/>
    <dgm:cxn modelId="{165B2C16-7D2D-4349-9089-1FE171AF7536}" type="presParOf" srcId="{D6DDDCCD-249E-4620-A437-21A7E114492A}" destId="{22060C5F-2C50-4568-B6A1-B342590C2F68}" srcOrd="0" destOrd="0" presId="urn:microsoft.com/office/officeart/2005/8/layout/chevronAccent+Icon"/>
    <dgm:cxn modelId="{ADE14273-2D0B-4690-8D21-509408151D88}" type="presParOf" srcId="{D6DDDCCD-249E-4620-A437-21A7E114492A}" destId="{F911EE14-0BFD-4600-A0CF-830EA524F342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D3BD77-2E8D-4ACB-B037-B68BB870413E}">
      <dsp:nvSpPr>
        <dsp:cNvPr id="0" name=""/>
        <dsp:cNvSpPr/>
      </dsp:nvSpPr>
      <dsp:spPr>
        <a:xfrm>
          <a:off x="4367" y="493222"/>
          <a:ext cx="2055532" cy="793435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ABE36-295D-4ED2-A1C3-936B461D7F13}">
      <dsp:nvSpPr>
        <dsp:cNvPr id="0" name=""/>
        <dsp:cNvSpPr/>
      </dsp:nvSpPr>
      <dsp:spPr>
        <a:xfrm>
          <a:off x="552509" y="691581"/>
          <a:ext cx="1735782" cy="7934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Signal Ingestion </a:t>
          </a:r>
        </a:p>
      </dsp:txBody>
      <dsp:txXfrm>
        <a:off x="575748" y="714820"/>
        <a:ext cx="1689304" cy="746957"/>
      </dsp:txXfrm>
    </dsp:sp>
    <dsp:sp modelId="{B26F2705-56C7-47CC-B74C-CAC4E56B2D4A}">
      <dsp:nvSpPr>
        <dsp:cNvPr id="0" name=""/>
        <dsp:cNvSpPr/>
      </dsp:nvSpPr>
      <dsp:spPr>
        <a:xfrm>
          <a:off x="2352241" y="493222"/>
          <a:ext cx="2055532" cy="793435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E706E9-86D1-4F51-9C4C-BFAD3EE1B0E3}">
      <dsp:nvSpPr>
        <dsp:cNvPr id="0" name=""/>
        <dsp:cNvSpPr/>
      </dsp:nvSpPr>
      <dsp:spPr>
        <a:xfrm>
          <a:off x="2900383" y="691581"/>
          <a:ext cx="1735782" cy="7934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Estimation Matrix</a:t>
          </a:r>
        </a:p>
      </dsp:txBody>
      <dsp:txXfrm>
        <a:off x="2923622" y="714820"/>
        <a:ext cx="1689304" cy="746957"/>
      </dsp:txXfrm>
    </dsp:sp>
    <dsp:sp modelId="{99DE828F-6864-41E4-A5C4-05E8046630B5}">
      <dsp:nvSpPr>
        <dsp:cNvPr id="0" name=""/>
        <dsp:cNvSpPr/>
      </dsp:nvSpPr>
      <dsp:spPr>
        <a:xfrm>
          <a:off x="4700116" y="493222"/>
          <a:ext cx="2055532" cy="793435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79A99-7A25-402D-BE69-F98C11EEABFA}">
      <dsp:nvSpPr>
        <dsp:cNvPr id="0" name=""/>
        <dsp:cNvSpPr/>
      </dsp:nvSpPr>
      <dsp:spPr>
        <a:xfrm>
          <a:off x="5248258" y="691581"/>
          <a:ext cx="1735782" cy="7934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254000" marR="0" lvl="0" indent="-127000" algn="l" defTabSz="127000" rtl="0" eaLnBrk="1" fontAlgn="auto" latinLnBrk="0" hangingPunct="1">
            <a:lnSpc>
              <a:spcPct val="100000"/>
            </a:lnSpc>
            <a:spcBef>
              <a:spcPts val="300"/>
            </a:spcBef>
            <a:spcAft>
              <a:spcPts val="300"/>
            </a:spcAft>
            <a:buClrTx/>
            <a:buSzTx/>
            <a:buFontTx/>
            <a:buNone/>
            <a:tabLst/>
            <a:defRPr/>
          </a:pPr>
          <a:r>
            <a:rPr kumimoji="0" lang="en-US" sz="1700" b="1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Segoe UI"/>
              <a:cs typeface="Segoe UI"/>
            </a:rPr>
            <a:t>Feature Extraction</a:t>
          </a:r>
        </a:p>
      </dsp:txBody>
      <dsp:txXfrm>
        <a:off x="5271497" y="714820"/>
        <a:ext cx="1689304" cy="746957"/>
      </dsp:txXfrm>
    </dsp:sp>
    <dsp:sp modelId="{22060C5F-2C50-4568-B6A1-B342590C2F68}">
      <dsp:nvSpPr>
        <dsp:cNvPr id="0" name=""/>
        <dsp:cNvSpPr/>
      </dsp:nvSpPr>
      <dsp:spPr>
        <a:xfrm>
          <a:off x="7047991" y="493222"/>
          <a:ext cx="2055532" cy="793435"/>
        </a:xfrm>
        <a:prstGeom prst="chevron">
          <a:avLst>
            <a:gd name="adj" fmla="val 4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11EE14-0BFD-4600-A0CF-830EA524F342}">
      <dsp:nvSpPr>
        <dsp:cNvPr id="0" name=""/>
        <dsp:cNvSpPr/>
      </dsp:nvSpPr>
      <dsp:spPr>
        <a:xfrm>
          <a:off x="7596132" y="691581"/>
          <a:ext cx="1735782" cy="7934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Classification</a:t>
          </a:r>
        </a:p>
      </dsp:txBody>
      <dsp:txXfrm>
        <a:off x="7619371" y="714820"/>
        <a:ext cx="1689304" cy="746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7003597"/>
            <a:ext cx="25727184" cy="14898735"/>
          </a:xfrm>
        </p:spPr>
        <p:txBody>
          <a:bodyPr anchor="b"/>
          <a:lstStyle>
            <a:lvl1pPr algn="ctr"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3410" y="22476884"/>
            <a:ext cx="22700456" cy="10332032"/>
          </a:xfrm>
        </p:spPr>
        <p:txBody>
          <a:bodyPr/>
          <a:lstStyle>
            <a:lvl1pPr marL="0" indent="0" algn="ctr">
              <a:buNone/>
              <a:defRPr sz="7944"/>
            </a:lvl1pPr>
            <a:lvl2pPr marL="1513378" indent="0" algn="ctr">
              <a:buNone/>
              <a:defRPr sz="6620"/>
            </a:lvl2pPr>
            <a:lvl3pPr marL="3026755" indent="0" algn="ctr">
              <a:buNone/>
              <a:defRPr sz="5958"/>
            </a:lvl3pPr>
            <a:lvl4pPr marL="4540133" indent="0" algn="ctr">
              <a:buNone/>
              <a:defRPr sz="5296"/>
            </a:lvl4pPr>
            <a:lvl5pPr marL="6053511" indent="0" algn="ctr">
              <a:buNone/>
              <a:defRPr sz="5296"/>
            </a:lvl5pPr>
            <a:lvl6pPr marL="7566889" indent="0" algn="ctr">
              <a:buNone/>
              <a:defRPr sz="5296"/>
            </a:lvl6pPr>
            <a:lvl7pPr marL="9080266" indent="0" algn="ctr">
              <a:buNone/>
              <a:defRPr sz="5296"/>
            </a:lvl7pPr>
            <a:lvl8pPr marL="10593644" indent="0" algn="ctr">
              <a:buNone/>
              <a:defRPr sz="5296"/>
            </a:lvl8pPr>
            <a:lvl9pPr marL="12107022" indent="0" algn="ctr">
              <a:buNone/>
              <a:defRPr sz="529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158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507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112" y="10668854"/>
            <a:ext cx="26105525" cy="17801211"/>
          </a:xfrm>
        </p:spPr>
        <p:txBody>
          <a:bodyPr anchor="b"/>
          <a:lstStyle>
            <a:lvl1pPr>
              <a:defRPr sz="1986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112" y="28638472"/>
            <a:ext cx="26105525" cy="9361236"/>
          </a:xfrm>
        </p:spPr>
        <p:txBody>
          <a:bodyPr/>
          <a:lstStyle>
            <a:lvl1pPr marL="0" indent="0">
              <a:buNone/>
              <a:defRPr sz="7944">
                <a:solidFill>
                  <a:schemeClr val="tx1">
                    <a:tint val="82000"/>
                  </a:schemeClr>
                </a:solidFill>
              </a:defRPr>
            </a:lvl1pPr>
            <a:lvl2pPr marL="1513378" indent="0">
              <a:buNone/>
              <a:defRPr sz="6620">
                <a:solidFill>
                  <a:schemeClr val="tx1">
                    <a:tint val="82000"/>
                  </a:schemeClr>
                </a:solidFill>
              </a:defRPr>
            </a:lvl2pPr>
            <a:lvl3pPr marL="3026755" indent="0">
              <a:buNone/>
              <a:defRPr sz="5958">
                <a:solidFill>
                  <a:schemeClr val="tx1">
                    <a:tint val="82000"/>
                  </a:schemeClr>
                </a:solidFill>
              </a:defRPr>
            </a:lvl3pPr>
            <a:lvl4pPr marL="4540133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4pPr>
            <a:lvl5pPr marL="6053511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5pPr>
            <a:lvl6pPr marL="7566889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6pPr>
            <a:lvl7pPr marL="9080266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7pPr>
            <a:lvl8pPr marL="10593644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8pPr>
            <a:lvl9pPr marL="12107022" indent="0">
              <a:buNone/>
              <a:defRPr sz="529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614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0875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2808" y="11391985"/>
            <a:ext cx="12863592" cy="271525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772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278406"/>
            <a:ext cx="26105525" cy="82715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821" y="10490535"/>
            <a:ext cx="1280447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821" y="15631784"/>
            <a:ext cx="1280447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2810" y="10490535"/>
            <a:ext cx="12867534" cy="5141249"/>
          </a:xfrm>
        </p:spPr>
        <p:txBody>
          <a:bodyPr anchor="b"/>
          <a:lstStyle>
            <a:lvl1pPr marL="0" indent="0">
              <a:buNone/>
              <a:defRPr sz="7944" b="1"/>
            </a:lvl1pPr>
            <a:lvl2pPr marL="1513378" indent="0">
              <a:buNone/>
              <a:defRPr sz="6620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2810" y="15631784"/>
            <a:ext cx="12867534" cy="2299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7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802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12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67534" y="6161587"/>
            <a:ext cx="15322808" cy="30411646"/>
          </a:xfrm>
        </p:spPr>
        <p:txBody>
          <a:bodyPr/>
          <a:lstStyle>
            <a:lvl1pPr>
              <a:defRPr sz="10592"/>
            </a:lvl1pPr>
            <a:lvl2pPr>
              <a:defRPr sz="9268"/>
            </a:lvl2pPr>
            <a:lvl3pPr>
              <a:defRPr sz="7944"/>
            </a:lvl3pPr>
            <a:lvl4pPr>
              <a:defRPr sz="6620"/>
            </a:lvl4pPr>
            <a:lvl5pPr>
              <a:defRPr sz="6620"/>
            </a:lvl5pPr>
            <a:lvl6pPr>
              <a:defRPr sz="6620"/>
            </a:lvl6pPr>
            <a:lvl7pPr>
              <a:defRPr sz="6620"/>
            </a:lvl7pPr>
            <a:lvl8pPr>
              <a:defRPr sz="6620"/>
            </a:lvl8pPr>
            <a:lvl9pPr>
              <a:defRPr sz="66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682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7" y="2852949"/>
            <a:ext cx="9761984" cy="9985322"/>
          </a:xfrm>
        </p:spPr>
        <p:txBody>
          <a:bodyPr anchor="b"/>
          <a:lstStyle>
            <a:lvl1pPr>
              <a:defRPr sz="105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67534" y="6161587"/>
            <a:ext cx="15322808" cy="30411646"/>
          </a:xfrm>
        </p:spPr>
        <p:txBody>
          <a:bodyPr anchor="t"/>
          <a:lstStyle>
            <a:lvl1pPr marL="0" indent="0">
              <a:buNone/>
              <a:defRPr sz="10592"/>
            </a:lvl1pPr>
            <a:lvl2pPr marL="1513378" indent="0">
              <a:buNone/>
              <a:defRPr sz="9268"/>
            </a:lvl2pPr>
            <a:lvl3pPr marL="3026755" indent="0">
              <a:buNone/>
              <a:defRPr sz="7944"/>
            </a:lvl3pPr>
            <a:lvl4pPr marL="4540133" indent="0">
              <a:buNone/>
              <a:defRPr sz="6620"/>
            </a:lvl4pPr>
            <a:lvl5pPr marL="6053511" indent="0">
              <a:buNone/>
              <a:defRPr sz="6620"/>
            </a:lvl5pPr>
            <a:lvl6pPr marL="7566889" indent="0">
              <a:buNone/>
              <a:defRPr sz="6620"/>
            </a:lvl6pPr>
            <a:lvl7pPr marL="9080266" indent="0">
              <a:buNone/>
              <a:defRPr sz="6620"/>
            </a:lvl7pPr>
            <a:lvl8pPr marL="10593644" indent="0">
              <a:buNone/>
              <a:defRPr sz="6620"/>
            </a:lvl8pPr>
            <a:lvl9pPr marL="12107022" indent="0">
              <a:buNone/>
              <a:defRPr sz="66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17" y="12838271"/>
            <a:ext cx="9761984" cy="23784486"/>
          </a:xfrm>
        </p:spPr>
        <p:txBody>
          <a:bodyPr/>
          <a:lstStyle>
            <a:lvl1pPr marL="0" indent="0">
              <a:buNone/>
              <a:defRPr sz="5296"/>
            </a:lvl1pPr>
            <a:lvl2pPr marL="1513378" indent="0">
              <a:buNone/>
              <a:defRPr sz="4634"/>
            </a:lvl2pPr>
            <a:lvl3pPr marL="3026755" indent="0">
              <a:buNone/>
              <a:defRPr sz="3972"/>
            </a:lvl3pPr>
            <a:lvl4pPr marL="4540133" indent="0">
              <a:buNone/>
              <a:defRPr sz="3310"/>
            </a:lvl4pPr>
            <a:lvl5pPr marL="6053511" indent="0">
              <a:buNone/>
              <a:defRPr sz="3310"/>
            </a:lvl5pPr>
            <a:lvl6pPr marL="7566889" indent="0">
              <a:buNone/>
              <a:defRPr sz="3310"/>
            </a:lvl6pPr>
            <a:lvl7pPr marL="9080266" indent="0">
              <a:buNone/>
              <a:defRPr sz="3310"/>
            </a:lvl7pPr>
            <a:lvl8pPr marL="10593644" indent="0">
              <a:buNone/>
              <a:defRPr sz="3310"/>
            </a:lvl8pPr>
            <a:lvl9pPr marL="12107022" indent="0">
              <a:buNone/>
              <a:defRPr sz="331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0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578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0020" y="2278397"/>
            <a:ext cx="6526381" cy="362661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0877" y="2278397"/>
            <a:ext cx="19200803" cy="362661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136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0875" y="2278406"/>
            <a:ext cx="26105525" cy="82715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0875" y="11391985"/>
            <a:ext cx="26105525" cy="27152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0875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C52A70-1682-4967-8B8E-ED0BCE20DE0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6035" y="39663928"/>
            <a:ext cx="10215205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76263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94E698-7E5E-4C45-B3FE-0E5EE1728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6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026755" rtl="0" eaLnBrk="1" latinLnBrk="0" hangingPunct="1">
        <a:lnSpc>
          <a:spcPct val="90000"/>
        </a:lnSpc>
        <a:spcBef>
          <a:spcPct val="0"/>
        </a:spcBef>
        <a:buNone/>
        <a:defRPr sz="145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689" indent="-756689" algn="l" defTabSz="3026755" rtl="0" eaLnBrk="1" latinLnBrk="0" hangingPunct="1">
        <a:lnSpc>
          <a:spcPct val="90000"/>
        </a:lnSpc>
        <a:spcBef>
          <a:spcPts val="3310"/>
        </a:spcBef>
        <a:buFont typeface="Arial" panose="020B0604020202020204" pitchFamily="34" charset="0"/>
        <a:buChar char="•"/>
        <a:defRPr sz="9268" kern="1200">
          <a:solidFill>
            <a:schemeClr val="tx1"/>
          </a:solidFill>
          <a:latin typeface="+mn-lt"/>
          <a:ea typeface="+mn-ea"/>
          <a:cs typeface="+mn-cs"/>
        </a:defRPr>
      </a:lvl1pPr>
      <a:lvl2pPr marL="227006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4" kern="1200">
          <a:solidFill>
            <a:schemeClr val="tx1"/>
          </a:solidFill>
          <a:latin typeface="+mn-lt"/>
          <a:ea typeface="+mn-ea"/>
          <a:cs typeface="+mn-cs"/>
        </a:defRPr>
      </a:lvl2pPr>
      <a:lvl3pPr marL="3783444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0" kern="1200">
          <a:solidFill>
            <a:schemeClr val="tx1"/>
          </a:solidFill>
          <a:latin typeface="+mn-lt"/>
          <a:ea typeface="+mn-ea"/>
          <a:cs typeface="+mn-cs"/>
        </a:defRPr>
      </a:lvl3pPr>
      <a:lvl4pPr marL="5296822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810200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8323577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836955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1350333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863711" indent="-756689" algn="l" defTabSz="3026755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1pPr>
      <a:lvl2pPr marL="1513378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2pPr>
      <a:lvl3pPr marL="3026755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3pPr>
      <a:lvl4pPr marL="4540133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053511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7566889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080266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0593644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107022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image" Target="../media/image8.png"/><Relationship Id="rId1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diagramQuickStyle" Target="../diagrams/quickStyle1.xml"/><Relationship Id="rId12" Type="http://schemas.openxmlformats.org/officeDocument/2006/relationships/image" Target="../media/image7.png"/><Relationship Id="rId17" Type="http://schemas.openxmlformats.org/officeDocument/2006/relationships/image" Target="../media/image12.png"/><Relationship Id="rId2" Type="http://schemas.openxmlformats.org/officeDocument/2006/relationships/image" Target="../media/image1.png"/><Relationship Id="rId16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11" Type="http://schemas.openxmlformats.org/officeDocument/2006/relationships/image" Target="../media/image6.png"/><Relationship Id="rId5" Type="http://schemas.openxmlformats.org/officeDocument/2006/relationships/diagramData" Target="../diagrams/data1.xml"/><Relationship Id="rId15" Type="http://schemas.openxmlformats.org/officeDocument/2006/relationships/image" Target="../media/image10.png"/><Relationship Id="rId10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microsoft.com/office/2007/relationships/diagramDrawing" Target="../diagrams/drawing1.xml"/><Relationship Id="rId1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grpSp>
        <p:nvGrpSpPr>
          <p:cNvPr id="137" name="Group 5">
            <a:extLst>
              <a:ext uri="{FF2B5EF4-FFF2-40B4-BE49-F238E27FC236}">
                <a16:creationId xmlns:a16="http://schemas.microsoft.com/office/drawing/2014/main" id="{99D4F269-618D-7823-F612-F7DED153A966}"/>
              </a:ext>
            </a:extLst>
          </p:cNvPr>
          <p:cNvGrpSpPr/>
          <p:nvPr/>
        </p:nvGrpSpPr>
        <p:grpSpPr>
          <a:xfrm>
            <a:off x="390500" y="4701086"/>
            <a:ext cx="10892341" cy="9735566"/>
            <a:chOff x="-50609" y="-47625"/>
            <a:chExt cx="1961378" cy="4095739"/>
          </a:xfrm>
        </p:grpSpPr>
        <p:sp>
          <p:nvSpPr>
            <p:cNvPr id="138" name="Freeform 6">
              <a:extLst>
                <a:ext uri="{FF2B5EF4-FFF2-40B4-BE49-F238E27FC236}">
                  <a16:creationId xmlns:a16="http://schemas.microsoft.com/office/drawing/2014/main" id="{73ADDBB2-B3DF-100B-56D9-B2CBCBFD366B}"/>
                </a:ext>
              </a:extLst>
            </p:cNvPr>
            <p:cNvSpPr/>
            <p:nvPr/>
          </p:nvSpPr>
          <p:spPr>
            <a:xfrm>
              <a:off x="-50609" y="150965"/>
              <a:ext cx="1910769" cy="3897149"/>
            </a:xfrm>
            <a:custGeom>
              <a:avLst/>
              <a:gdLst/>
              <a:ahLst/>
              <a:cxnLst/>
              <a:rect l="l" t="t" r="r" b="b"/>
              <a:pathLst>
                <a:path w="1910769" h="3897149">
                  <a:moveTo>
                    <a:pt x="26204" y="0"/>
                  </a:moveTo>
                  <a:lnTo>
                    <a:pt x="1884565" y="0"/>
                  </a:lnTo>
                  <a:cubicBezTo>
                    <a:pt x="1891515" y="0"/>
                    <a:pt x="1898180" y="2761"/>
                    <a:pt x="1903094" y="7675"/>
                  </a:cubicBezTo>
                  <a:cubicBezTo>
                    <a:pt x="1908009" y="12589"/>
                    <a:pt x="1910769" y="19254"/>
                    <a:pt x="1910769" y="26204"/>
                  </a:cubicBezTo>
                  <a:lnTo>
                    <a:pt x="1910769" y="3870945"/>
                  </a:lnTo>
                  <a:cubicBezTo>
                    <a:pt x="1910769" y="3877894"/>
                    <a:pt x="1908009" y="3884560"/>
                    <a:pt x="1903094" y="3889474"/>
                  </a:cubicBezTo>
                  <a:cubicBezTo>
                    <a:pt x="1898180" y="3894388"/>
                    <a:pt x="1891515" y="3897149"/>
                    <a:pt x="1884565" y="3897149"/>
                  </a:cubicBezTo>
                  <a:lnTo>
                    <a:pt x="26204" y="3897149"/>
                  </a:lnTo>
                  <a:cubicBezTo>
                    <a:pt x="19254" y="3897149"/>
                    <a:pt x="12589" y="3894388"/>
                    <a:pt x="7675" y="3889474"/>
                  </a:cubicBezTo>
                  <a:cubicBezTo>
                    <a:pt x="2761" y="3884560"/>
                    <a:pt x="0" y="3877894"/>
                    <a:pt x="0" y="3870945"/>
                  </a:cubicBezTo>
                  <a:lnTo>
                    <a:pt x="0" y="26204"/>
                  </a:lnTo>
                  <a:cubicBezTo>
                    <a:pt x="0" y="19254"/>
                    <a:pt x="2761" y="12589"/>
                    <a:pt x="7675" y="7675"/>
                  </a:cubicBezTo>
                  <a:cubicBezTo>
                    <a:pt x="12589" y="2761"/>
                    <a:pt x="19254" y="0"/>
                    <a:pt x="26204" y="0"/>
                  </a:cubicBezTo>
                  <a:close/>
                </a:path>
              </a:pathLst>
            </a:custGeom>
            <a:solidFill>
              <a:srgbClr val="EAF0F7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9" name="TextBox 7">
              <a:extLst>
                <a:ext uri="{FF2B5EF4-FFF2-40B4-BE49-F238E27FC236}">
                  <a16:creationId xmlns:a16="http://schemas.microsoft.com/office/drawing/2014/main" id="{3315F425-6642-2ABE-61E4-CAC619970C50}"/>
                </a:ext>
              </a:extLst>
            </p:cNvPr>
            <p:cNvSpPr txBox="1"/>
            <p:nvPr/>
          </p:nvSpPr>
          <p:spPr>
            <a:xfrm>
              <a:off x="0" y="-47625"/>
              <a:ext cx="1910769" cy="3944774"/>
            </a:xfrm>
            <a:prstGeom prst="rect">
              <a:avLst/>
            </a:prstGeom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sp>
        <p:nvSpPr>
          <p:cNvPr id="58" name="Freeform 6">
            <a:extLst>
              <a:ext uri="{FF2B5EF4-FFF2-40B4-BE49-F238E27FC236}">
                <a16:creationId xmlns:a16="http://schemas.microsoft.com/office/drawing/2014/main" id="{C1278045-AD6E-DB5C-C3C8-A287FFFBCBC4}"/>
              </a:ext>
            </a:extLst>
          </p:cNvPr>
          <p:cNvSpPr/>
          <p:nvPr/>
        </p:nvSpPr>
        <p:spPr>
          <a:xfrm>
            <a:off x="20754188" y="5557616"/>
            <a:ext cx="9369682" cy="22057425"/>
          </a:xfrm>
          <a:custGeom>
            <a:avLst/>
            <a:gdLst/>
            <a:ahLst/>
            <a:cxnLst/>
            <a:rect l="l" t="t" r="r" b="b"/>
            <a:pathLst>
              <a:path w="1910769" h="3897149">
                <a:moveTo>
                  <a:pt x="26204" y="0"/>
                </a:moveTo>
                <a:lnTo>
                  <a:pt x="1884565" y="0"/>
                </a:lnTo>
                <a:cubicBezTo>
                  <a:pt x="1891515" y="0"/>
                  <a:pt x="1898180" y="2761"/>
                  <a:pt x="1903094" y="7675"/>
                </a:cubicBezTo>
                <a:cubicBezTo>
                  <a:pt x="1908009" y="12589"/>
                  <a:pt x="1910769" y="19254"/>
                  <a:pt x="1910769" y="26204"/>
                </a:cubicBezTo>
                <a:lnTo>
                  <a:pt x="1910769" y="3870945"/>
                </a:lnTo>
                <a:cubicBezTo>
                  <a:pt x="1910769" y="3877894"/>
                  <a:pt x="1908009" y="3884560"/>
                  <a:pt x="1903094" y="3889474"/>
                </a:cubicBezTo>
                <a:cubicBezTo>
                  <a:pt x="1898180" y="3894388"/>
                  <a:pt x="1891515" y="3897149"/>
                  <a:pt x="1884565" y="3897149"/>
                </a:cubicBezTo>
                <a:lnTo>
                  <a:pt x="26204" y="3897149"/>
                </a:lnTo>
                <a:cubicBezTo>
                  <a:pt x="19254" y="3897149"/>
                  <a:pt x="12589" y="3894388"/>
                  <a:pt x="7675" y="3889474"/>
                </a:cubicBezTo>
                <a:cubicBezTo>
                  <a:pt x="2761" y="3884560"/>
                  <a:pt x="0" y="3877894"/>
                  <a:pt x="0" y="3870945"/>
                </a:cubicBezTo>
                <a:lnTo>
                  <a:pt x="0" y="26204"/>
                </a:lnTo>
                <a:cubicBezTo>
                  <a:pt x="0" y="19254"/>
                  <a:pt x="2761" y="12589"/>
                  <a:pt x="7675" y="7675"/>
                </a:cubicBezTo>
                <a:cubicBezTo>
                  <a:pt x="12589" y="2761"/>
                  <a:pt x="19254" y="0"/>
                  <a:pt x="26204" y="0"/>
                </a:cubicBezTo>
                <a:close/>
              </a:path>
            </a:pathLst>
          </a:custGeom>
          <a:noFill/>
        </p:spPr>
        <p:txBody>
          <a:bodyPr/>
          <a:lstStyle/>
          <a:p>
            <a:endParaRPr lang="en-US"/>
          </a:p>
        </p:txBody>
      </p:sp>
      <p:grpSp>
        <p:nvGrpSpPr>
          <p:cNvPr id="50" name="Group 5">
            <a:extLst>
              <a:ext uri="{FF2B5EF4-FFF2-40B4-BE49-F238E27FC236}">
                <a16:creationId xmlns:a16="http://schemas.microsoft.com/office/drawing/2014/main" id="{47D91221-B8FC-8DFC-1A41-73B7B93329A4}"/>
              </a:ext>
            </a:extLst>
          </p:cNvPr>
          <p:cNvGrpSpPr/>
          <p:nvPr/>
        </p:nvGrpSpPr>
        <p:grpSpPr>
          <a:xfrm>
            <a:off x="11205479" y="5288064"/>
            <a:ext cx="18731512" cy="22326977"/>
            <a:chOff x="0" y="-47625"/>
            <a:chExt cx="1910769" cy="3944774"/>
          </a:xfrm>
        </p:grpSpPr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3763B1E0-C24E-8505-80C4-FF4BE171E235}"/>
                </a:ext>
              </a:extLst>
            </p:cNvPr>
            <p:cNvSpPr/>
            <p:nvPr/>
          </p:nvSpPr>
          <p:spPr>
            <a:xfrm>
              <a:off x="0" y="0"/>
              <a:ext cx="955785" cy="3897149"/>
            </a:xfrm>
            <a:custGeom>
              <a:avLst/>
              <a:gdLst/>
              <a:ahLst/>
              <a:cxnLst/>
              <a:rect l="l" t="t" r="r" b="b"/>
              <a:pathLst>
                <a:path w="1910769" h="3897149">
                  <a:moveTo>
                    <a:pt x="26204" y="0"/>
                  </a:moveTo>
                  <a:lnTo>
                    <a:pt x="1884565" y="0"/>
                  </a:lnTo>
                  <a:cubicBezTo>
                    <a:pt x="1891515" y="0"/>
                    <a:pt x="1898180" y="2761"/>
                    <a:pt x="1903094" y="7675"/>
                  </a:cubicBezTo>
                  <a:cubicBezTo>
                    <a:pt x="1908009" y="12589"/>
                    <a:pt x="1910769" y="19254"/>
                    <a:pt x="1910769" y="26204"/>
                  </a:cubicBezTo>
                  <a:lnTo>
                    <a:pt x="1910769" y="3870945"/>
                  </a:lnTo>
                  <a:cubicBezTo>
                    <a:pt x="1910769" y="3877894"/>
                    <a:pt x="1908009" y="3884560"/>
                    <a:pt x="1903094" y="3889474"/>
                  </a:cubicBezTo>
                  <a:cubicBezTo>
                    <a:pt x="1898180" y="3894388"/>
                    <a:pt x="1891515" y="3897149"/>
                    <a:pt x="1884565" y="3897149"/>
                  </a:cubicBezTo>
                  <a:lnTo>
                    <a:pt x="26204" y="3897149"/>
                  </a:lnTo>
                  <a:cubicBezTo>
                    <a:pt x="19254" y="3897149"/>
                    <a:pt x="12589" y="3894388"/>
                    <a:pt x="7675" y="3889474"/>
                  </a:cubicBezTo>
                  <a:cubicBezTo>
                    <a:pt x="2761" y="3884560"/>
                    <a:pt x="0" y="3877894"/>
                    <a:pt x="0" y="3870945"/>
                  </a:cubicBezTo>
                  <a:lnTo>
                    <a:pt x="0" y="26204"/>
                  </a:lnTo>
                  <a:cubicBezTo>
                    <a:pt x="0" y="19254"/>
                    <a:pt x="2761" y="12589"/>
                    <a:pt x="7675" y="7675"/>
                  </a:cubicBezTo>
                  <a:cubicBezTo>
                    <a:pt x="12589" y="2761"/>
                    <a:pt x="19254" y="0"/>
                    <a:pt x="26204" y="0"/>
                  </a:cubicBezTo>
                  <a:close/>
                </a:path>
              </a:pathLst>
            </a:custGeom>
            <a:noFill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7">
              <a:extLst>
                <a:ext uri="{FF2B5EF4-FFF2-40B4-BE49-F238E27FC236}">
                  <a16:creationId xmlns:a16="http://schemas.microsoft.com/office/drawing/2014/main" id="{BB906342-2859-2F66-EF0A-27B113A92096}"/>
                </a:ext>
              </a:extLst>
            </p:cNvPr>
            <p:cNvSpPr txBox="1"/>
            <p:nvPr/>
          </p:nvSpPr>
          <p:spPr>
            <a:xfrm>
              <a:off x="0" y="-47625"/>
              <a:ext cx="1910769" cy="3944774"/>
            </a:xfrm>
            <a:prstGeom prst="rect">
              <a:avLst/>
            </a:prstGeom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grpSp>
        <p:nvGrpSpPr>
          <p:cNvPr id="4" name="Group 8">
            <a:extLst>
              <a:ext uri="{FF2B5EF4-FFF2-40B4-BE49-F238E27FC236}">
                <a16:creationId xmlns:a16="http://schemas.microsoft.com/office/drawing/2014/main" id="{9428BD4E-8759-D484-75C7-DB293592FA8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" y="116569"/>
            <a:ext cx="30267275" cy="3684651"/>
            <a:chOff x="0" y="0"/>
            <a:chExt cx="7689780" cy="661951"/>
          </a:xfrm>
          <a:solidFill>
            <a:srgbClr val="0D1D52"/>
          </a:solidFill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E18894A4-30B9-72FD-12EA-1754AEF2743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7689780" cy="661951"/>
            </a:xfrm>
            <a:custGeom>
              <a:avLst/>
              <a:gdLst/>
              <a:ahLst/>
              <a:cxnLst/>
              <a:rect l="l" t="t" r="r" b="b"/>
              <a:pathLst>
                <a:path w="7689780" h="661951">
                  <a:moveTo>
                    <a:pt x="0" y="0"/>
                  </a:moveTo>
                  <a:lnTo>
                    <a:pt x="7689780" y="0"/>
                  </a:lnTo>
                  <a:lnTo>
                    <a:pt x="7689780" y="661951"/>
                  </a:lnTo>
                  <a:lnTo>
                    <a:pt x="0" y="661951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10">
              <a:extLst>
                <a:ext uri="{FF2B5EF4-FFF2-40B4-BE49-F238E27FC236}">
                  <a16:creationId xmlns:a16="http://schemas.microsoft.com/office/drawing/2014/main" id="{E2EE8963-70B6-67CE-AF6A-2633748FC0E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47625"/>
              <a:ext cx="7689780" cy="709576"/>
            </a:xfrm>
            <a:prstGeom prst="rect">
              <a:avLst/>
            </a:prstGeom>
            <a:grpFill/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grpSp>
        <p:nvGrpSpPr>
          <p:cNvPr id="7" name="Group 21">
            <a:extLst>
              <a:ext uri="{FF2B5EF4-FFF2-40B4-BE49-F238E27FC236}">
                <a16:creationId xmlns:a16="http://schemas.microsoft.com/office/drawing/2014/main" id="{F47DDF8A-FE7C-22AB-249E-515267B6408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1906280" y="3513833"/>
            <a:ext cx="8360995" cy="605447"/>
            <a:chOff x="0" y="0"/>
            <a:chExt cx="4794764" cy="147506"/>
          </a:xfrm>
          <a:solidFill>
            <a:srgbClr val="FEBD4C"/>
          </a:solidFill>
        </p:grpSpPr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71FF1953-9D62-3148-1AC0-A1CE1B41404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4794764" cy="147506"/>
            </a:xfrm>
            <a:custGeom>
              <a:avLst/>
              <a:gdLst/>
              <a:ahLst/>
              <a:cxnLst/>
              <a:rect l="l" t="t" r="r" b="b"/>
              <a:pathLst>
                <a:path w="4794764" h="147506">
                  <a:moveTo>
                    <a:pt x="1450" y="0"/>
                  </a:moveTo>
                  <a:lnTo>
                    <a:pt x="4793314" y="0"/>
                  </a:lnTo>
                  <a:cubicBezTo>
                    <a:pt x="4793698" y="0"/>
                    <a:pt x="4794067" y="153"/>
                    <a:pt x="4794340" y="425"/>
                  </a:cubicBezTo>
                  <a:cubicBezTo>
                    <a:pt x="4794612" y="697"/>
                    <a:pt x="4794764" y="1066"/>
                    <a:pt x="4794764" y="1450"/>
                  </a:cubicBezTo>
                  <a:lnTo>
                    <a:pt x="4794764" y="146056"/>
                  </a:lnTo>
                  <a:cubicBezTo>
                    <a:pt x="4794764" y="146857"/>
                    <a:pt x="4794115" y="147506"/>
                    <a:pt x="4793314" y="147506"/>
                  </a:cubicBezTo>
                  <a:lnTo>
                    <a:pt x="1450" y="147506"/>
                  </a:lnTo>
                  <a:cubicBezTo>
                    <a:pt x="649" y="147506"/>
                    <a:pt x="0" y="146857"/>
                    <a:pt x="0" y="146056"/>
                  </a:cubicBezTo>
                  <a:lnTo>
                    <a:pt x="0" y="1450"/>
                  </a:lnTo>
                  <a:cubicBezTo>
                    <a:pt x="0" y="649"/>
                    <a:pt x="649" y="0"/>
                    <a:pt x="145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23">
              <a:extLst>
                <a:ext uri="{FF2B5EF4-FFF2-40B4-BE49-F238E27FC236}">
                  <a16:creationId xmlns:a16="http://schemas.microsoft.com/office/drawing/2014/main" id="{D2349127-8113-FBC8-CCDB-A5F4D33F7A5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47625"/>
              <a:ext cx="4794764" cy="195131"/>
            </a:xfrm>
            <a:prstGeom prst="rect">
              <a:avLst/>
            </a:prstGeom>
            <a:grpFill/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sp>
        <p:nvSpPr>
          <p:cNvPr id="10" name="TextBox 47">
            <a:extLst>
              <a:ext uri="{FF2B5EF4-FFF2-40B4-BE49-F238E27FC236}">
                <a16:creationId xmlns:a16="http://schemas.microsoft.com/office/drawing/2014/main" id="{D32542E1-CFE3-5E9D-088E-76BDF151BE0E}"/>
              </a:ext>
            </a:extLst>
          </p:cNvPr>
          <p:cNvSpPr txBox="1"/>
          <p:nvPr/>
        </p:nvSpPr>
        <p:spPr>
          <a:xfrm>
            <a:off x="761597" y="577608"/>
            <a:ext cx="27699104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00"/>
              </a:lnSpc>
            </a:pPr>
            <a:r>
              <a:rPr lang="en-US" sz="8000" spc="240" dirty="0">
                <a:solidFill>
                  <a:srgbClr val="FFFFFF"/>
                </a:solidFill>
                <a:latin typeface="Neue Einstellung Medium"/>
                <a:ea typeface="Neue Einstellung Medium"/>
                <a:cs typeface="Neue Einstellung Medium"/>
                <a:sym typeface="Neue Einstellung Medium"/>
              </a:rPr>
              <a:t>Physics-Informed Machine Learning Vessel Depth Classification</a:t>
            </a:r>
          </a:p>
        </p:txBody>
      </p:sp>
      <p:sp>
        <p:nvSpPr>
          <p:cNvPr id="11" name="TextBox 59">
            <a:extLst>
              <a:ext uri="{FF2B5EF4-FFF2-40B4-BE49-F238E27FC236}">
                <a16:creationId xmlns:a16="http://schemas.microsoft.com/office/drawing/2014/main" id="{7F6AA164-033A-585B-BE6A-CCC6CD0FAE06}"/>
              </a:ext>
            </a:extLst>
          </p:cNvPr>
          <p:cNvSpPr txBox="1"/>
          <p:nvPr/>
        </p:nvSpPr>
        <p:spPr>
          <a:xfrm>
            <a:off x="520905" y="4119281"/>
            <a:ext cx="17776399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59"/>
              </a:lnSpc>
            </a:pPr>
            <a:r>
              <a:rPr lang="en-US" sz="4400" i="1" dirty="0">
                <a:solidFill>
                  <a:srgbClr val="525252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Roy Michael - Department of Marine Technologies, Haifa University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A1E8A1-FB25-D24D-694D-6E0D259B6CD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0" y="39820630"/>
            <a:ext cx="30267275" cy="2973608"/>
            <a:chOff x="0" y="-47625"/>
            <a:chExt cx="7689780" cy="534212"/>
          </a:xfrm>
          <a:solidFill>
            <a:srgbClr val="0D1D52"/>
          </a:solidFill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894B108-C194-F523-FCA4-16FC3333660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7689780" cy="486587"/>
            </a:xfrm>
            <a:custGeom>
              <a:avLst/>
              <a:gdLst/>
              <a:ahLst/>
              <a:cxnLst/>
              <a:rect l="l" t="t" r="r" b="b"/>
              <a:pathLst>
                <a:path w="7689780" h="486587">
                  <a:moveTo>
                    <a:pt x="0" y="0"/>
                  </a:moveTo>
                  <a:lnTo>
                    <a:pt x="7689780" y="0"/>
                  </a:lnTo>
                  <a:lnTo>
                    <a:pt x="7689780" y="486587"/>
                  </a:lnTo>
                  <a:lnTo>
                    <a:pt x="0" y="48658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C1640F-7481-C6FB-B131-7A06374DF7E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47625"/>
              <a:ext cx="7689780" cy="534212"/>
            </a:xfrm>
            <a:prstGeom prst="rect">
              <a:avLst/>
            </a:prstGeom>
            <a:grpFill/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F4C674CC-FC9D-50EC-7567-823C50A25E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6107" y="40138690"/>
            <a:ext cx="7206095" cy="224394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DBDC614-62A2-7C16-4C8E-78725BD51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90" y="40008875"/>
            <a:ext cx="5929628" cy="33324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109C094-B49B-AFB3-80A2-27821411AE2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29" b="18343"/>
          <a:stretch>
            <a:fillRect/>
          </a:stretch>
        </p:blipFill>
        <p:spPr>
          <a:xfrm>
            <a:off x="26532187" y="40215303"/>
            <a:ext cx="3455223" cy="2222635"/>
          </a:xfrm>
          <a:prstGeom prst="rect">
            <a:avLst/>
          </a:prstGeom>
        </p:spPr>
      </p:pic>
      <p:grpSp>
        <p:nvGrpSpPr>
          <p:cNvPr id="19" name="Group 5">
            <a:extLst>
              <a:ext uri="{FF2B5EF4-FFF2-40B4-BE49-F238E27FC236}">
                <a16:creationId xmlns:a16="http://schemas.microsoft.com/office/drawing/2014/main" id="{D03F68F9-7643-1483-EAD3-7F36AEEEDBCA}"/>
              </a:ext>
            </a:extLst>
          </p:cNvPr>
          <p:cNvGrpSpPr/>
          <p:nvPr/>
        </p:nvGrpSpPr>
        <p:grpSpPr>
          <a:xfrm>
            <a:off x="330284" y="15157064"/>
            <a:ext cx="10611289" cy="24304724"/>
            <a:chOff x="0" y="0"/>
            <a:chExt cx="1910769" cy="3897149"/>
          </a:xfrm>
        </p:grpSpPr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FCBB05C1-7651-EC28-8CF3-BBBC1ADA11C2}"/>
                </a:ext>
              </a:extLst>
            </p:cNvPr>
            <p:cNvSpPr/>
            <p:nvPr/>
          </p:nvSpPr>
          <p:spPr>
            <a:xfrm>
              <a:off x="0" y="0"/>
              <a:ext cx="1910769" cy="3897149"/>
            </a:xfrm>
            <a:custGeom>
              <a:avLst/>
              <a:gdLst/>
              <a:ahLst/>
              <a:cxnLst/>
              <a:rect l="l" t="t" r="r" b="b"/>
              <a:pathLst>
                <a:path w="1910769" h="3897149">
                  <a:moveTo>
                    <a:pt x="26204" y="0"/>
                  </a:moveTo>
                  <a:lnTo>
                    <a:pt x="1884565" y="0"/>
                  </a:lnTo>
                  <a:cubicBezTo>
                    <a:pt x="1891515" y="0"/>
                    <a:pt x="1898180" y="2761"/>
                    <a:pt x="1903094" y="7675"/>
                  </a:cubicBezTo>
                  <a:cubicBezTo>
                    <a:pt x="1908009" y="12589"/>
                    <a:pt x="1910769" y="19254"/>
                    <a:pt x="1910769" y="26204"/>
                  </a:cubicBezTo>
                  <a:lnTo>
                    <a:pt x="1910769" y="3870945"/>
                  </a:lnTo>
                  <a:cubicBezTo>
                    <a:pt x="1910769" y="3877894"/>
                    <a:pt x="1908009" y="3884560"/>
                    <a:pt x="1903094" y="3889474"/>
                  </a:cubicBezTo>
                  <a:cubicBezTo>
                    <a:pt x="1898180" y="3894388"/>
                    <a:pt x="1891515" y="3897149"/>
                    <a:pt x="1884565" y="3897149"/>
                  </a:cubicBezTo>
                  <a:lnTo>
                    <a:pt x="26204" y="3897149"/>
                  </a:lnTo>
                  <a:cubicBezTo>
                    <a:pt x="19254" y="3897149"/>
                    <a:pt x="12589" y="3894388"/>
                    <a:pt x="7675" y="3889474"/>
                  </a:cubicBezTo>
                  <a:cubicBezTo>
                    <a:pt x="2761" y="3884560"/>
                    <a:pt x="0" y="3877894"/>
                    <a:pt x="0" y="3870945"/>
                  </a:cubicBezTo>
                  <a:lnTo>
                    <a:pt x="0" y="26204"/>
                  </a:lnTo>
                  <a:cubicBezTo>
                    <a:pt x="0" y="19254"/>
                    <a:pt x="2761" y="12589"/>
                    <a:pt x="7675" y="7675"/>
                  </a:cubicBezTo>
                  <a:cubicBezTo>
                    <a:pt x="12589" y="2761"/>
                    <a:pt x="19254" y="0"/>
                    <a:pt x="26204" y="0"/>
                  </a:cubicBezTo>
                  <a:close/>
                </a:path>
              </a:pathLst>
            </a:custGeom>
            <a:solidFill>
              <a:srgbClr val="EAF0F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7">
              <a:extLst>
                <a:ext uri="{FF2B5EF4-FFF2-40B4-BE49-F238E27FC236}">
                  <a16:creationId xmlns:a16="http://schemas.microsoft.com/office/drawing/2014/main" id="{69A7AC6B-7D17-1BD9-9726-0ACB3AFAE178}"/>
                </a:ext>
              </a:extLst>
            </p:cNvPr>
            <p:cNvSpPr txBox="1"/>
            <p:nvPr/>
          </p:nvSpPr>
          <p:spPr>
            <a:xfrm>
              <a:off x="0" y="-47625"/>
              <a:ext cx="1910769" cy="3944774"/>
            </a:xfrm>
            <a:prstGeom prst="rect">
              <a:avLst/>
            </a:prstGeom>
          </p:spPr>
          <p:txBody>
            <a:bodyPr lIns="25305" tIns="25305" rIns="25305" bIns="25305" rtlCol="0" anchor="ctr"/>
            <a:lstStyle/>
            <a:p>
              <a:pPr algn="ctr">
                <a:lnSpc>
                  <a:spcPts val="3975"/>
                </a:lnSpc>
              </a:pPr>
              <a:endParaRPr/>
            </a:p>
          </p:txBody>
        </p:sp>
      </p:grpSp>
      <p:grpSp>
        <p:nvGrpSpPr>
          <p:cNvPr id="23" name="Group 24">
            <a:extLst>
              <a:ext uri="{FF2B5EF4-FFF2-40B4-BE49-F238E27FC236}">
                <a16:creationId xmlns:a16="http://schemas.microsoft.com/office/drawing/2014/main" id="{B653E9D8-9DF4-53C0-780D-CCE39FF3F8E3}"/>
              </a:ext>
            </a:extLst>
          </p:cNvPr>
          <p:cNvGrpSpPr/>
          <p:nvPr/>
        </p:nvGrpSpPr>
        <p:grpSpPr>
          <a:xfrm>
            <a:off x="671553" y="5631471"/>
            <a:ext cx="412074" cy="412074"/>
            <a:chOff x="0" y="0"/>
            <a:chExt cx="812800" cy="812800"/>
          </a:xfrm>
        </p:grpSpPr>
        <p:sp>
          <p:nvSpPr>
            <p:cNvPr id="24" name="Freeform 25">
              <a:extLst>
                <a:ext uri="{FF2B5EF4-FFF2-40B4-BE49-F238E27FC236}">
                  <a16:creationId xmlns:a16="http://schemas.microsoft.com/office/drawing/2014/main" id="{052F2C4B-4C8C-D535-BF8A-9F31558DE28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3B86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6">
              <a:extLst>
                <a:ext uri="{FF2B5EF4-FFF2-40B4-BE49-F238E27FC236}">
                  <a16:creationId xmlns:a16="http://schemas.microsoft.com/office/drawing/2014/main" id="{F20BDD5A-C08C-AED3-787C-CE8EF08485A4}"/>
                </a:ext>
              </a:extLst>
            </p:cNvPr>
            <p:cNvSpPr txBox="1"/>
            <p:nvPr/>
          </p:nvSpPr>
          <p:spPr>
            <a:xfrm>
              <a:off x="76200" y="-85725"/>
              <a:ext cx="660400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7559"/>
                </a:lnSpc>
              </a:pPr>
              <a:endParaRPr dirty="0"/>
            </a:p>
          </p:txBody>
        </p:sp>
      </p:grpSp>
      <p:sp>
        <p:nvSpPr>
          <p:cNvPr id="29" name="TextBox 48">
            <a:extLst>
              <a:ext uri="{FF2B5EF4-FFF2-40B4-BE49-F238E27FC236}">
                <a16:creationId xmlns:a16="http://schemas.microsoft.com/office/drawing/2014/main" id="{B875FFF8-52FE-5CCB-1BAD-1ED51CC73271}"/>
              </a:ext>
            </a:extLst>
          </p:cNvPr>
          <p:cNvSpPr txBox="1"/>
          <p:nvPr/>
        </p:nvSpPr>
        <p:spPr>
          <a:xfrm>
            <a:off x="1262654" y="5327101"/>
            <a:ext cx="5118967" cy="9387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559"/>
              </a:lnSpc>
            </a:pPr>
            <a:r>
              <a:rPr lang="en-US" sz="5400" b="1" dirty="0">
                <a:solidFill>
                  <a:srgbClr val="0D1D5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Background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7BD74-2724-F33C-FB2D-7416646D22B9}"/>
              </a:ext>
            </a:extLst>
          </p:cNvPr>
          <p:cNvGrpSpPr/>
          <p:nvPr/>
        </p:nvGrpSpPr>
        <p:grpSpPr>
          <a:xfrm>
            <a:off x="11088038" y="5548622"/>
            <a:ext cx="5295953" cy="938719"/>
            <a:chOff x="555558" y="15730480"/>
            <a:chExt cx="5295953" cy="938719"/>
          </a:xfrm>
        </p:grpSpPr>
        <p:grpSp>
          <p:nvGrpSpPr>
            <p:cNvPr id="26" name="Group 27">
              <a:extLst>
                <a:ext uri="{FF2B5EF4-FFF2-40B4-BE49-F238E27FC236}">
                  <a16:creationId xmlns:a16="http://schemas.microsoft.com/office/drawing/2014/main" id="{061BD95B-ECC9-AF8B-ED7F-CA41B946E251}"/>
                </a:ext>
              </a:extLst>
            </p:cNvPr>
            <p:cNvGrpSpPr/>
            <p:nvPr/>
          </p:nvGrpSpPr>
          <p:grpSpPr>
            <a:xfrm>
              <a:off x="555558" y="16094037"/>
              <a:ext cx="412074" cy="412074"/>
              <a:chOff x="0" y="0"/>
              <a:chExt cx="812800" cy="812800"/>
            </a:xfrm>
          </p:grpSpPr>
          <p:sp>
            <p:nvSpPr>
              <p:cNvPr id="27" name="Freeform 28">
                <a:extLst>
                  <a:ext uri="{FF2B5EF4-FFF2-40B4-BE49-F238E27FC236}">
                    <a16:creationId xmlns:a16="http://schemas.microsoft.com/office/drawing/2014/main" id="{C8CF8B68-EF91-96F0-B825-CDB2079A674A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9">
                <a:extLst>
                  <a:ext uri="{FF2B5EF4-FFF2-40B4-BE49-F238E27FC236}">
                    <a16:creationId xmlns:a16="http://schemas.microsoft.com/office/drawing/2014/main" id="{AEA0AF5F-B066-DEBA-81BF-AC2F3EDE1AE1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/>
              </a:p>
            </p:txBody>
          </p:sp>
        </p:grpSp>
        <p:sp>
          <p:nvSpPr>
            <p:cNvPr id="31" name="TextBox 55">
              <a:extLst>
                <a:ext uri="{FF2B5EF4-FFF2-40B4-BE49-F238E27FC236}">
                  <a16:creationId xmlns:a16="http://schemas.microsoft.com/office/drawing/2014/main" id="{D2950F06-2ABD-9371-1208-BF8C9B360542}"/>
                </a:ext>
              </a:extLst>
            </p:cNvPr>
            <p:cNvSpPr txBox="1"/>
            <p:nvPr/>
          </p:nvSpPr>
          <p:spPr>
            <a:xfrm>
              <a:off x="1173669" y="15730480"/>
              <a:ext cx="4677842" cy="9387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Methodology</a:t>
              </a:r>
            </a:p>
          </p:txBody>
        </p:sp>
      </p:grpSp>
      <p:graphicFrame>
        <p:nvGraphicFramePr>
          <p:cNvPr id="140" name="Diagram 139">
            <a:extLst>
              <a:ext uri="{FF2B5EF4-FFF2-40B4-BE49-F238E27FC236}">
                <a16:creationId xmlns:a16="http://schemas.microsoft.com/office/drawing/2014/main" id="{E8336AEC-76BD-8BB3-F773-DB9EEBE78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250029"/>
              </p:ext>
            </p:extLst>
          </p:nvPr>
        </p:nvGraphicFramePr>
        <p:xfrm>
          <a:off x="11071350" y="6697703"/>
          <a:ext cx="9336283" cy="19782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30" name="TextBox 49">
            <a:extLst>
              <a:ext uri="{FF2B5EF4-FFF2-40B4-BE49-F238E27FC236}">
                <a16:creationId xmlns:a16="http://schemas.microsoft.com/office/drawing/2014/main" id="{D6D7E775-4564-4BB9-4ABB-ED76A6526E99}"/>
              </a:ext>
            </a:extLst>
          </p:cNvPr>
          <p:cNvSpPr txBox="1"/>
          <p:nvPr/>
        </p:nvSpPr>
        <p:spPr>
          <a:xfrm>
            <a:off x="761595" y="6679334"/>
            <a:ext cx="10013289" cy="54168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Passive Acoustic Monitoring can distinguish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surface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 and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submerged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 sources using the effect of wave coupling on mechanical </a:t>
            </a:r>
            <a:r>
              <a:rPr lang="en-US" sz="3200" dirty="0" err="1">
                <a:solidFill>
                  <a:srgbClr val="737373"/>
                </a:solidFill>
                <a:latin typeface="Poppins"/>
                <a:cs typeface="Poppins"/>
              </a:rPr>
              <a:t>tonals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.</a:t>
            </a: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  <a:p>
            <a:endParaRPr lang="en-US" sz="3200" dirty="0">
              <a:solidFill>
                <a:srgbClr val="737373"/>
              </a:solidFill>
              <a:latin typeface="Poppins"/>
              <a:cs typeface="Poppins"/>
            </a:endParaRPr>
          </a:p>
        </p:txBody>
      </p:sp>
      <p:grpSp>
        <p:nvGrpSpPr>
          <p:cNvPr id="44" name="Group 39">
            <a:extLst>
              <a:ext uri="{FF2B5EF4-FFF2-40B4-BE49-F238E27FC236}">
                <a16:creationId xmlns:a16="http://schemas.microsoft.com/office/drawing/2014/main" id="{7C8694B2-873E-BCF5-27A2-F010AA0C6E57}"/>
              </a:ext>
            </a:extLst>
          </p:cNvPr>
          <p:cNvGrpSpPr/>
          <p:nvPr/>
        </p:nvGrpSpPr>
        <p:grpSpPr>
          <a:xfrm>
            <a:off x="22017756" y="33340412"/>
            <a:ext cx="353790" cy="412074"/>
            <a:chOff x="0" y="0"/>
            <a:chExt cx="812800" cy="812800"/>
          </a:xfrm>
        </p:grpSpPr>
        <p:sp>
          <p:nvSpPr>
            <p:cNvPr id="45" name="Freeform 40">
              <a:extLst>
                <a:ext uri="{FF2B5EF4-FFF2-40B4-BE49-F238E27FC236}">
                  <a16:creationId xmlns:a16="http://schemas.microsoft.com/office/drawing/2014/main" id="{D9EE583C-1E8F-6F33-B1F6-C33C49220F7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3B86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1">
              <a:extLst>
                <a:ext uri="{FF2B5EF4-FFF2-40B4-BE49-F238E27FC236}">
                  <a16:creationId xmlns:a16="http://schemas.microsoft.com/office/drawing/2014/main" id="{EDEDBECF-55BF-4AAF-0DC6-037E243DBC2A}"/>
                </a:ext>
              </a:extLst>
            </p:cNvPr>
            <p:cNvSpPr txBox="1"/>
            <p:nvPr/>
          </p:nvSpPr>
          <p:spPr>
            <a:xfrm>
              <a:off x="76200" y="-85725"/>
              <a:ext cx="660400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7559"/>
                </a:lnSpc>
              </a:pPr>
              <a:endParaRPr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824A2F6-2157-BED3-C292-3D9F88C2D357}"/>
              </a:ext>
            </a:extLst>
          </p:cNvPr>
          <p:cNvGrpSpPr/>
          <p:nvPr/>
        </p:nvGrpSpPr>
        <p:grpSpPr>
          <a:xfrm>
            <a:off x="11190066" y="8433072"/>
            <a:ext cx="8794259" cy="938719"/>
            <a:chOff x="11466662" y="5806860"/>
            <a:chExt cx="8794259" cy="938719"/>
          </a:xfrm>
        </p:grpSpPr>
        <p:grpSp>
          <p:nvGrpSpPr>
            <p:cNvPr id="59" name="Group 30">
              <a:extLst>
                <a:ext uri="{FF2B5EF4-FFF2-40B4-BE49-F238E27FC236}">
                  <a16:creationId xmlns:a16="http://schemas.microsoft.com/office/drawing/2014/main" id="{A40B761F-A63D-1A4D-771E-23F7983A4FE0}"/>
                </a:ext>
              </a:extLst>
            </p:cNvPr>
            <p:cNvGrpSpPr/>
            <p:nvPr/>
          </p:nvGrpSpPr>
          <p:grpSpPr>
            <a:xfrm>
              <a:off x="11466662" y="6170417"/>
              <a:ext cx="412074" cy="412074"/>
              <a:chOff x="0" y="0"/>
              <a:chExt cx="812800" cy="812800"/>
            </a:xfrm>
          </p:grpSpPr>
          <p:sp>
            <p:nvSpPr>
              <p:cNvPr id="60" name="Freeform 31">
                <a:extLst>
                  <a:ext uri="{FF2B5EF4-FFF2-40B4-BE49-F238E27FC236}">
                    <a16:creationId xmlns:a16="http://schemas.microsoft.com/office/drawing/2014/main" id="{938DDA56-3AE3-079C-A19D-6226559A7D80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Box 32">
                <a:extLst>
                  <a:ext uri="{FF2B5EF4-FFF2-40B4-BE49-F238E27FC236}">
                    <a16:creationId xmlns:a16="http://schemas.microsoft.com/office/drawing/2014/main" id="{8B3C9DE1-5449-9A4B-8835-9928A2D62301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/>
              </a:p>
            </p:txBody>
          </p:sp>
        </p:grpSp>
        <p:sp>
          <p:nvSpPr>
            <p:cNvPr id="62" name="TextBox 50">
              <a:extLst>
                <a:ext uri="{FF2B5EF4-FFF2-40B4-BE49-F238E27FC236}">
                  <a16:creationId xmlns:a16="http://schemas.microsoft.com/office/drawing/2014/main" id="{7618DE81-CD67-AC1F-15F9-9E61562F92CF}"/>
                </a:ext>
              </a:extLst>
            </p:cNvPr>
            <p:cNvSpPr txBox="1"/>
            <p:nvPr/>
          </p:nvSpPr>
          <p:spPr>
            <a:xfrm>
              <a:off x="12087288" y="5806860"/>
              <a:ext cx="8173633" cy="9387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Results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6730DC6-28D5-B4B3-13E8-4C4244311EF4}"/>
              </a:ext>
            </a:extLst>
          </p:cNvPr>
          <p:cNvGrpSpPr/>
          <p:nvPr/>
        </p:nvGrpSpPr>
        <p:grpSpPr>
          <a:xfrm>
            <a:off x="178005" y="29849124"/>
            <a:ext cx="29959706" cy="9824996"/>
            <a:chOff x="178005" y="28877574"/>
            <a:chExt cx="29959706" cy="9824996"/>
          </a:xfrm>
        </p:grpSpPr>
        <p:grpSp>
          <p:nvGrpSpPr>
            <p:cNvPr id="39" name="Group 2">
              <a:extLst>
                <a:ext uri="{FF2B5EF4-FFF2-40B4-BE49-F238E27FC236}">
                  <a16:creationId xmlns:a16="http://schemas.microsoft.com/office/drawing/2014/main" id="{F112B443-E0FE-6E45-9DEF-35E0A7368589}"/>
                </a:ext>
              </a:extLst>
            </p:cNvPr>
            <p:cNvGrpSpPr>
              <a:grpSpLocks/>
            </p:cNvGrpSpPr>
            <p:nvPr/>
          </p:nvGrpSpPr>
          <p:grpSpPr>
            <a:xfrm>
              <a:off x="178005" y="28961377"/>
              <a:ext cx="29959706" cy="9722612"/>
              <a:chOff x="0" y="-47625"/>
              <a:chExt cx="5523828" cy="2091678"/>
            </a:xfrm>
          </p:grpSpPr>
          <p:sp>
            <p:nvSpPr>
              <p:cNvPr id="40" name="Freeform 3">
                <a:extLst>
                  <a:ext uri="{FF2B5EF4-FFF2-40B4-BE49-F238E27FC236}">
                    <a16:creationId xmlns:a16="http://schemas.microsoft.com/office/drawing/2014/main" id="{D9C28C58-4DE3-3A62-B62A-BD8251316A6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2011540" y="-8061"/>
                <a:ext cx="3512288" cy="2052114"/>
              </a:xfrm>
              <a:custGeom>
                <a:avLst/>
                <a:gdLst/>
                <a:ahLst/>
                <a:cxnLst/>
                <a:rect l="l" t="t" r="r" b="b"/>
                <a:pathLst>
                  <a:path w="5521276" h="2042110">
                    <a:moveTo>
                      <a:pt x="9069" y="0"/>
                    </a:moveTo>
                    <a:lnTo>
                      <a:pt x="5512208" y="0"/>
                    </a:lnTo>
                    <a:cubicBezTo>
                      <a:pt x="5514613" y="0"/>
                      <a:pt x="5516919" y="955"/>
                      <a:pt x="5518620" y="2656"/>
                    </a:cubicBezTo>
                    <a:cubicBezTo>
                      <a:pt x="5520321" y="4357"/>
                      <a:pt x="5521276" y="6663"/>
                      <a:pt x="5521276" y="9069"/>
                    </a:cubicBezTo>
                    <a:lnTo>
                      <a:pt x="5521276" y="2033042"/>
                    </a:lnTo>
                    <a:cubicBezTo>
                      <a:pt x="5521276" y="2035447"/>
                      <a:pt x="5520321" y="2037753"/>
                      <a:pt x="5518620" y="2039454"/>
                    </a:cubicBezTo>
                    <a:cubicBezTo>
                      <a:pt x="5516919" y="2041155"/>
                      <a:pt x="5514613" y="2042110"/>
                      <a:pt x="5512208" y="2042110"/>
                    </a:cubicBezTo>
                    <a:lnTo>
                      <a:pt x="9069" y="2042110"/>
                    </a:lnTo>
                    <a:cubicBezTo>
                      <a:pt x="6663" y="2042110"/>
                      <a:pt x="4357" y="2041155"/>
                      <a:pt x="2656" y="2039454"/>
                    </a:cubicBezTo>
                    <a:cubicBezTo>
                      <a:pt x="955" y="2037753"/>
                      <a:pt x="0" y="2035447"/>
                      <a:pt x="0" y="2033042"/>
                    </a:cubicBezTo>
                    <a:lnTo>
                      <a:pt x="0" y="9069"/>
                    </a:lnTo>
                    <a:cubicBezTo>
                      <a:pt x="0" y="6663"/>
                      <a:pt x="955" y="4357"/>
                      <a:pt x="2656" y="2656"/>
                    </a:cubicBezTo>
                    <a:cubicBezTo>
                      <a:pt x="4357" y="955"/>
                      <a:pt x="6663" y="0"/>
                      <a:pt x="9069" y="0"/>
                    </a:cubicBezTo>
                    <a:close/>
                  </a:path>
                </a:pathLst>
              </a:custGeom>
              <a:solidFill>
                <a:srgbClr val="EEF0F4"/>
              </a:solidFill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1" name="TextBox 4">
                <a:extLst>
                  <a:ext uri="{FF2B5EF4-FFF2-40B4-BE49-F238E27FC236}">
                    <a16:creationId xmlns:a16="http://schemas.microsoft.com/office/drawing/2014/main" id="{61DB7902-2A2C-3315-2F0C-63AA3B5675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47625"/>
                <a:ext cx="5521276" cy="2089735"/>
              </a:xfrm>
              <a:prstGeom prst="rect">
                <a:avLst/>
              </a:prstGeom>
            </p:spPr>
            <p:txBody>
              <a:bodyPr lIns="25305" tIns="25305" rIns="25305" bIns="25305" rtlCol="0" anchor="ctr"/>
              <a:lstStyle/>
              <a:p>
                <a:pPr algn="ctr">
                  <a:lnSpc>
                    <a:spcPts val="3975"/>
                  </a:lnSpc>
                </a:pPr>
                <a:endParaRPr/>
              </a:p>
            </p:txBody>
          </p:sp>
        </p:grpSp>
        <p:sp>
          <p:nvSpPr>
            <p:cNvPr id="51" name="TextBox 57">
              <a:extLst>
                <a:ext uri="{FF2B5EF4-FFF2-40B4-BE49-F238E27FC236}">
                  <a16:creationId xmlns:a16="http://schemas.microsoft.com/office/drawing/2014/main" id="{4393B921-3847-9F77-3646-4B178E8D48F3}"/>
                </a:ext>
              </a:extLst>
            </p:cNvPr>
            <p:cNvSpPr txBox="1"/>
            <p:nvPr/>
          </p:nvSpPr>
          <p:spPr>
            <a:xfrm>
              <a:off x="21749815" y="35008380"/>
              <a:ext cx="8029578" cy="93871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References</a:t>
              </a:r>
            </a:p>
          </p:txBody>
        </p:sp>
        <p:sp>
          <p:nvSpPr>
            <p:cNvPr id="54" name="TextBox 70">
              <a:extLst>
                <a:ext uri="{FF2B5EF4-FFF2-40B4-BE49-F238E27FC236}">
                  <a16:creationId xmlns:a16="http://schemas.microsoft.com/office/drawing/2014/main" id="{0DF760C2-608F-9400-21C2-838B3E0DD26D}"/>
                </a:ext>
              </a:extLst>
            </p:cNvPr>
            <p:cNvSpPr txBox="1"/>
            <p:nvPr/>
          </p:nvSpPr>
          <p:spPr>
            <a:xfrm>
              <a:off x="21749815" y="28877574"/>
              <a:ext cx="7886174" cy="294439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fontAlgn="base">
                <a:lnSpc>
                  <a:spcPts val="7559"/>
                </a:lnSpc>
              </a:pPr>
              <a:r>
                <a:rPr lang="en-US" sz="4400" b="1" dirty="0">
                  <a:solidFill>
                    <a:srgbClr val="0D1D52"/>
                  </a:solidFill>
                  <a:latin typeface="Poppins Semi-Bold"/>
                  <a:sym typeface="Poppins Semi-Bold"/>
                </a:rPr>
                <a:t>Acknowledgements</a:t>
              </a:r>
              <a:endParaRPr lang="en-US" sz="4400" b="1" dirty="0">
                <a:solidFill>
                  <a:srgbClr val="0D1D52"/>
                </a:solidFill>
                <a:latin typeface="Poppins Semi-Bold"/>
              </a:endParaRPr>
            </a:p>
            <a:p>
              <a:pPr algn="just"/>
              <a:r>
                <a:rPr sz="3200" dirty="0">
                  <a:solidFill>
                    <a:srgbClr val="737373"/>
                  </a:solidFill>
                  <a:latin typeface="Poppins"/>
                  <a:cs typeface="Poppins"/>
                </a:rPr>
                <a:t>This work was developed within the Department of Marine Technologies, Haifa University, as part of ongoing research on physics-informed passive acoustic sensing.</a:t>
              </a:r>
            </a:p>
          </p:txBody>
        </p:sp>
        <p:sp>
          <p:nvSpPr>
            <p:cNvPr id="55" name="TextBox 71">
              <a:extLst>
                <a:ext uri="{FF2B5EF4-FFF2-40B4-BE49-F238E27FC236}">
                  <a16:creationId xmlns:a16="http://schemas.microsoft.com/office/drawing/2014/main" id="{5D3B2871-AC08-18B3-8720-68CAF135694C}"/>
                </a:ext>
              </a:extLst>
            </p:cNvPr>
            <p:cNvSpPr txBox="1"/>
            <p:nvPr/>
          </p:nvSpPr>
          <p:spPr>
            <a:xfrm>
              <a:off x="21792114" y="35932581"/>
              <a:ext cx="8029579" cy="27699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[1] M. Stojanovic, IEEE J. Oceanic Engineering, 21(2), 125–136, 1996.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[2] J. C. </a:t>
              </a:r>
              <a:r>
                <a:rPr dirty="0" err="1">
                  <a:solidFill>
                    <a:srgbClr val="737373"/>
                  </a:solidFill>
                  <a:latin typeface="Poppins"/>
                  <a:cs typeface="Poppins"/>
                </a:rPr>
                <a:t>Preisig</a:t>
              </a:r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, IEEE Communications Magazine, 45(12), 110–117, 2007.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[3] A. B. Carlson, P. B. Crilly, J. C. Rutledge, Communication Systems, 4th ed., McGraw-Hill, 2001.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[4] F. G. Bass, I. M. Fuks, Wave Scattering from Statistically Rough Surfaces, Pergamon, 1979.</a:t>
              </a:r>
            </a:p>
            <a:p>
              <a:pPr algn="just"/>
              <a:r>
                <a:rPr dirty="0">
                  <a:solidFill>
                    <a:srgbClr val="737373"/>
                  </a:solidFill>
                  <a:latin typeface="Poppins"/>
                  <a:cs typeface="Poppins"/>
                </a:rPr>
                <a:t>[5] W. I. Roderick, PhD dissertation, Yale University, 1979.</a:t>
              </a:r>
              <a:endParaRPr lang="en-US" dirty="0">
                <a:solidFill>
                  <a:srgbClr val="737373"/>
                </a:solidFill>
                <a:latin typeface="Poppins"/>
                <a:cs typeface="Poppins"/>
              </a:endParaRPr>
            </a:p>
            <a:p>
              <a:pPr algn="just"/>
              <a:r>
                <a:rPr lang="en-US" dirty="0">
                  <a:solidFill>
                    <a:srgbClr val="737373"/>
                  </a:solidFill>
                  <a:latin typeface="Poppins"/>
                  <a:cs typeface="Poppins"/>
                </a:rPr>
                <a:t>[6] L. Vincent and P. </a:t>
              </a:r>
              <a:r>
                <a:rPr lang="en-US" dirty="0" err="1">
                  <a:solidFill>
                    <a:srgbClr val="737373"/>
                  </a:solidFill>
                  <a:latin typeface="Poppins"/>
                  <a:cs typeface="Poppins"/>
                </a:rPr>
                <a:t>Soille</a:t>
              </a:r>
              <a:r>
                <a:rPr lang="en-US" dirty="0">
                  <a:solidFill>
                    <a:srgbClr val="737373"/>
                  </a:solidFill>
                  <a:latin typeface="Poppins"/>
                  <a:cs typeface="Poppins"/>
                </a:rPr>
                <a:t>, "Watersheds in digital spaces: an efficient algorithm based on immersion simulations," IEEE Transactions on Pattern Analysis and Machine Intelligence, 1991.</a:t>
              </a:r>
              <a:endParaRPr dirty="0">
                <a:solidFill>
                  <a:srgbClr val="737373"/>
                </a:solidFill>
                <a:latin typeface="Poppins"/>
                <a:cs typeface="Poppins"/>
              </a:endParaRPr>
            </a:p>
          </p:txBody>
        </p:sp>
        <p:grpSp>
          <p:nvGrpSpPr>
            <p:cNvPr id="67" name="Group 36">
              <a:extLst>
                <a:ext uri="{FF2B5EF4-FFF2-40B4-BE49-F238E27FC236}">
                  <a16:creationId xmlns:a16="http://schemas.microsoft.com/office/drawing/2014/main" id="{2345A97E-7218-56C3-4ADF-0384C88233B4}"/>
                </a:ext>
              </a:extLst>
            </p:cNvPr>
            <p:cNvGrpSpPr/>
            <p:nvPr/>
          </p:nvGrpSpPr>
          <p:grpSpPr>
            <a:xfrm>
              <a:off x="1615820" y="29970258"/>
              <a:ext cx="10731313" cy="1386377"/>
              <a:chOff x="76200" y="-85725"/>
              <a:chExt cx="21167103" cy="2734575"/>
            </a:xfrm>
          </p:grpSpPr>
          <p:sp>
            <p:nvSpPr>
              <p:cNvPr id="68" name="Freeform 37">
                <a:extLst>
                  <a:ext uri="{FF2B5EF4-FFF2-40B4-BE49-F238E27FC236}">
                    <a16:creationId xmlns:a16="http://schemas.microsoft.com/office/drawing/2014/main" id="{AEF31F4D-6F98-24B5-2762-B94EB264D4E5}"/>
                  </a:ext>
                </a:extLst>
              </p:cNvPr>
              <p:cNvSpPr/>
              <p:nvPr/>
            </p:nvSpPr>
            <p:spPr>
              <a:xfrm>
                <a:off x="20430503" y="183605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3B86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9" name="TextBox 38">
                <a:extLst>
                  <a:ext uri="{FF2B5EF4-FFF2-40B4-BE49-F238E27FC236}">
                    <a16:creationId xmlns:a16="http://schemas.microsoft.com/office/drawing/2014/main" id="{7642D246-51C2-6F11-9724-2564FBEB894A}"/>
                  </a:ext>
                </a:extLst>
              </p:cNvPr>
              <p:cNvSpPr txBox="1"/>
              <p:nvPr/>
            </p:nvSpPr>
            <p:spPr>
              <a:xfrm>
                <a:off x="76200" y="-85725"/>
                <a:ext cx="660400" cy="8223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7559"/>
                  </a:lnSpc>
                </a:pPr>
                <a:endParaRPr dirty="0"/>
              </a:p>
            </p:txBody>
          </p:sp>
        </p:grpSp>
        <p:sp>
          <p:nvSpPr>
            <p:cNvPr id="70" name="TextBox 51">
              <a:extLst>
                <a:ext uri="{FF2B5EF4-FFF2-40B4-BE49-F238E27FC236}">
                  <a16:creationId xmlns:a16="http://schemas.microsoft.com/office/drawing/2014/main" id="{C1CCE83E-0AE8-16CB-288F-9423BC37C40F}"/>
                </a:ext>
              </a:extLst>
            </p:cNvPr>
            <p:cNvSpPr txBox="1"/>
            <p:nvPr/>
          </p:nvSpPr>
          <p:spPr>
            <a:xfrm>
              <a:off x="12724947" y="30581004"/>
              <a:ext cx="10080000" cy="8887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7559"/>
                </a:lnSpc>
              </a:pPr>
              <a:r>
                <a:rPr lang="en-US" sz="5400" b="1" dirty="0">
                  <a:solidFill>
                    <a:srgbClr val="0D1D52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Conclusion and future work</a:t>
              </a:r>
            </a:p>
          </p:txBody>
        </p:sp>
        <p:sp>
          <p:nvSpPr>
            <p:cNvPr id="71" name="TextBox 52">
              <a:extLst>
                <a:ext uri="{FF2B5EF4-FFF2-40B4-BE49-F238E27FC236}">
                  <a16:creationId xmlns:a16="http://schemas.microsoft.com/office/drawing/2014/main" id="{0053FEAC-28F1-5D40-7374-99541D18574D}"/>
                </a:ext>
              </a:extLst>
            </p:cNvPr>
            <p:cNvSpPr txBox="1"/>
            <p:nvPr/>
          </p:nvSpPr>
          <p:spPr>
            <a:xfrm>
              <a:off x="11285204" y="31730085"/>
              <a:ext cx="9364385" cy="443198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just" fontAlgn="base"/>
              <a:r>
                <a:rPr lang="en-US" sz="3200" dirty="0">
                  <a:solidFill>
                    <a:srgbClr val="737373"/>
                  </a:solidFill>
                  <a:latin typeface="Poppins"/>
                  <a:cs typeface="Poppins"/>
                </a:rPr>
                <a:t>The three-vessel comparison supports the proposed physics-informed separation. The motorboat showed broader bandwidth and lower long-window stability, while both DPVs maintained narrow bands, near-unity TiB, and greater spectral stability.</a:t>
              </a:r>
            </a:p>
            <a:p>
              <a:pPr algn="just" fontAlgn="base"/>
              <a:endParaRPr lang="en-US" sz="3200" dirty="0">
                <a:solidFill>
                  <a:srgbClr val="737373"/>
                </a:solidFill>
                <a:latin typeface="Poppins"/>
                <a:cs typeface="Poppins"/>
              </a:endParaRPr>
            </a:p>
            <a:p>
              <a:pPr algn="just" fontAlgn="base"/>
              <a:r>
                <a:rPr lang="en-US" sz="3200" b="1" dirty="0">
                  <a:solidFill>
                    <a:srgbClr val="737373"/>
                  </a:solidFill>
                  <a:latin typeface="Poppins"/>
                  <a:cs typeface="Poppins"/>
                </a:rPr>
                <a:t>Bandwidth, TiB, entropy stability, and Jain’s fairness </a:t>
              </a:r>
              <a:r>
                <a:rPr lang="en-US" sz="3200" dirty="0">
                  <a:solidFill>
                    <a:srgbClr val="737373"/>
                  </a:solidFill>
                  <a:latin typeface="Poppins"/>
                  <a:cs typeface="Poppins"/>
                </a:rPr>
                <a:t>provide complementary features for passive source-depth classification.</a:t>
              </a:r>
            </a:p>
          </p:txBody>
        </p:sp>
        <p:sp>
          <p:nvSpPr>
            <p:cNvPr id="74" name="TextBox 70">
              <a:extLst>
                <a:ext uri="{FF2B5EF4-FFF2-40B4-BE49-F238E27FC236}">
                  <a16:creationId xmlns:a16="http://schemas.microsoft.com/office/drawing/2014/main" id="{2D5DA9F0-39DB-45B7-1AD8-21A97D1BE75F}"/>
                </a:ext>
              </a:extLst>
            </p:cNvPr>
            <p:cNvSpPr txBox="1"/>
            <p:nvPr/>
          </p:nvSpPr>
          <p:spPr>
            <a:xfrm>
              <a:off x="11292653" y="35876842"/>
              <a:ext cx="9108499" cy="24519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fontAlgn="base">
                <a:lnSpc>
                  <a:spcPts val="7559"/>
                </a:lnSpc>
              </a:pPr>
              <a:r>
                <a:rPr lang="en-US" sz="4400" b="1" dirty="0">
                  <a:solidFill>
                    <a:srgbClr val="0D1D52"/>
                  </a:solidFill>
                  <a:latin typeface="Poppins Semi-Bold"/>
                </a:rPr>
                <a:t>Future Work</a:t>
              </a:r>
            </a:p>
            <a:p>
              <a:pPr algn="just" fontAlgn="base"/>
              <a:r>
                <a:rPr lang="en-US" sz="3200" dirty="0">
                  <a:solidFill>
                    <a:srgbClr val="737373"/>
                  </a:solidFill>
                  <a:latin typeface="Poppins"/>
                  <a:cs typeface="Poppins"/>
                </a:rPr>
                <a:t>Validate the features on diverse datasets, then integrate them into ML classifiers and real-time detectors for surface vessels, DPVs, and AUVs.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71F10B5-D1DA-8F1B-E914-5C67634801D9}"/>
                </a:ext>
              </a:extLst>
            </p:cNvPr>
            <p:cNvGrpSpPr/>
            <p:nvPr/>
          </p:nvGrpSpPr>
          <p:grpSpPr>
            <a:xfrm>
              <a:off x="21749815" y="31938885"/>
              <a:ext cx="7645892" cy="3108606"/>
              <a:chOff x="20529657" y="31873309"/>
              <a:chExt cx="8918697" cy="3108606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3AF8559-BB1E-D2E7-82A1-7A4708543215}"/>
                  </a:ext>
                </a:extLst>
              </p:cNvPr>
              <p:cNvSpPr/>
              <p:nvPr/>
            </p:nvSpPr>
            <p:spPr>
              <a:xfrm>
                <a:off x="20529657" y="32035343"/>
                <a:ext cx="8918697" cy="2946572"/>
              </a:xfrm>
              <a:prstGeom prst="rect">
                <a:avLst/>
              </a:prstGeom>
              <a:solidFill>
                <a:srgbClr val="D3E3E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58">
                <a:extLst>
                  <a:ext uri="{FF2B5EF4-FFF2-40B4-BE49-F238E27FC236}">
                    <a16:creationId xmlns:a16="http://schemas.microsoft.com/office/drawing/2014/main" id="{0E0E6B5B-4BD5-DED9-1191-FEC38A8CBABD}"/>
                  </a:ext>
                </a:extLst>
              </p:cNvPr>
              <p:cNvSpPr txBox="1"/>
              <p:nvPr/>
            </p:nvSpPr>
            <p:spPr>
              <a:xfrm>
                <a:off x="20712169" y="31873309"/>
                <a:ext cx="8616158" cy="88870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7559"/>
                  </a:lnSpc>
                </a:pPr>
                <a:r>
                  <a:rPr lang="en-US" sz="4400" b="1" i="1" dirty="0">
                    <a:solidFill>
                      <a:srgbClr val="0D1D52"/>
                    </a:solidFill>
                    <a:latin typeface="Poppins Semi-Bold"/>
                    <a:ea typeface="Poppins Semi-Bold"/>
                    <a:cs typeface="Poppins Semi-Bold"/>
                    <a:sym typeface="Poppins Semi-Bold"/>
                  </a:rPr>
                  <a:t>Authors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910CCB4E-9AD9-91A0-4D03-93C6DBD55E25}"/>
                  </a:ext>
                </a:extLst>
              </p:cNvPr>
              <p:cNvSpPr txBox="1"/>
              <p:nvPr/>
            </p:nvSpPr>
            <p:spPr>
              <a:xfrm>
                <a:off x="20610823" y="32729691"/>
                <a:ext cx="7429594" cy="2246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28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Roy Michael</a:t>
                </a:r>
                <a:r>
                  <a:rPr lang="en-US" sz="2800" dirty="0">
                    <a:solidFill>
                      <a:srgbClr val="737373"/>
                    </a:solidFill>
                    <a:latin typeface="Poppins"/>
                    <a:cs typeface="Poppins"/>
                  </a:rPr>
                  <a:t> - </a:t>
                </a:r>
                <a:r>
                  <a:rPr sz="2800" dirty="0">
                    <a:solidFill>
                      <a:srgbClr val="737373"/>
                    </a:solidFill>
                    <a:latin typeface="Poppins"/>
                    <a:cs typeface="Poppins"/>
                  </a:rPr>
                  <a:t>Department of Marine Technologies, Haifa University</a:t>
                </a:r>
                <a:endParaRPr lang="en-US" sz="28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endParaRPr lang="en-US" sz="28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r>
                  <a:rPr lang="en-US" sz="28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Roee Diamant</a:t>
                </a:r>
                <a:r>
                  <a:rPr lang="en-US" sz="2800" dirty="0">
                    <a:solidFill>
                      <a:srgbClr val="737373"/>
                    </a:solidFill>
                    <a:latin typeface="Poppins"/>
                    <a:cs typeface="Poppins"/>
                  </a:rPr>
                  <a:t> - Department of Marine Technologies, Haifa University</a:t>
                </a:r>
                <a:endParaRPr sz="28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</p:txBody>
          </p:sp>
        </p:grpSp>
      </p:grpSp>
      <p:sp>
        <p:nvSpPr>
          <p:cNvPr id="107" name="TextBox 106"/>
          <p:cNvSpPr txBox="1"/>
          <p:nvPr/>
        </p:nvSpPr>
        <p:spPr>
          <a:xfrm>
            <a:off x="11264097" y="10455219"/>
            <a:ext cx="87556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tx2"/>
                </a:solidFill>
                <a:latin typeface="Poppins"/>
                <a:cs typeface="Poppins"/>
              </a:rPr>
              <a:t>Dominant spectral peaks</a:t>
            </a:r>
          </a:p>
          <a:p>
            <a:endParaRPr lang="en-US" sz="32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1109211" y="14302868"/>
            <a:ext cx="5989320" cy="958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7559"/>
              </a:lnSpc>
            </a:pPr>
            <a:r>
              <a:rPr lang="en-US" sz="3600" b="1" dirty="0">
                <a:solidFill>
                  <a:srgbClr val="0D1D52"/>
                </a:solidFill>
                <a:latin typeface="Poppins Semi-Bold"/>
              </a:rPr>
              <a:t>Spectrogram</a:t>
            </a:r>
            <a:r>
              <a:rPr sz="3600" b="1" dirty="0">
                <a:solidFill>
                  <a:srgbClr val="0D1D52"/>
                </a:solidFill>
                <a:latin typeface="Poppins Semi-Bold"/>
              </a:rPr>
              <a:t> </a:t>
            </a:r>
            <a:r>
              <a:rPr lang="en-US" sz="3600" b="1" dirty="0">
                <a:solidFill>
                  <a:srgbClr val="0D1D52"/>
                </a:solidFill>
                <a:latin typeface="Poppins Semi-Bold"/>
              </a:rPr>
              <a:t>S</a:t>
            </a:r>
            <a:r>
              <a:rPr sz="3600" b="1" dirty="0">
                <a:solidFill>
                  <a:srgbClr val="0D1D52"/>
                </a:solidFill>
                <a:latin typeface="Poppins Semi-Bold"/>
              </a:rPr>
              <a:t>tructure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36305" y="21537097"/>
            <a:ext cx="9062015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Three stability measures consistently separate the surface motorboat from the two submerged DPVs: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3200" b="1" u="sng" dirty="0">
                <a:solidFill>
                  <a:srgbClr val="737373"/>
                </a:solidFill>
                <a:latin typeface="Poppins"/>
                <a:cs typeface="Poppins"/>
              </a:rPr>
              <a:t>Time-in-Band (TiB)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: Motorboat TiB falls from about 0.98 to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0.60-0.70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 as window size increases, while both DPVs remain near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1.0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3200" b="1" u="sng" dirty="0">
                <a:solidFill>
                  <a:srgbClr val="737373"/>
                </a:solidFill>
                <a:latin typeface="Poppins"/>
                <a:cs typeface="Poppins"/>
              </a:rPr>
              <a:t>Entropy stability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: All vessels decrease with longer windows, but the motorboat remains lowest (~0.17–0.18), followed by SUEX VR-X (~0.24–0.25); SEACRAFT GO! remains highest (~0.28–0.32).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3200" b="1" u="sng" dirty="0">
                <a:solidFill>
                  <a:srgbClr val="737373"/>
                </a:solidFill>
                <a:latin typeface="Poppins"/>
                <a:cs typeface="Poppins"/>
              </a:rPr>
              <a:t>Jain’s fairness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: Both DPVs remain near unity, whereas the motorboat drops to about 0.94–0.95 at longer windows.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103015" y="26279408"/>
            <a:ext cx="81426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b="1" dirty="0"/>
              <a:t>Temporal Stability Separates Depth</a:t>
            </a:r>
            <a:endParaRPr sz="3600" b="1" dirty="0">
              <a:solidFill>
                <a:srgbClr val="0D1D52"/>
              </a:solidFill>
              <a:latin typeface="Poppins Semi-Bold"/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AE9404D-8F1E-A2AA-C805-21D8C59A937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2492" y="15435715"/>
            <a:ext cx="9256091" cy="405979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BA5328B-9B9F-BB04-7607-DFDBD973F80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14203" y="11131043"/>
            <a:ext cx="9275616" cy="308101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36B79516-5D20-D5EF-CADA-94BADFB6E10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407101" y="26532488"/>
            <a:ext cx="8063855" cy="3373818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B1BEE1CE-AE78-191D-3455-41D354B1F998}"/>
              </a:ext>
            </a:extLst>
          </p:cNvPr>
          <p:cNvSpPr txBox="1"/>
          <p:nvPr/>
        </p:nvSpPr>
        <p:spPr>
          <a:xfrm>
            <a:off x="21866997" y="16451552"/>
            <a:ext cx="791239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The motorboat has the broadest bandwidth distribution, with values extending to approximately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150 Hz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The two DPVs are concentrated mainly below approximately </a:t>
            </a:r>
            <a:r>
              <a:rPr lang="en-US" sz="3200" b="1" dirty="0">
                <a:solidFill>
                  <a:srgbClr val="737373"/>
                </a:solidFill>
                <a:latin typeface="Poppins"/>
                <a:cs typeface="Poppins"/>
              </a:rPr>
              <a:t>50 Hz</a:t>
            </a:r>
            <a:r>
              <a:rPr lang="en-US" sz="3200" dirty="0">
                <a:solidFill>
                  <a:srgbClr val="737373"/>
                </a:solidFill>
                <a:latin typeface="Poppins"/>
                <a:cs typeface="Poppins"/>
              </a:rPr>
              <a:t>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F94C75-AA02-BB1D-682C-BFFA2F8523B1}"/>
              </a:ext>
            </a:extLst>
          </p:cNvPr>
          <p:cNvSpPr txBox="1"/>
          <p:nvPr/>
        </p:nvSpPr>
        <p:spPr>
          <a:xfrm>
            <a:off x="21352048" y="10407853"/>
            <a:ext cx="6546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600" b="1" dirty="0">
                <a:solidFill>
                  <a:schemeClr val="tx2"/>
                </a:solidFill>
                <a:latin typeface="Poppins"/>
                <a:cs typeface="Poppins"/>
              </a:rPr>
              <a:t>Bandwidth Distribution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4D8C9D-F20E-1690-4A77-7E0B56733C3D}"/>
              </a:ext>
            </a:extLst>
          </p:cNvPr>
          <p:cNvSpPr txBox="1"/>
          <p:nvPr/>
        </p:nvSpPr>
        <p:spPr>
          <a:xfrm>
            <a:off x="11220891" y="9292819"/>
            <a:ext cx="183223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0D1D52"/>
                </a:solidFill>
                <a:latin typeface="Poppins Semi-Bold"/>
              </a:rPr>
              <a:t>SPECTRAL FINGERPRINTS OF VESSEL DEPTH</a:t>
            </a:r>
            <a:endParaRPr sz="3600" b="1" dirty="0">
              <a:solidFill>
                <a:srgbClr val="0D1D52"/>
              </a:solidFill>
              <a:latin typeface="Poppins Semi-Bold"/>
            </a:endParaRPr>
          </a:p>
        </p:txBody>
      </p:sp>
      <p:pic>
        <p:nvPicPr>
          <p:cNvPr id="119" name="Picture 118">
            <a:extLst>
              <a:ext uri="{FF2B5EF4-FFF2-40B4-BE49-F238E27FC236}">
                <a16:creationId xmlns:a16="http://schemas.microsoft.com/office/drawing/2014/main" id="{36B7AD5C-8191-BFF2-4DCF-64C949BBC73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05945" y="11231309"/>
            <a:ext cx="3261367" cy="4386081"/>
          </a:xfrm>
          <a:prstGeom prst="rect">
            <a:avLst/>
          </a:prstGeom>
        </p:spPr>
      </p:pic>
      <p:graphicFrame>
        <p:nvGraphicFramePr>
          <p:cNvPr id="122" name="Table 121">
            <a:extLst>
              <a:ext uri="{FF2B5EF4-FFF2-40B4-BE49-F238E27FC236}">
                <a16:creationId xmlns:a16="http://schemas.microsoft.com/office/drawing/2014/main" id="{F8AEEA24-2044-581B-D732-6C15BC3168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285805"/>
              </p:ext>
            </p:extLst>
          </p:nvPr>
        </p:nvGraphicFramePr>
        <p:xfrm>
          <a:off x="11549707" y="21310197"/>
          <a:ext cx="985739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52">
                  <a:extLst>
                    <a:ext uri="{9D8B030D-6E8A-4147-A177-3AD203B41FA5}">
                      <a16:colId xmlns:a16="http://schemas.microsoft.com/office/drawing/2014/main" val="3034756789"/>
                    </a:ext>
                  </a:extLst>
                </a:gridCol>
                <a:gridCol w="1760605">
                  <a:extLst>
                    <a:ext uri="{9D8B030D-6E8A-4147-A177-3AD203B41FA5}">
                      <a16:colId xmlns:a16="http://schemas.microsoft.com/office/drawing/2014/main" val="1184616473"/>
                    </a:ext>
                  </a:extLst>
                </a:gridCol>
                <a:gridCol w="1971479">
                  <a:extLst>
                    <a:ext uri="{9D8B030D-6E8A-4147-A177-3AD203B41FA5}">
                      <a16:colId xmlns:a16="http://schemas.microsoft.com/office/drawing/2014/main" val="79513264"/>
                    </a:ext>
                  </a:extLst>
                </a:gridCol>
                <a:gridCol w="1971479">
                  <a:extLst>
                    <a:ext uri="{9D8B030D-6E8A-4147-A177-3AD203B41FA5}">
                      <a16:colId xmlns:a16="http://schemas.microsoft.com/office/drawing/2014/main" val="2387490659"/>
                    </a:ext>
                  </a:extLst>
                </a:gridCol>
                <a:gridCol w="1971479">
                  <a:extLst>
                    <a:ext uri="{9D8B030D-6E8A-4147-A177-3AD203B41FA5}">
                      <a16:colId xmlns:a16="http://schemas.microsoft.com/office/drawing/2014/main" val="2624183774"/>
                    </a:ext>
                  </a:extLst>
                </a:gridCol>
              </a:tblGrid>
              <a:tr h="76022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</a:rPr>
                        <a:t>Vessel</a:t>
                      </a:r>
                    </a:p>
                  </a:txBody>
                  <a:tcPr anchor="ctr">
                    <a:solidFill>
                      <a:srgbClr val="516F8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3026755" rtl="0" eaLnBrk="1" latinLnBrk="0" hangingPunct="1">
                        <a:lnSpc>
                          <a:spcPct val="100000"/>
                        </a:lnSpc>
                        <a:buNone/>
                      </a:pP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Open Sans Bold" panose="020B0806030504020204" pitchFamily="34" charset="0"/>
                          <a:ea typeface="Open Sans Bold" panose="020B0806030504020204" pitchFamily="34" charset="0"/>
                          <a:cs typeface="Open Sans Bold" panose="020B0806030504020204" pitchFamily="34" charset="0"/>
                        </a:rPr>
                        <a:t>Type</a:t>
                      </a:r>
                    </a:p>
                  </a:txBody>
                  <a:tcPr anchor="ctr">
                    <a:solidFill>
                      <a:srgbClr val="516F8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</a:rPr>
                        <a:t>Dominant Lobe /Peak</a:t>
                      </a:r>
                    </a:p>
                  </a:txBody>
                  <a:tcPr anchor="ctr">
                    <a:solidFill>
                      <a:srgbClr val="516F8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3026755" rtl="0" eaLnBrk="1" latinLnBrk="0" hangingPunct="1">
                        <a:lnSpc>
                          <a:spcPct val="100000"/>
                        </a:lnSpc>
                        <a:buNone/>
                      </a:pP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Open Sans Bold" panose="020B0806030504020204" pitchFamily="34" charset="0"/>
                          <a:ea typeface="Open Sans Bold" panose="020B0806030504020204" pitchFamily="34" charset="0"/>
                          <a:cs typeface="Open Sans Bold" panose="020B0806030504020204" pitchFamily="34" charset="0"/>
                        </a:rPr>
                        <a:t>Bandwidth</a:t>
                      </a:r>
                    </a:p>
                  </a:txBody>
                  <a:tcPr anchor="ctr">
                    <a:solidFill>
                      <a:srgbClr val="516F8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3026755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Energy Share</a:t>
                      </a:r>
                    </a:p>
                  </a:txBody>
                  <a:tcPr anchor="ctr">
                    <a:solidFill>
                      <a:srgbClr val="516F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8847445"/>
                  </a:ext>
                </a:extLst>
              </a:tr>
              <a:tr h="760223">
                <a:tc>
                  <a:txBody>
                    <a:bodyPr/>
                    <a:lstStyle/>
                    <a:p>
                      <a:pPr marL="0" marR="0" lvl="0" indent="0" algn="l" defTabSz="3026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chemeClr val="bg1"/>
                          </a:solidFill>
                          <a:latin typeface="Poppins"/>
                          <a:cs typeface="Poppins"/>
                        </a:rPr>
                        <a:t>Motorboat</a:t>
                      </a:r>
                      <a:endParaRPr lang="en-US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29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Surface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3026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550 - 767 Hz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136.0 Hz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33.5%</a:t>
                      </a:r>
                      <a:r>
                        <a:rPr lang="en-US" sz="28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.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709704"/>
                  </a:ext>
                </a:extLst>
              </a:tr>
              <a:tr h="760223">
                <a:tc>
                  <a:txBody>
                    <a:bodyPr/>
                    <a:lstStyle/>
                    <a:p>
                      <a:pPr marL="0" marR="0" lvl="0" indent="0" algn="l" defTabSz="3026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>
                          <a:solidFill>
                            <a:schemeClr val="bg1"/>
                          </a:solidFill>
                          <a:latin typeface="Poppins"/>
                          <a:cs typeface="Poppins"/>
                        </a:rPr>
                        <a:t>SUEX VR-X DPV</a:t>
                      </a:r>
                    </a:p>
                  </a:txBody>
                  <a:tcPr>
                    <a:solidFill>
                      <a:srgbClr val="00B29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en-US" sz="2800" kern="1200">
                          <a:solidFill>
                            <a:schemeClr val="tx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Submerged</a:t>
                      </a:r>
                      <a:endParaRPr lang="en-US" sz="2800" kern="1200" dirty="0">
                        <a:solidFill>
                          <a:schemeClr val="tx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810 – 872 Hz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18.0 Hz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23.7%</a:t>
                      </a:r>
                      <a:r>
                        <a:rPr lang="en-US" sz="28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.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39598"/>
                  </a:ext>
                </a:extLst>
              </a:tr>
              <a:tr h="76022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b="0" dirty="0">
                          <a:solidFill>
                            <a:schemeClr val="bg1"/>
                          </a:solidFill>
                          <a:latin typeface="Poppins"/>
                          <a:cs typeface="Poppins"/>
                        </a:rPr>
                        <a:t>SEACRAFT GO! DPV</a:t>
                      </a:r>
                      <a:endParaRPr lang="en-US" sz="28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29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Submerged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1145 – 1182 Hz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26.0 Hz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34.0%</a:t>
                      </a:r>
                      <a:r>
                        <a:rPr lang="en-US" sz="28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.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7087585"/>
                  </a:ext>
                </a:extLst>
              </a:tr>
            </a:tbl>
          </a:graphicData>
        </a:graphic>
      </p:graphicFrame>
      <p:grpSp>
        <p:nvGrpSpPr>
          <p:cNvPr id="123" name="Group 24">
            <a:extLst>
              <a:ext uri="{FF2B5EF4-FFF2-40B4-BE49-F238E27FC236}">
                <a16:creationId xmlns:a16="http://schemas.microsoft.com/office/drawing/2014/main" id="{E3936F24-3693-2867-7C4A-EB9CBAA1D234}"/>
              </a:ext>
            </a:extLst>
          </p:cNvPr>
          <p:cNvGrpSpPr/>
          <p:nvPr/>
        </p:nvGrpSpPr>
        <p:grpSpPr>
          <a:xfrm>
            <a:off x="685372" y="15520621"/>
            <a:ext cx="412074" cy="412074"/>
            <a:chOff x="0" y="0"/>
            <a:chExt cx="812800" cy="812800"/>
          </a:xfrm>
        </p:grpSpPr>
        <p:sp>
          <p:nvSpPr>
            <p:cNvPr id="124" name="Freeform 25">
              <a:extLst>
                <a:ext uri="{FF2B5EF4-FFF2-40B4-BE49-F238E27FC236}">
                  <a16:creationId xmlns:a16="http://schemas.microsoft.com/office/drawing/2014/main" id="{A6DA49F6-0BD4-DBEC-DFBA-A970B80F83D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3B86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TextBox 26">
              <a:extLst>
                <a:ext uri="{FF2B5EF4-FFF2-40B4-BE49-F238E27FC236}">
                  <a16:creationId xmlns:a16="http://schemas.microsoft.com/office/drawing/2014/main" id="{237E4A24-2DFC-1547-58CE-38642480FBA8}"/>
                </a:ext>
              </a:extLst>
            </p:cNvPr>
            <p:cNvSpPr txBox="1"/>
            <p:nvPr/>
          </p:nvSpPr>
          <p:spPr>
            <a:xfrm>
              <a:off x="76200" y="-85725"/>
              <a:ext cx="660400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7559"/>
                </a:lnSpc>
              </a:pPr>
              <a:endParaRPr dirty="0"/>
            </a:p>
          </p:txBody>
        </p:sp>
      </p:grpSp>
      <p:sp>
        <p:nvSpPr>
          <p:cNvPr id="126" name="TextBox 48">
            <a:extLst>
              <a:ext uri="{FF2B5EF4-FFF2-40B4-BE49-F238E27FC236}">
                <a16:creationId xmlns:a16="http://schemas.microsoft.com/office/drawing/2014/main" id="{0A98A987-AD53-FFA7-6812-4CF6C52E4913}"/>
              </a:ext>
            </a:extLst>
          </p:cNvPr>
          <p:cNvSpPr txBox="1"/>
          <p:nvPr/>
        </p:nvSpPr>
        <p:spPr>
          <a:xfrm>
            <a:off x="1328629" y="15157064"/>
            <a:ext cx="5118967" cy="1888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559"/>
              </a:lnSpc>
            </a:pPr>
            <a:r>
              <a:rPr lang="en-US" sz="5400" b="1" dirty="0">
                <a:solidFill>
                  <a:schemeClr val="tx2"/>
                </a:solidFill>
                <a:latin typeface="Poppins"/>
                <a:cs typeface="Poppins"/>
              </a:rPr>
              <a:t>Physical Model</a:t>
            </a:r>
          </a:p>
          <a:p>
            <a:pPr>
              <a:lnSpc>
                <a:spcPts val="7559"/>
              </a:lnSpc>
            </a:pPr>
            <a:endParaRPr lang="en-US" sz="5400" b="1" dirty="0">
              <a:solidFill>
                <a:srgbClr val="0D1D52"/>
              </a:solidFill>
              <a:latin typeface="Poppins Semi-Bold"/>
              <a:ea typeface="Poppins Semi-Bold"/>
              <a:cs typeface="Poppins Semi-Bold"/>
              <a:sym typeface="Poppins Semi-Bold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49">
                <a:extLst>
                  <a:ext uri="{FF2B5EF4-FFF2-40B4-BE49-F238E27FC236}">
                    <a16:creationId xmlns:a16="http://schemas.microsoft.com/office/drawing/2014/main" id="{DB88C22A-586F-EEEC-4AE0-2549FADBFF71}"/>
                  </a:ext>
                </a:extLst>
              </p:cNvPr>
              <p:cNvSpPr txBox="1"/>
              <p:nvPr/>
            </p:nvSpPr>
            <p:spPr>
              <a:xfrm>
                <a:off x="568424" y="22010997"/>
                <a:ext cx="10013289" cy="1728934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sz="32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Surface</a:t>
                </a:r>
                <a:r>
                  <a:rPr lang="en-US" sz="3200" dirty="0">
                    <a:solidFill>
                      <a:srgbClr val="737373"/>
                    </a:solidFill>
                    <a:latin typeface="Poppins"/>
                    <a:cs typeface="Poppins"/>
                  </a:rPr>
                  <a:t>: overlapping paths cause fading and Doppler spread. </a:t>
                </a:r>
                <a:r>
                  <a:rPr lang="en-US" sz="32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Submerged</a:t>
                </a:r>
                <a:r>
                  <a:rPr lang="en-US" sz="3200" dirty="0">
                    <a:solidFill>
                      <a:srgbClr val="737373"/>
                    </a:solidFill>
                    <a:latin typeface="Poppins"/>
                    <a:cs typeface="Poppins"/>
                  </a:rPr>
                  <a:t>: the surface contribution is a delayed echo.</a:t>
                </a:r>
                <a:endParaRPr lang="en-US" sz="3200" b="1" dirty="0">
                  <a:solidFill>
                    <a:schemeClr val="tx2"/>
                  </a:solidFill>
                  <a:latin typeface="Poppins"/>
                  <a:cs typeface="Poppins"/>
                </a:endParaRPr>
              </a:p>
              <a:p>
                <a:pPr marL="514350" indent="-514350">
                  <a:lnSpc>
                    <a:spcPct val="200000"/>
                  </a:lnSpc>
                  <a:buAutoNum type="arabicPeriod"/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Surface-source geometry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arctan</m:t>
                          </m:r>
                        </m:fName>
                        <m:e>
                          <m:d>
                            <m:dPr>
                              <m:ctrlPr>
                                <a:rPr lang="en-US" sz="3200" i="1" dirty="0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200" i="1" dirty="0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𝑟𝑒𝑐</m:t>
                                      </m:r>
                                    </m:sub>
                                  </m:sSub>
                                  <m:r>
                                    <a:rPr lang="en-US" sz="3200" i="1" dirty="0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3200" i="1" dirty="0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𝑠𝑟𝑐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200" i="1" dirty="0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≈0, 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𝛥𝜏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</m:t>
                      </m:r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2. Heave-driven FM source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func>
                        <m:func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sz="3200" i="1" dirty="0">
                  <a:solidFill>
                    <a:srgbClr val="737373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l-PL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l-PL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l-PL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func>
                                <m:funcPr>
                                  <m:ctrl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pl-PL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l-PL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pl-PL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sub>
                                      </m:sSub>
                                      <m:r>
                                        <a:rPr lang="pl-PL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3200" i="1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  <m:sSub>
                        <m:sSubPr>
                          <m:ctrlP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3200" i="1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  <m:sub>
                          <m:r>
                            <a:rPr lang="en-US" sz="3200" i="1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r>
                  <a:rPr lang="en-US" sz="3200" dirty="0">
                    <a:solidFill>
                      <a:srgbClr val="737373"/>
                    </a:solidFill>
                    <a:latin typeface="Poppins"/>
                    <a:cs typeface="Poppins"/>
                  </a:rPr>
                  <a:t>	The resulting tonal is broader and less stable.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3. Underwater two-path channel</a:t>
                </a:r>
                <a:endParaRPr lang="en-US" sz="3200" dirty="0">
                  <a:solidFill>
                    <a:schemeClr val="tx2"/>
                  </a:solidFill>
                  <a:latin typeface="Poppins"/>
                  <a:cs typeface="Poppins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𝑟𝑥</m:t>
                          </m:r>
                        </m:sub>
                      </m:sSub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i="0" dirty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𝑑𝑖𝑟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𝑑𝑖𝑟</m:t>
                              </m:r>
                            </m:sub>
                          </m:sSub>
                        </m:e>
                      </m:d>
                      <m:r>
                        <a:rPr lang="en-US" sz="3200" i="0" dirty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𝑠𝑢𝑟𝑓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𝑠𝑢𝑟𝑓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i="1" dirty="0">
                  <a:solidFill>
                    <a:srgbClr val="737373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i="0" dirty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i="0" dirty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 dirty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sz="3200" i="0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0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sz="3200" i="1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3200" i="0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func>
                                    <m:funcPr>
                                      <m:ctrlPr>
                                        <a:rPr lang="en-US" sz="3200" i="0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3200" i="0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sz="3200" i="1" dirty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  <m:sub>
                                  <m:r>
                                    <a:rPr lang="en-US" sz="3200" i="1" dirty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4. Surface-source result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𝑟𝑥</m:t>
                          </m:r>
                        </m:sub>
                      </m:sSub>
                      <m:d>
                        <m:d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200" i="1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𝑡𝑥</m:t>
                          </m:r>
                        </m:sub>
                      </m:sSub>
                      <m:d>
                        <m:dPr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𝑑𝑖𝑟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i="1" smtClean="0">
                                  <a:solidFill>
                                    <a:srgbClr val="737373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 smtClean="0">
                                      <a:solidFill>
                                        <a:srgbClr val="737373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f>
                                    <m:f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ℎ</m:t>
                                      </m:r>
                                    </m:e>
                                    <m:sub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func>
                                        <m:funcPr>
                                          <m:ctrlP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sz="3200" i="1" smtClean="0">
                                              <a:solidFill>
                                                <a:srgbClr val="737373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func>
                                    </m:e>
                                    <m:sub>
                                      <m:r>
                                        <a:rPr lang="en-US" sz="3200" i="1" smtClean="0">
                                          <a:solidFill>
                                            <a:srgbClr val="737373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pPr algn="ctr"/>
                <a:r>
                  <a:rPr lang="en-US" sz="3200" dirty="0">
                    <a:solidFill>
                      <a:srgbClr val="737373"/>
                    </a:solidFill>
                    <a:highlight>
                      <a:srgbClr val="FFFF00"/>
                    </a:highlight>
                    <a:latin typeface="Poppins"/>
                    <a:cs typeface="Poppins"/>
                  </a:rPr>
                  <a:t>FM carrier × dynamic multipath envelope → bandwidth expansion, fading, and reduced persistence.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3200" b="1" dirty="0">
                    <a:solidFill>
                      <a:schemeClr val="tx2"/>
                    </a:solidFill>
                    <a:latin typeface="Poppins"/>
                    <a:cs typeface="Poppins"/>
                  </a:rPr>
                  <a:t>5. Underwater-source result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3200" i="1" dirty="0" smtClean="0">
                              <a:solidFill>
                                <a:srgbClr val="737373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≈0⇒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≈0, 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𝛥𝜏</m:t>
                      </m:r>
                      <m:r>
                        <a:rPr lang="en-US" sz="3200" i="1" dirty="0" smtClean="0">
                          <a:solidFill>
                            <a:srgbClr val="737373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sz="3200" dirty="0">
                  <a:solidFill>
                    <a:srgbClr val="737373"/>
                  </a:solidFill>
                  <a:highlight>
                    <a:srgbClr val="FFFF00"/>
                  </a:highlight>
                  <a:latin typeface="Poppins"/>
                  <a:cs typeface="Poppins"/>
                </a:endParaRPr>
              </a:p>
              <a:p>
                <a:pPr algn="ctr"/>
                <a:r>
                  <a:rPr lang="en-US" sz="3200" dirty="0">
                    <a:solidFill>
                      <a:srgbClr val="737373"/>
                    </a:solidFill>
                    <a:highlight>
                      <a:srgbClr val="FFFF00"/>
                    </a:highlight>
                    <a:latin typeface="Poppins"/>
                    <a:cs typeface="Poppins"/>
                  </a:rPr>
                  <a:t>Stable direct tonal + delayed additive surface echo.</a:t>
                </a:r>
              </a:p>
              <a:p>
                <a:endParaRPr lang="en-US" sz="3200" b="1" dirty="0">
                  <a:solidFill>
                    <a:srgbClr val="737373"/>
                  </a:solidFill>
                  <a:latin typeface="Poppins"/>
                  <a:cs typeface="Poppins"/>
                </a:endParaRPr>
              </a:p>
              <a:p>
                <a:r>
                  <a:rPr lang="en-US" sz="3200" b="1" dirty="0">
                    <a:solidFill>
                      <a:srgbClr val="737373"/>
                    </a:solidFill>
                    <a:latin typeface="Poppins"/>
                    <a:cs typeface="Poppins"/>
                  </a:rPr>
                  <a:t>The model predicts broader, less persistent energy for the surface motorboat and narrow, stable tonal bands for submerged DPVs.</a:t>
                </a:r>
              </a:p>
            </p:txBody>
          </p:sp>
        </mc:Choice>
        <mc:Fallback>
          <p:sp>
            <p:nvSpPr>
              <p:cNvPr id="127" name="TextBox 49">
                <a:extLst>
                  <a:ext uri="{FF2B5EF4-FFF2-40B4-BE49-F238E27FC236}">
                    <a16:creationId xmlns:a16="http://schemas.microsoft.com/office/drawing/2014/main" id="{DB88C22A-586F-EEEC-4AE0-2549FADBF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424" y="22010997"/>
                <a:ext cx="10013289" cy="17289348"/>
              </a:xfrm>
              <a:prstGeom prst="rect">
                <a:avLst/>
              </a:prstGeom>
              <a:blipFill>
                <a:blip r:embed="rId14"/>
                <a:stretch>
                  <a:fillRect l="-2739" t="-740" r="-3287" b="-4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9" name="Picture 128">
            <a:extLst>
              <a:ext uri="{FF2B5EF4-FFF2-40B4-BE49-F238E27FC236}">
                <a16:creationId xmlns:a16="http://schemas.microsoft.com/office/drawing/2014/main" id="{25BE8EB9-6923-66AD-C5E1-0C46CF74DFA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861" y="16237277"/>
            <a:ext cx="10013289" cy="5821930"/>
          </a:xfrm>
          <a:prstGeom prst="rect">
            <a:avLst/>
          </a:prstGeom>
        </p:spPr>
      </p:pic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9479EC-FA44-60D4-B0A8-93D913B0A7D6}"/>
              </a:ext>
            </a:extLst>
          </p:cNvPr>
          <p:cNvGrpSpPr/>
          <p:nvPr/>
        </p:nvGrpSpPr>
        <p:grpSpPr>
          <a:xfrm>
            <a:off x="724004" y="8476371"/>
            <a:ext cx="9694615" cy="6263056"/>
            <a:chOff x="736246" y="8513113"/>
            <a:chExt cx="9694615" cy="6263056"/>
          </a:xfrm>
        </p:grpSpPr>
        <p:pic>
          <p:nvPicPr>
            <p:cNvPr id="131" name="Picture 130">
              <a:extLst>
                <a:ext uri="{FF2B5EF4-FFF2-40B4-BE49-F238E27FC236}">
                  <a16:creationId xmlns:a16="http://schemas.microsoft.com/office/drawing/2014/main" id="{F157696C-674D-88A7-7058-CD97764BF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696" y="11500332"/>
              <a:ext cx="9688165" cy="3275837"/>
            </a:xfrm>
            <a:prstGeom prst="rect">
              <a:avLst/>
            </a:prstGeom>
          </p:spPr>
        </p:pic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63E7FEA9-DB71-EF30-4C30-96FE9412A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24171" y="8513113"/>
              <a:ext cx="4374669" cy="2909809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33671137-6238-33EE-0CF0-5259601A5C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6246" y="8545454"/>
              <a:ext cx="5174199" cy="28568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2119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6ff23c-68b8-4ad8-a6f0-ffe85b956f92">
      <Terms xmlns="http://schemas.microsoft.com/office/infopath/2007/PartnerControls"/>
    </lcf76f155ced4ddcb4097134ff3c332f>
    <Size xmlns="366ff23c-68b8-4ad8-a6f0-ffe85b956f92" xsi:nil="true"/>
    <TaxCatchAll xmlns="ee347680-3277-4f02-8197-a596dc09f6c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FBB1CA5B52B840B0EA7D6F7B6C204C" ma:contentTypeVersion="22" ma:contentTypeDescription="Create a new document." ma:contentTypeScope="" ma:versionID="ed2b06ac119a6c8319114f9f4fa72c4e">
  <xsd:schema xmlns:xsd="http://www.w3.org/2001/XMLSchema" xmlns:xs="http://www.w3.org/2001/XMLSchema" xmlns:p="http://schemas.microsoft.com/office/2006/metadata/properties" xmlns:ns2="366ff23c-68b8-4ad8-a6f0-ffe85b956f92" xmlns:ns3="ee347680-3277-4f02-8197-a596dc09f6cb" targetNamespace="http://schemas.microsoft.com/office/2006/metadata/properties" ma:root="true" ma:fieldsID="2e5abf7ae9e78a3b5bebe70b54ff6eb8" ns2:_="" ns3:_="">
    <xsd:import namespace="366ff23c-68b8-4ad8-a6f0-ffe85b956f92"/>
    <xsd:import namespace="ee347680-3277-4f02-8197-a596dc09f6c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Size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6ff23c-68b8-4ad8-a6f0-ffe85b956f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Size" ma:index="20" nillable="true" ma:displayName="Size" ma:internalName="Size">
      <xsd:simpleType>
        <xsd:restriction base="dms:Number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4" nillable="true" ma:taxonomy="true" ma:internalName="lcf76f155ced4ddcb4097134ff3c332f" ma:taxonomyFieldName="MediaServiceImageTags" ma:displayName="Image Tags" ma:readOnly="false" ma:fieldId="{5cf76f15-5ced-4ddc-b409-7134ff3c332f}" ma:taxonomyMulti="true" ma:sspId="6d51dc5d-6cba-4748-b546-1c911b9760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347680-3277-4f02-8197-a596dc09f6cb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11fd385-1916-4391-8fea-99ea66202781}" ma:internalName="TaxCatchAll" ma:showField="CatchAllData" ma:web="ee347680-3277-4f02-8197-a596dc09f6c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EF6F4E9-F06E-4216-9E57-C9DD7A23E9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74EC294-F82B-4370-969E-F01216E43FC5}">
  <ds:schemaRefs>
    <ds:schemaRef ds:uri="http://schemas.microsoft.com/office/2006/metadata/properties"/>
    <ds:schemaRef ds:uri="http://schemas.microsoft.com/office/infopath/2007/PartnerControls"/>
    <ds:schemaRef ds:uri="366ff23c-68b8-4ad8-a6f0-ffe85b956f92"/>
    <ds:schemaRef ds:uri="ee347680-3277-4f02-8197-a596dc09f6cb"/>
  </ds:schemaRefs>
</ds:datastoreItem>
</file>

<file path=customXml/itemProps3.xml><?xml version="1.0" encoding="utf-8"?>
<ds:datastoreItem xmlns:ds="http://schemas.openxmlformats.org/officeDocument/2006/customXml" ds:itemID="{2BE57F0F-C0CD-4805-AF50-9B703C20E1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6ff23c-68b8-4ad8-a6f0-ffe85b956f92"/>
    <ds:schemaRef ds:uri="ee347680-3277-4f02-8197-a596dc09f6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7779</TotalTime>
  <Words>659</Words>
  <Application>Microsoft Office PowerPoint</Application>
  <PresentationFormat>Custom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Neue Einstellung Medium</vt:lpstr>
      <vt:lpstr>Open Sans</vt:lpstr>
      <vt:lpstr>Open Sans Bold</vt:lpstr>
      <vt:lpstr>Poppins</vt:lpstr>
      <vt:lpstr>Poppins Italics</vt:lpstr>
      <vt:lpstr>Poppins Semi-Bold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רועי מיכאל</dc:creator>
  <cp:lastModifiedBy>רועי מיכאל</cp:lastModifiedBy>
  <cp:revision>52</cp:revision>
  <dcterms:created xsi:type="dcterms:W3CDTF">2026-09-20T10:23:34Z</dcterms:created>
  <dcterms:modified xsi:type="dcterms:W3CDTF">2026-09-24T10:05:49Z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0x01010067FBB1CA5B52B840B0EA7D6F7B6C204C</vt:lpwstr>
  </property>
</Properties>
</file>